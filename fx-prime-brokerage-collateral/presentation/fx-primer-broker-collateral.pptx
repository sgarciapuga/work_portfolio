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8288000" cy="10287000"/>
  <p:notesSz cx="6858000" cy="9144000"/>
  <p:embeddedFontLst>
    <p:embeddedFont>
      <p:font typeface="Montserrat Bold" panose="020B0604020202020204" charset="0"/>
      <p:regular r:id="rId13"/>
    </p:embeddedFont>
    <p:embeddedFont>
      <p:font typeface="Poppins" panose="00000500000000000000" pitchFamily="2" charset="0"/>
      <p:regular r:id="rId14"/>
    </p:embeddedFont>
    <p:embeddedFont>
      <p:font typeface="Poppins 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3" d="100"/>
          <a:sy n="53" d="100"/>
        </p:scale>
        <p:origin x="12" y="4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1.svg"/><Relationship Id="rId7" Type="http://schemas.openxmlformats.org/officeDocument/2006/relationships/image" Target="../media/image13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9.svg"/><Relationship Id="rId10" Type="http://schemas.openxmlformats.org/officeDocument/2006/relationships/image" Target="../media/image16.png"/><Relationship Id="rId4" Type="http://schemas.openxmlformats.org/officeDocument/2006/relationships/image" Target="../media/image8.png"/><Relationship Id="rId9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1.svg"/><Relationship Id="rId7" Type="http://schemas.openxmlformats.org/officeDocument/2006/relationships/image" Target="../media/image17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9" Type="http://schemas.openxmlformats.org/officeDocument/2006/relationships/image" Target="../media/image2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762772" cy="709824"/>
          </a:xfrm>
          <a:custGeom>
            <a:avLst/>
            <a:gdLst/>
            <a:ahLst/>
            <a:cxnLst/>
            <a:rect l="l" t="t" r="r" b="b"/>
            <a:pathLst>
              <a:path w="762772" h="709824">
                <a:moveTo>
                  <a:pt x="0" y="0"/>
                </a:moveTo>
                <a:lnTo>
                  <a:pt x="762772" y="0"/>
                </a:lnTo>
                <a:lnTo>
                  <a:pt x="762772" y="709824"/>
                </a:lnTo>
                <a:lnTo>
                  <a:pt x="0" y="7098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0948693" y="1383612"/>
            <a:ext cx="6310607" cy="7200900"/>
          </a:xfrm>
          <a:custGeom>
            <a:avLst/>
            <a:gdLst/>
            <a:ahLst/>
            <a:cxnLst/>
            <a:rect l="l" t="t" r="r" b="b"/>
            <a:pathLst>
              <a:path w="6310607" h="7200900">
                <a:moveTo>
                  <a:pt x="0" y="0"/>
                </a:moveTo>
                <a:lnTo>
                  <a:pt x="6310607" y="0"/>
                </a:lnTo>
                <a:lnTo>
                  <a:pt x="6310607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1028700" y="2973957"/>
            <a:ext cx="9662818" cy="325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0"/>
              </a:lnSpc>
            </a:pPr>
            <a:r>
              <a:rPr lang="en-US" sz="12000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FX PB Collateral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7519831" y="-691855"/>
            <a:ext cx="1676063" cy="11497700"/>
            <a:chOff x="0" y="0"/>
            <a:chExt cx="441432" cy="302820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41432" cy="3028201"/>
            </a:xfrm>
            <a:custGeom>
              <a:avLst/>
              <a:gdLst/>
              <a:ahLst/>
              <a:cxnLst/>
              <a:rect l="l" t="t" r="r" b="b"/>
              <a:pathLst>
                <a:path w="441432" h="3028201">
                  <a:moveTo>
                    <a:pt x="0" y="0"/>
                  </a:moveTo>
                  <a:lnTo>
                    <a:pt x="441432" y="0"/>
                  </a:lnTo>
                  <a:lnTo>
                    <a:pt x="441432" y="3028201"/>
                  </a:lnTo>
                  <a:lnTo>
                    <a:pt x="0" y="3028201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41432" cy="30663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8700" y="6698243"/>
            <a:ext cx="7880342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spc="225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Automating FX Prime Brokerage Monitoring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7520738"/>
            <a:ext cx="7471831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Replacing tedious manual portal extractions with an automated end-to-end data pipeline &amp; Power BI analytics dashboard</a:t>
            </a:r>
          </a:p>
        </p:txBody>
      </p:sp>
      <p:sp>
        <p:nvSpPr>
          <p:cNvPr id="10" name="AutoShape 10"/>
          <p:cNvSpPr/>
          <p:nvPr/>
        </p:nvSpPr>
        <p:spPr>
          <a:xfrm flipH="1" flipV="1">
            <a:off x="1047750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 flipH="1" flipV="1">
            <a:off x="1191738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 flipH="1" flipV="1">
            <a:off x="1335726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 flipH="1" flipV="1">
            <a:off x="16952274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17096262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17240250" y="8855456"/>
            <a:ext cx="0" cy="402844"/>
          </a:xfrm>
          <a:prstGeom prst="line">
            <a:avLst/>
          </a:prstGeom>
          <a:ln w="38100" cap="flat">
            <a:solidFill>
              <a:srgbClr val="EFF1E8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080258" y="-195490"/>
            <a:ext cx="7179042" cy="10655429"/>
            <a:chOff x="0" y="0"/>
            <a:chExt cx="1112221" cy="16508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12221" cy="1650805"/>
            </a:xfrm>
            <a:custGeom>
              <a:avLst/>
              <a:gdLst/>
              <a:ahLst/>
              <a:cxnLst/>
              <a:rect l="l" t="t" r="r" b="b"/>
              <a:pathLst>
                <a:path w="1112221" h="1650805">
                  <a:moveTo>
                    <a:pt x="0" y="0"/>
                  </a:moveTo>
                  <a:lnTo>
                    <a:pt x="1112221" y="0"/>
                  </a:lnTo>
                  <a:lnTo>
                    <a:pt x="1112221" y="1650805"/>
                  </a:lnTo>
                  <a:lnTo>
                    <a:pt x="0" y="1650805"/>
                  </a:lnTo>
                  <a:close/>
                </a:path>
              </a:pathLst>
            </a:custGeom>
            <a:blipFill>
              <a:blip r:embed="rId2"/>
              <a:stretch>
                <a:fillRect l="-37367" r="-85066"/>
              </a:stretch>
            </a:blipFill>
          </p:spPr>
        </p:sp>
      </p:grpSp>
      <p:sp>
        <p:nvSpPr>
          <p:cNvPr id="4" name="Freeform 4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28700" y="1123950"/>
            <a:ext cx="13917939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 dirty="0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 Business Problem &amp; Enterprise Impact</a:t>
            </a:r>
          </a:p>
          <a:p>
            <a:pPr algn="l">
              <a:lnSpc>
                <a:spcPts val="9679"/>
              </a:lnSpc>
            </a:pPr>
            <a:endParaRPr lang="en-US" sz="8799" b="1" dirty="0">
              <a:solidFill>
                <a:srgbClr val="343734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3960788"/>
            <a:ext cx="8260459" cy="1073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Understanding the manual bottlenecks in daily FX Prime Brokerage collateral and limits reporting.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34373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85485" y="6962319"/>
            <a:ext cx="6340986" cy="2934108"/>
            <a:chOff x="0" y="0"/>
            <a:chExt cx="1670054" cy="7727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50717" y="8103556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0" y="0"/>
                </a:moveTo>
                <a:lnTo>
                  <a:pt x="1145602" y="0"/>
                </a:lnTo>
                <a:lnTo>
                  <a:pt x="1145602" y="1145602"/>
                </a:lnTo>
                <a:lnTo>
                  <a:pt x="0" y="1145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26711" y="1123950"/>
            <a:ext cx="1603457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Process Challenge</a:t>
            </a:r>
          </a:p>
          <a:p>
            <a:pPr algn="ctr">
              <a:lnSpc>
                <a:spcPts val="9679"/>
              </a:lnSpc>
            </a:pPr>
            <a:endParaRPr lang="en-US" sz="8799" b="1" dirty="0">
              <a:solidFill>
                <a:srgbClr val="EFF1E8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6881427" y="388977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81427" y="4322644"/>
            <a:ext cx="422116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Gather relevant quantitative and qualitative data from internal and external sources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881427" y="3151934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0" name="Freeform 10"/>
          <p:cNvSpPr/>
          <p:nvPr/>
        </p:nvSpPr>
        <p:spPr>
          <a:xfrm flipH="1">
            <a:off x="16115637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6209974" y="7646895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Teams Pasting &amp; Delays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09974" y="8079760"/>
            <a:ext cx="5926631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Clean incomplete records, remove duplicates, and ensure accuracy to maintain data integrity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09974" y="6909049"/>
            <a:ext cx="875213" cy="712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744200" y="3103743"/>
            <a:ext cx="6340986" cy="2934108"/>
            <a:chOff x="0" y="0"/>
            <a:chExt cx="1670054" cy="77276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968689" y="378831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Portal Authentication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8689" y="4221184"/>
            <a:ext cx="5926631" cy="1768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Operations team had to manually log into the Prime Brokerage (PB) portal every morning, navigate through reporting sub-menus, and await slow report loads.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>
              <a:solidFill>
                <a:srgbClr val="70A1B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68689" y="3050474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0669981" y="3103743"/>
            <a:ext cx="6340986" cy="2934108"/>
            <a:chOff x="0" y="0"/>
            <a:chExt cx="1670054" cy="77276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70054" cy="772769"/>
            </a:xfrm>
            <a:custGeom>
              <a:avLst/>
              <a:gdLst/>
              <a:ahLst/>
              <a:cxnLst/>
              <a:rect l="l" t="t" r="r" b="b"/>
              <a:pathLst>
                <a:path w="1670054" h="772769">
                  <a:moveTo>
                    <a:pt x="19535" y="0"/>
                  </a:moveTo>
                  <a:lnTo>
                    <a:pt x="1650519" y="0"/>
                  </a:lnTo>
                  <a:cubicBezTo>
                    <a:pt x="1661308" y="0"/>
                    <a:pt x="1670054" y="8746"/>
                    <a:pt x="1670054" y="19535"/>
                  </a:cubicBezTo>
                  <a:lnTo>
                    <a:pt x="1670054" y="753234"/>
                  </a:lnTo>
                  <a:cubicBezTo>
                    <a:pt x="1670054" y="758415"/>
                    <a:pt x="1667996" y="763384"/>
                    <a:pt x="1664332" y="767047"/>
                  </a:cubicBezTo>
                  <a:cubicBezTo>
                    <a:pt x="1660669" y="770711"/>
                    <a:pt x="1655700" y="772769"/>
                    <a:pt x="1650519" y="772769"/>
                  </a:cubicBezTo>
                  <a:lnTo>
                    <a:pt x="19535" y="772769"/>
                  </a:lnTo>
                  <a:cubicBezTo>
                    <a:pt x="14354" y="772769"/>
                    <a:pt x="9385" y="770711"/>
                    <a:pt x="5722" y="767047"/>
                  </a:cubicBezTo>
                  <a:cubicBezTo>
                    <a:pt x="2058" y="763384"/>
                    <a:pt x="0" y="758415"/>
                    <a:pt x="0" y="753234"/>
                  </a:cubicBezTo>
                  <a:lnTo>
                    <a:pt x="0" y="19535"/>
                  </a:lnTo>
                  <a:cubicBezTo>
                    <a:pt x="0" y="8746"/>
                    <a:pt x="8746" y="0"/>
                    <a:pt x="19535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0" y="-38100"/>
              <a:ext cx="1670054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894469" y="3788319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Manual Screenshotting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894469" y="4221184"/>
            <a:ext cx="5926631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Gather relevant quantitative and qualitative data from internal and external sources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894469" y="3050474"/>
            <a:ext cx="875213" cy="712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52086" y="6476365"/>
            <a:ext cx="752450" cy="748345"/>
          </a:xfrm>
          <a:custGeom>
            <a:avLst/>
            <a:gdLst/>
            <a:ahLst/>
            <a:cxnLst/>
            <a:rect l="l" t="t" r="r" b="b"/>
            <a:pathLst>
              <a:path w="752450" h="748345">
                <a:moveTo>
                  <a:pt x="0" y="0"/>
                </a:moveTo>
                <a:lnTo>
                  <a:pt x="752450" y="0"/>
                </a:lnTo>
                <a:lnTo>
                  <a:pt x="752450" y="748345"/>
                </a:lnTo>
                <a:lnTo>
                  <a:pt x="0" y="7483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6113698" y="1028700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6113698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77602" y="4660337"/>
            <a:ext cx="713347" cy="517176"/>
          </a:xfrm>
          <a:custGeom>
            <a:avLst/>
            <a:gdLst/>
            <a:ahLst/>
            <a:cxnLst/>
            <a:rect l="l" t="t" r="r" b="b"/>
            <a:pathLst>
              <a:path w="713347" h="517176">
                <a:moveTo>
                  <a:pt x="0" y="0"/>
                </a:moveTo>
                <a:lnTo>
                  <a:pt x="713347" y="0"/>
                </a:lnTo>
                <a:lnTo>
                  <a:pt x="713347" y="517176"/>
                </a:lnTo>
                <a:lnTo>
                  <a:pt x="0" y="5171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6" name="Freeform 6"/>
          <p:cNvSpPr/>
          <p:nvPr/>
        </p:nvSpPr>
        <p:spPr>
          <a:xfrm>
            <a:off x="4169118" y="6403867"/>
            <a:ext cx="870289" cy="874663"/>
          </a:xfrm>
          <a:custGeom>
            <a:avLst/>
            <a:gdLst/>
            <a:ahLst/>
            <a:cxnLst/>
            <a:rect l="l" t="t" r="r" b="b"/>
            <a:pathLst>
              <a:path w="870289" h="874663">
                <a:moveTo>
                  <a:pt x="0" y="0"/>
                </a:moveTo>
                <a:lnTo>
                  <a:pt x="870289" y="0"/>
                </a:lnTo>
                <a:lnTo>
                  <a:pt x="870289" y="874663"/>
                </a:lnTo>
                <a:lnTo>
                  <a:pt x="0" y="87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663625" y="3834545"/>
            <a:ext cx="665008" cy="836488"/>
          </a:xfrm>
          <a:custGeom>
            <a:avLst/>
            <a:gdLst/>
            <a:ahLst/>
            <a:cxnLst/>
            <a:rect l="l" t="t" r="r" b="b"/>
            <a:pathLst>
              <a:path w="665008" h="836488">
                <a:moveTo>
                  <a:pt x="0" y="0"/>
                </a:moveTo>
                <a:lnTo>
                  <a:pt x="665008" y="0"/>
                </a:lnTo>
                <a:lnTo>
                  <a:pt x="665008" y="836488"/>
                </a:lnTo>
                <a:lnTo>
                  <a:pt x="0" y="83648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28700" y="1123950"/>
            <a:ext cx="1080345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Implemented Solution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3537101"/>
            <a:ext cx="1237274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Automated Ingestion Pipeline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06764" y="4560150"/>
            <a:ext cx="367615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Automated Email Delivery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6764" y="5006821"/>
            <a:ext cx="3806018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PB portal configured to auto-distribute daily CSV files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338578" y="6270973"/>
            <a:ext cx="368113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Automate Workflow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38578" y="6717644"/>
            <a:ext cx="380542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Cloud workflow automatically saves CSV files to a secured SharePoint folder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30445" y="3777395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Dataflows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730445" y="4224066"/>
            <a:ext cx="3811831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Connects to SharePoint, cleans, aggregates, and structures the raw CSV data for downstream reporting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948093" y="6346717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948093" y="6793388"/>
            <a:ext cx="381347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Automatically refreshed interactive reports distributed to the primary stakeholders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689259" y="5970936"/>
            <a:ext cx="16573500" cy="57150"/>
            <a:chOff x="0" y="0"/>
            <a:chExt cx="22098000" cy="762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098000" cy="76200"/>
            </a:xfrm>
            <a:custGeom>
              <a:avLst/>
              <a:gdLst/>
              <a:ahLst/>
              <a:cxnLst/>
              <a:rect l="l" t="t" r="r" b="b"/>
              <a:pathLst>
                <a:path w="22098000" h="76200">
                  <a:moveTo>
                    <a:pt x="0" y="0"/>
                  </a:moveTo>
                  <a:lnTo>
                    <a:pt x="22098000" y="0"/>
                  </a:lnTo>
                  <a:lnTo>
                    <a:pt x="22098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EFF1E9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2409455" y="5813773"/>
            <a:ext cx="371475" cy="371475"/>
            <a:chOff x="0" y="0"/>
            <a:chExt cx="495300" cy="4953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6663329" y="5813773"/>
            <a:ext cx="371475" cy="371475"/>
            <a:chOff x="0" y="0"/>
            <a:chExt cx="495300" cy="4953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4" name="Group 24"/>
          <p:cNvGrpSpPr/>
          <p:nvPr/>
        </p:nvGrpSpPr>
        <p:grpSpPr>
          <a:xfrm>
            <a:off x="10917213" y="5813773"/>
            <a:ext cx="371475" cy="371475"/>
            <a:chOff x="0" y="0"/>
            <a:chExt cx="495300" cy="4953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  <p:grpSp>
        <p:nvGrpSpPr>
          <p:cNvPr id="26" name="Group 26"/>
          <p:cNvGrpSpPr/>
          <p:nvPr/>
        </p:nvGrpSpPr>
        <p:grpSpPr>
          <a:xfrm>
            <a:off x="15171088" y="5813773"/>
            <a:ext cx="371475" cy="371475"/>
            <a:chOff x="0" y="0"/>
            <a:chExt cx="495300" cy="4953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495300" cy="495300"/>
            </a:xfrm>
            <a:custGeom>
              <a:avLst/>
              <a:gdLst/>
              <a:ahLst/>
              <a:cxnLst/>
              <a:rect l="l" t="t" r="r" b="b"/>
              <a:pathLst>
                <a:path w="495300" h="495300">
                  <a:moveTo>
                    <a:pt x="0" y="247650"/>
                  </a:moveTo>
                  <a:cubicBezTo>
                    <a:pt x="0" y="110871"/>
                    <a:pt x="110871" y="0"/>
                    <a:pt x="247650" y="0"/>
                  </a:cubicBezTo>
                  <a:cubicBezTo>
                    <a:pt x="384429" y="0"/>
                    <a:pt x="495300" y="110871"/>
                    <a:pt x="495300" y="247650"/>
                  </a:cubicBezTo>
                  <a:cubicBezTo>
                    <a:pt x="495300" y="384429"/>
                    <a:pt x="384429" y="495300"/>
                    <a:pt x="247650" y="495300"/>
                  </a:cubicBezTo>
                  <a:cubicBezTo>
                    <a:pt x="110871" y="495300"/>
                    <a:pt x="0" y="384429"/>
                    <a:pt x="0" y="247650"/>
                  </a:cubicBezTo>
                  <a:close/>
                </a:path>
              </a:pathLst>
            </a:custGeom>
            <a:solidFill>
              <a:srgbClr val="EFF1E8"/>
            </a:solidFill>
            <a:ln w="57150" cap="sq">
              <a:solidFill>
                <a:srgbClr val="EFF1E8"/>
              </a:solidFill>
              <a:prstDash val="solid"/>
              <a:miter/>
            </a:ln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34717" y="4261238"/>
            <a:ext cx="4636571" cy="3660583"/>
            <a:chOff x="0" y="0"/>
            <a:chExt cx="1307450" cy="10322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07450" cy="1032235"/>
            </a:xfrm>
            <a:custGeom>
              <a:avLst/>
              <a:gdLst/>
              <a:ahLst/>
              <a:cxnLst/>
              <a:rect l="l" t="t" r="r" b="b"/>
              <a:pathLst>
                <a:path w="1307450" h="1032235">
                  <a:moveTo>
                    <a:pt x="85157" y="0"/>
                  </a:moveTo>
                  <a:lnTo>
                    <a:pt x="1222293" y="0"/>
                  </a:lnTo>
                  <a:cubicBezTo>
                    <a:pt x="1244878" y="0"/>
                    <a:pt x="1266538" y="8972"/>
                    <a:pt x="1282508" y="24942"/>
                  </a:cubicBezTo>
                  <a:cubicBezTo>
                    <a:pt x="1298478" y="40912"/>
                    <a:pt x="1307450" y="62572"/>
                    <a:pt x="1307450" y="85157"/>
                  </a:cubicBezTo>
                  <a:lnTo>
                    <a:pt x="1307450" y="947078"/>
                  </a:lnTo>
                  <a:cubicBezTo>
                    <a:pt x="1307450" y="969663"/>
                    <a:pt x="1298478" y="991323"/>
                    <a:pt x="1282508" y="1007293"/>
                  </a:cubicBezTo>
                  <a:cubicBezTo>
                    <a:pt x="1266538" y="1023263"/>
                    <a:pt x="1244878" y="1032235"/>
                    <a:pt x="1222293" y="1032235"/>
                  </a:cubicBezTo>
                  <a:lnTo>
                    <a:pt x="85157" y="1032235"/>
                  </a:lnTo>
                  <a:cubicBezTo>
                    <a:pt x="62572" y="1032235"/>
                    <a:pt x="40912" y="1023263"/>
                    <a:pt x="24942" y="1007293"/>
                  </a:cubicBezTo>
                  <a:cubicBezTo>
                    <a:pt x="8972" y="991323"/>
                    <a:pt x="0" y="969663"/>
                    <a:pt x="0" y="947078"/>
                  </a:cubicBezTo>
                  <a:lnTo>
                    <a:pt x="0" y="85157"/>
                  </a:lnTo>
                  <a:cubicBezTo>
                    <a:pt x="0" y="62572"/>
                    <a:pt x="8972" y="40912"/>
                    <a:pt x="24942" y="24942"/>
                  </a:cubicBezTo>
                  <a:cubicBezTo>
                    <a:pt x="40912" y="8972"/>
                    <a:pt x="62572" y="0"/>
                    <a:pt x="85157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07450" cy="1070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610215" y="8847255"/>
            <a:ext cx="20321213" cy="701393"/>
            <a:chOff x="0" y="0"/>
            <a:chExt cx="5352089" cy="18472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5352089" cy="184729"/>
            </a:xfrm>
            <a:custGeom>
              <a:avLst/>
              <a:gdLst/>
              <a:ahLst/>
              <a:cxnLst/>
              <a:rect l="l" t="t" r="r" b="b"/>
              <a:pathLst>
                <a:path w="5352089" h="184729">
                  <a:moveTo>
                    <a:pt x="0" y="0"/>
                  </a:moveTo>
                  <a:lnTo>
                    <a:pt x="5352089" y="0"/>
                  </a:lnTo>
                  <a:lnTo>
                    <a:pt x="5352089" y="184729"/>
                  </a:lnTo>
                  <a:lnTo>
                    <a:pt x="0" y="184729"/>
                  </a:ln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5352089" cy="2418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79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000003" y="1123950"/>
            <a:ext cx="14287995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Operational Speed &amp; Impact</a:t>
            </a:r>
          </a:p>
          <a:p>
            <a:pPr algn="ctr">
              <a:lnSpc>
                <a:spcPts val="9679"/>
              </a:lnSpc>
            </a:pPr>
            <a:endParaRPr lang="en-US" sz="8799" b="1" dirty="0">
              <a:solidFill>
                <a:srgbClr val="EFF1E8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14260" y="4312297"/>
            <a:ext cx="4549829" cy="1500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  <a:spcBef>
                <a:spcPct val="0"/>
              </a:spcBef>
            </a:pPr>
            <a:r>
              <a:rPr lang="en-US" sz="87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&lt;10s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9221" y="5736603"/>
            <a:ext cx="4739907" cy="18017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36"/>
              </a:lnSpc>
            </a:pPr>
            <a:r>
              <a:rPr lang="en-US" sz="3700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Time to Decision Insight</a:t>
            </a:r>
          </a:p>
          <a:p>
            <a:pPr algn="ctr">
              <a:lnSpc>
                <a:spcPts val="4480"/>
              </a:lnSpc>
            </a:pPr>
            <a:endParaRPr lang="en-US" sz="3700">
              <a:solidFill>
                <a:srgbClr val="70A1B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7255194" y="4654932"/>
            <a:ext cx="5630752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Instant Collateral Requirements Visibility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b="1">
              <a:solidFill>
                <a:srgbClr val="EFF1E8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7255194" y="5101603"/>
            <a:ext cx="8454076" cy="14182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By removing manual portal logins, screenshotting, and Teams messaging, the solution compresses the daily reporting cycle from over 15 minutes down to under 10 seconds.</a:t>
            </a:r>
          </a:p>
          <a:p>
            <a:pPr algn="l">
              <a:lnSpc>
                <a:spcPts val="2799"/>
              </a:lnSpc>
              <a:spcBef>
                <a:spcPct val="0"/>
              </a:spcBef>
            </a:pPr>
            <a:endParaRPr lang="en-US" sz="1999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239000" y="6469552"/>
            <a:ext cx="8454076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Stakeholders</a:t>
            </a:r>
            <a:r>
              <a:rPr lang="en-US" sz="1999" u="none" strike="noStrike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 receive updated and reliable collateral report every morning.</a:t>
            </a:r>
          </a:p>
          <a:p>
            <a:pPr marL="0" lvl="0" indent="0" algn="l">
              <a:lnSpc>
                <a:spcPts val="2799"/>
              </a:lnSpc>
              <a:spcBef>
                <a:spcPct val="0"/>
              </a:spcBef>
            </a:pPr>
            <a:endParaRPr lang="en-US" sz="1999" u="none" strike="noStrike" dirty="0">
              <a:solidFill>
                <a:srgbClr val="EFF1E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3950"/>
            <a:ext cx="13917939" cy="3702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Public Portfolio &amp; GitHub Replication</a:t>
            </a:r>
          </a:p>
          <a:p>
            <a:pPr algn="l">
              <a:lnSpc>
                <a:spcPts val="9679"/>
              </a:lnSpc>
            </a:pPr>
            <a:endParaRPr lang="en-US" sz="8799" b="1">
              <a:solidFill>
                <a:srgbClr val="343734"/>
              </a:solidFill>
              <a:latin typeface="Montserrat Bold"/>
              <a:ea typeface="Montserrat Bold"/>
              <a:cs typeface="Montserrat Bold"/>
              <a:sym typeface="Montserrat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028700" y="3960788"/>
            <a:ext cx="8260459" cy="1073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Enterprise project securely recreated into an open-source demonstration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  <a:endParaRPr lang="en-US" sz="2000">
              <a:solidFill>
                <a:srgbClr val="343734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0386462" y="4761244"/>
            <a:ext cx="7621409" cy="4901354"/>
          </a:xfrm>
          <a:custGeom>
            <a:avLst/>
            <a:gdLst/>
            <a:ahLst/>
            <a:cxnLst/>
            <a:rect l="l" t="t" r="r" b="b"/>
            <a:pathLst>
              <a:path w="7621409" h="4901354">
                <a:moveTo>
                  <a:pt x="0" y="0"/>
                </a:moveTo>
                <a:lnTo>
                  <a:pt x="7621409" y="0"/>
                </a:lnTo>
                <a:lnTo>
                  <a:pt x="7621409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839653" y="1123950"/>
            <a:ext cx="14608693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Enterprise vs Open Source</a:t>
            </a:r>
          </a:p>
        </p:txBody>
      </p:sp>
      <p:sp>
        <p:nvSpPr>
          <p:cNvPr id="4" name="Freeform 4"/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081421"/>
              </p:ext>
            </p:extLst>
          </p:nvPr>
        </p:nvGraphicFramePr>
        <p:xfrm>
          <a:off x="961504" y="3923696"/>
          <a:ext cx="16297797" cy="5991226"/>
        </p:xfrm>
        <a:graphic>
          <a:graphicData uri="http://schemas.openxmlformats.org/drawingml/2006/table">
            <a:tbl>
              <a:tblPr/>
              <a:tblGrid>
                <a:gridCol w="66806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6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0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476238">
                <a:tc>
                  <a:txBody>
                    <a:bodyPr/>
                    <a:lstStyle/>
                    <a:p>
                      <a:pPr algn="ctr">
                        <a:lnSpc>
                          <a:spcPts val="5879"/>
                        </a:lnSpc>
                        <a:defRPr/>
                      </a:pPr>
                      <a:r>
                        <a:rPr lang="en-US" sz="4199" b="1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Workplace Production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587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4199" b="1" u="none" strike="noStrike">
                          <a:solidFill>
                            <a:srgbClr val="EFF1E8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GitHub Replication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37894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Prime Brokerage portal CSV feeds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359"/>
                        </a:lnSpc>
                        <a:defRPr/>
                      </a:pPr>
                      <a:r>
                        <a:rPr lang="en-US" sz="2399" b="1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Custom Python script generating synthetic FX data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Microsoft SharePoint Online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Storage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PostgreSQL on Neon Database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Dataflows to BI reports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Connection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Direct Power BI connection to Neon DB.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5698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Power BI Report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b="1" u="none" strike="noStrike">
                          <a:solidFill>
                            <a:srgbClr val="EFF1E9"/>
                          </a:solidFill>
                          <a:latin typeface="Poppins Bold"/>
                          <a:ea typeface="Poppins Bold"/>
                          <a:cs typeface="Poppins Bold"/>
                          <a:sym typeface="Poppins Bold"/>
                        </a:rPr>
                        <a:t>Reporting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335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2399" u="none" strike="noStrike" dirty="0">
                          <a:solidFill>
                            <a:srgbClr val="EFF1E9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BI Tools – Power BI or Google Data Studio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EFF1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055239" y="7098923"/>
            <a:ext cx="752450" cy="748345"/>
          </a:xfrm>
          <a:custGeom>
            <a:avLst/>
            <a:gdLst/>
            <a:ahLst/>
            <a:cxnLst/>
            <a:rect l="l" t="t" r="r" b="b"/>
            <a:pathLst>
              <a:path w="752450" h="748345">
                <a:moveTo>
                  <a:pt x="0" y="0"/>
                </a:moveTo>
                <a:lnTo>
                  <a:pt x="752450" y="0"/>
                </a:lnTo>
                <a:lnTo>
                  <a:pt x="752450" y="748346"/>
                </a:lnTo>
                <a:lnTo>
                  <a:pt x="0" y="7483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flipH="1" flipV="1">
            <a:off x="16113698" y="1028700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1145602"/>
                </a:moveTo>
                <a:lnTo>
                  <a:pt x="0" y="1145602"/>
                </a:lnTo>
                <a:lnTo>
                  <a:pt x="0" y="0"/>
                </a:lnTo>
                <a:lnTo>
                  <a:pt x="1145602" y="0"/>
                </a:lnTo>
                <a:lnTo>
                  <a:pt x="1145602" y="114560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flipH="1">
            <a:off x="16113698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962536" y="4873092"/>
            <a:ext cx="665008" cy="836488"/>
          </a:xfrm>
          <a:custGeom>
            <a:avLst/>
            <a:gdLst/>
            <a:ahLst/>
            <a:cxnLst/>
            <a:rect l="l" t="t" r="r" b="b"/>
            <a:pathLst>
              <a:path w="665008" h="836488">
                <a:moveTo>
                  <a:pt x="0" y="0"/>
                </a:moveTo>
                <a:lnTo>
                  <a:pt x="665009" y="0"/>
                </a:lnTo>
                <a:lnTo>
                  <a:pt x="665009" y="836488"/>
                </a:lnTo>
                <a:lnTo>
                  <a:pt x="0" y="8364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894988" y="4873092"/>
            <a:ext cx="782620" cy="782620"/>
          </a:xfrm>
          <a:custGeom>
            <a:avLst/>
            <a:gdLst/>
            <a:ahLst/>
            <a:cxnLst/>
            <a:rect l="l" t="t" r="r" b="b"/>
            <a:pathLst>
              <a:path w="782620" h="782620">
                <a:moveTo>
                  <a:pt x="0" y="0"/>
                </a:moveTo>
                <a:lnTo>
                  <a:pt x="782620" y="0"/>
                </a:lnTo>
                <a:lnTo>
                  <a:pt x="782620" y="782620"/>
                </a:lnTo>
                <a:lnTo>
                  <a:pt x="0" y="78262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028700" y="1123950"/>
            <a:ext cx="10086078" cy="2473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 Architecture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3983189"/>
            <a:ext cx="12372743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Python &amp; Neon PostgreSQL Pipeline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025596" y="4815942"/>
            <a:ext cx="367615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 Generation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25596" y="5262612"/>
            <a:ext cx="5189476" cy="711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Developed a Python script to synthesize mock data mimicking original reports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029356" y="4815942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Database Integration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029356" y="5262612"/>
            <a:ext cx="6875203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Structured a relational schema and automated data loads directly into a Neon PostgreSQL serverless cloud database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051245" y="6969275"/>
            <a:ext cx="298996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EFF1E8"/>
                </a:solidFill>
                <a:latin typeface="Poppins Bold"/>
                <a:ea typeface="Poppins Bold"/>
                <a:cs typeface="Poppins Bold"/>
                <a:sym typeface="Poppins Bold"/>
              </a:rPr>
              <a:t>Power BI Reports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51245" y="7415946"/>
            <a:ext cx="6946016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EFF1E8"/>
                </a:solidFill>
                <a:latin typeface="Poppins"/>
                <a:ea typeface="Poppins"/>
                <a:cs typeface="Poppins"/>
                <a:sym typeface="Poppins"/>
              </a:rPr>
              <a:t>Connected Power BI Reports directly to Neon Database to model data, write DAX measures, and publish the dashboard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6761" y="3769317"/>
            <a:ext cx="5176543" cy="2934108"/>
            <a:chOff x="0" y="0"/>
            <a:chExt cx="1363369" cy="7727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553789" y="3769317"/>
            <a:ext cx="5176543" cy="2934108"/>
            <a:chOff x="0" y="0"/>
            <a:chExt cx="1363369" cy="77276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082757" y="3769317"/>
            <a:ext cx="5176543" cy="2934108"/>
            <a:chOff x="0" y="0"/>
            <a:chExt cx="1363369" cy="77276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050717" y="8103556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0" y="0"/>
                </a:moveTo>
                <a:lnTo>
                  <a:pt x="1145602" y="0"/>
                </a:lnTo>
                <a:lnTo>
                  <a:pt x="1145602" y="1145602"/>
                </a:lnTo>
                <a:lnTo>
                  <a:pt x="0" y="1145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126711" y="1123950"/>
            <a:ext cx="16034578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AI-Assisted Development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352459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Rapid Scripting &amp; Synthetic Logic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52459" y="4988218"/>
            <a:ext cx="4221162" cy="1063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Generative AI assistance to program complex Python generator scripts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459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79487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Database Schema Optimization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79487" y="4988218"/>
            <a:ext cx="4557145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Leveraged AI prompts to help design PostgreSQL tables— schema layout, primary keys, and data types for Neon DB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79487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08455" y="4555353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Documentation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08455" y="4988218"/>
            <a:ext cx="4221162" cy="1416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Generated docstrings and a comprehensive GitHub README explaining setup instructions for reviewers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408455" y="3817507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</a:t>
            </a:r>
          </a:p>
        </p:txBody>
      </p:sp>
      <p:sp>
        <p:nvSpPr>
          <p:cNvPr id="22" name="Freeform 22"/>
          <p:cNvSpPr/>
          <p:nvPr/>
        </p:nvSpPr>
        <p:spPr>
          <a:xfrm flipH="1">
            <a:off x="16115637" y="8112698"/>
            <a:ext cx="1145602" cy="1145602"/>
          </a:xfrm>
          <a:custGeom>
            <a:avLst/>
            <a:gdLst/>
            <a:ahLst/>
            <a:cxnLst/>
            <a:rect l="l" t="t" r="r" b="b"/>
            <a:pathLst>
              <a:path w="1145602" h="1145602">
                <a:moveTo>
                  <a:pt x="1145602" y="0"/>
                </a:moveTo>
                <a:lnTo>
                  <a:pt x="0" y="0"/>
                </a:lnTo>
                <a:lnTo>
                  <a:pt x="0" y="1145602"/>
                </a:lnTo>
                <a:lnTo>
                  <a:pt x="1145602" y="1145602"/>
                </a:lnTo>
                <a:lnTo>
                  <a:pt x="11456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29" name="Group 8">
            <a:extLst>
              <a:ext uri="{FF2B5EF4-FFF2-40B4-BE49-F238E27FC236}">
                <a16:creationId xmlns:a16="http://schemas.microsoft.com/office/drawing/2014/main" id="{78A06741-A656-4BAD-4351-A65B17AC2086}"/>
              </a:ext>
            </a:extLst>
          </p:cNvPr>
          <p:cNvGrpSpPr/>
          <p:nvPr/>
        </p:nvGrpSpPr>
        <p:grpSpPr>
          <a:xfrm>
            <a:off x="6553789" y="6972300"/>
            <a:ext cx="5176543" cy="2934108"/>
            <a:chOff x="0" y="0"/>
            <a:chExt cx="1363369" cy="772769"/>
          </a:xfrm>
        </p:grpSpPr>
        <p:sp>
          <p:nvSpPr>
            <p:cNvPr id="30" name="Freeform 9">
              <a:extLst>
                <a:ext uri="{FF2B5EF4-FFF2-40B4-BE49-F238E27FC236}">
                  <a16:creationId xmlns:a16="http://schemas.microsoft.com/office/drawing/2014/main" id="{1ABB04C2-184E-BFFA-4D64-5F874114360A}"/>
                </a:ext>
              </a:extLst>
            </p:cNvPr>
            <p:cNvSpPr/>
            <p:nvPr/>
          </p:nvSpPr>
          <p:spPr>
            <a:xfrm>
              <a:off x="0" y="0"/>
              <a:ext cx="1363369" cy="772769"/>
            </a:xfrm>
            <a:custGeom>
              <a:avLst/>
              <a:gdLst/>
              <a:ahLst/>
              <a:cxnLst/>
              <a:rect l="l" t="t" r="r" b="b"/>
              <a:pathLst>
                <a:path w="1363369" h="772769">
                  <a:moveTo>
                    <a:pt x="23929" y="0"/>
                  </a:moveTo>
                  <a:lnTo>
                    <a:pt x="1339440" y="0"/>
                  </a:lnTo>
                  <a:cubicBezTo>
                    <a:pt x="1352656" y="0"/>
                    <a:pt x="1363369" y="10713"/>
                    <a:pt x="1363369" y="23929"/>
                  </a:cubicBezTo>
                  <a:lnTo>
                    <a:pt x="1363369" y="748840"/>
                  </a:lnTo>
                  <a:cubicBezTo>
                    <a:pt x="1363369" y="755186"/>
                    <a:pt x="1360848" y="761273"/>
                    <a:pt x="1356361" y="765760"/>
                  </a:cubicBezTo>
                  <a:cubicBezTo>
                    <a:pt x="1351873" y="770248"/>
                    <a:pt x="1345786" y="772769"/>
                    <a:pt x="1339440" y="772769"/>
                  </a:cubicBezTo>
                  <a:lnTo>
                    <a:pt x="23929" y="772769"/>
                  </a:lnTo>
                  <a:cubicBezTo>
                    <a:pt x="17583" y="772769"/>
                    <a:pt x="11496" y="770248"/>
                    <a:pt x="7009" y="765760"/>
                  </a:cubicBezTo>
                  <a:cubicBezTo>
                    <a:pt x="2521" y="761273"/>
                    <a:pt x="0" y="755186"/>
                    <a:pt x="0" y="748840"/>
                  </a:cubicBezTo>
                  <a:lnTo>
                    <a:pt x="0" y="23929"/>
                  </a:lnTo>
                  <a:cubicBezTo>
                    <a:pt x="0" y="17583"/>
                    <a:pt x="2521" y="11496"/>
                    <a:pt x="7009" y="7009"/>
                  </a:cubicBezTo>
                  <a:cubicBezTo>
                    <a:pt x="11496" y="2521"/>
                    <a:pt x="17583" y="0"/>
                    <a:pt x="23929" y="0"/>
                  </a:cubicBezTo>
                  <a:close/>
                </a:path>
              </a:pathLst>
            </a:custGeom>
            <a:solidFill>
              <a:srgbClr val="EFF1E8"/>
            </a:solidFill>
          </p:spPr>
        </p:sp>
        <p:sp>
          <p:nvSpPr>
            <p:cNvPr id="31" name="TextBox 10">
              <a:extLst>
                <a:ext uri="{FF2B5EF4-FFF2-40B4-BE49-F238E27FC236}">
                  <a16:creationId xmlns:a16="http://schemas.microsoft.com/office/drawing/2014/main" id="{63B3F245-DBC0-6096-1FFF-517677D3E52B}"/>
                </a:ext>
              </a:extLst>
            </p:cNvPr>
            <p:cNvSpPr txBox="1"/>
            <p:nvPr/>
          </p:nvSpPr>
          <p:spPr>
            <a:xfrm>
              <a:off x="0" y="-38100"/>
              <a:ext cx="1363369" cy="8108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2" name="TextBox 19">
            <a:extLst>
              <a:ext uri="{FF2B5EF4-FFF2-40B4-BE49-F238E27FC236}">
                <a16:creationId xmlns:a16="http://schemas.microsoft.com/office/drawing/2014/main" id="{3CABDABA-EF59-1F85-6698-0720E8A68ABA}"/>
              </a:ext>
            </a:extLst>
          </p:cNvPr>
          <p:cNvSpPr txBox="1"/>
          <p:nvPr/>
        </p:nvSpPr>
        <p:spPr>
          <a:xfrm>
            <a:off x="6879487" y="7758336"/>
            <a:ext cx="4460007" cy="330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Implementation</a:t>
            </a:r>
          </a:p>
        </p:txBody>
      </p:sp>
      <p:sp>
        <p:nvSpPr>
          <p:cNvPr id="33" name="TextBox 20">
            <a:extLst>
              <a:ext uri="{FF2B5EF4-FFF2-40B4-BE49-F238E27FC236}">
                <a16:creationId xmlns:a16="http://schemas.microsoft.com/office/drawing/2014/main" id="{3600A6A4-94AE-8F9C-68AC-D2454594FAEC}"/>
              </a:ext>
            </a:extLst>
          </p:cNvPr>
          <p:cNvSpPr txBox="1"/>
          <p:nvPr/>
        </p:nvSpPr>
        <p:spPr>
          <a:xfrm>
            <a:off x="6879487" y="8191201"/>
            <a:ext cx="4221162" cy="1059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99"/>
              </a:lnSpc>
              <a:spcBef>
                <a:spcPct val="0"/>
              </a:spcBef>
            </a:pPr>
            <a:r>
              <a:rPr lang="en-US" sz="1999" dirty="0">
                <a:solidFill>
                  <a:srgbClr val="70A1BD"/>
                </a:solidFill>
                <a:latin typeface="Poppins"/>
                <a:ea typeface="Poppins"/>
                <a:cs typeface="Poppins"/>
                <a:sym typeface="Poppins"/>
              </a:rPr>
              <a:t>AI accelerated implementation while designing, testing, and validating the logic.</a:t>
            </a:r>
          </a:p>
        </p:txBody>
      </p:sp>
      <p:sp>
        <p:nvSpPr>
          <p:cNvPr id="34" name="TextBox 21">
            <a:extLst>
              <a:ext uri="{FF2B5EF4-FFF2-40B4-BE49-F238E27FC236}">
                <a16:creationId xmlns:a16="http://schemas.microsoft.com/office/drawing/2014/main" id="{09576722-B01F-F42B-2B9D-29EBD2EAC86A}"/>
              </a:ext>
            </a:extLst>
          </p:cNvPr>
          <p:cNvSpPr txBox="1"/>
          <p:nvPr/>
        </p:nvSpPr>
        <p:spPr>
          <a:xfrm>
            <a:off x="6879487" y="7020490"/>
            <a:ext cx="875213" cy="7124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 dirty="0">
                <a:solidFill>
                  <a:srgbClr val="70A1BD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-493290" y="4865060"/>
            <a:ext cx="3804517" cy="5594879"/>
          </a:xfrm>
          <a:custGeom>
            <a:avLst/>
            <a:gdLst/>
            <a:ahLst/>
            <a:cxnLst/>
            <a:rect l="l" t="t" r="r" b="b"/>
            <a:pathLst>
              <a:path w="3804517" h="5594879">
                <a:moveTo>
                  <a:pt x="3804517" y="0"/>
                </a:moveTo>
                <a:lnTo>
                  <a:pt x="0" y="0"/>
                </a:lnTo>
                <a:lnTo>
                  <a:pt x="0" y="5594879"/>
                </a:lnTo>
                <a:lnTo>
                  <a:pt x="3804517" y="5594879"/>
                </a:lnTo>
                <a:lnTo>
                  <a:pt x="380451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1123950"/>
            <a:ext cx="13917939" cy="1245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79"/>
              </a:lnSpc>
            </a:pPr>
            <a:r>
              <a:rPr lang="en-US" sz="8799" b="1">
                <a:solidFill>
                  <a:srgbClr val="343734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Reporting Examples 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3960788"/>
            <a:ext cx="8260459" cy="368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343734"/>
                </a:solidFill>
                <a:latin typeface="Poppins"/>
                <a:ea typeface="Poppins"/>
                <a:cs typeface="Poppins"/>
                <a:sym typeface="Poppins"/>
              </a:rPr>
              <a:t>Interactive Power BI Reports</a:t>
            </a:r>
          </a:p>
        </p:txBody>
      </p:sp>
      <p:sp>
        <p:nvSpPr>
          <p:cNvPr id="5" name="Freeform 5"/>
          <p:cNvSpPr/>
          <p:nvPr/>
        </p:nvSpPr>
        <p:spPr>
          <a:xfrm>
            <a:off x="10386462" y="4761244"/>
            <a:ext cx="7621409" cy="4901354"/>
          </a:xfrm>
          <a:custGeom>
            <a:avLst/>
            <a:gdLst/>
            <a:ahLst/>
            <a:cxnLst/>
            <a:rect l="l" t="t" r="r" b="b"/>
            <a:pathLst>
              <a:path w="7621409" h="4901354">
                <a:moveTo>
                  <a:pt x="0" y="0"/>
                </a:moveTo>
                <a:lnTo>
                  <a:pt x="7621409" y="0"/>
                </a:lnTo>
                <a:lnTo>
                  <a:pt x="7621409" y="4901355"/>
                </a:lnTo>
                <a:lnTo>
                  <a:pt x="0" y="49013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A1B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BF3AFA-0BDE-1641-4E17-40FA7BD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6">
            <a:extLst>
              <a:ext uri="{FF2B5EF4-FFF2-40B4-BE49-F238E27FC236}">
                <a16:creationId xmlns:a16="http://schemas.microsoft.com/office/drawing/2014/main" id="{44FC532D-BEB0-B1A3-ECE2-54F80FABBD9A}"/>
              </a:ext>
            </a:extLst>
          </p:cNvPr>
          <p:cNvSpPr txBox="1"/>
          <p:nvPr/>
        </p:nvSpPr>
        <p:spPr>
          <a:xfrm>
            <a:off x="1126711" y="1123950"/>
            <a:ext cx="16034578" cy="1243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79"/>
              </a:lnSpc>
            </a:pPr>
            <a:r>
              <a:rPr lang="en-US" sz="8799" b="1" dirty="0">
                <a:solidFill>
                  <a:srgbClr val="EFF1E8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Collateral Dashboard</a:t>
            </a:r>
          </a:p>
        </p:txBody>
      </p:sp>
      <p:sp>
        <p:nvSpPr>
          <p:cNvPr id="28" name="Freeform 2">
            <a:extLst>
              <a:ext uri="{FF2B5EF4-FFF2-40B4-BE49-F238E27FC236}">
                <a16:creationId xmlns:a16="http://schemas.microsoft.com/office/drawing/2014/main" id="{F1603938-0620-C97C-2629-CFD42476E3A7}"/>
              </a:ext>
            </a:extLst>
          </p:cNvPr>
          <p:cNvSpPr/>
          <p:nvPr/>
        </p:nvSpPr>
        <p:spPr>
          <a:xfrm flipV="1">
            <a:off x="1028700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0" y="1015236"/>
                </a:moveTo>
                <a:lnTo>
                  <a:pt x="1015236" y="1015236"/>
                </a:lnTo>
                <a:lnTo>
                  <a:pt x="1015236" y="0"/>
                </a:lnTo>
                <a:lnTo>
                  <a:pt x="0" y="0"/>
                </a:lnTo>
                <a:lnTo>
                  <a:pt x="0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4">
            <a:extLst>
              <a:ext uri="{FF2B5EF4-FFF2-40B4-BE49-F238E27FC236}">
                <a16:creationId xmlns:a16="http://schemas.microsoft.com/office/drawing/2014/main" id="{C417A0F0-7FAA-788D-700F-B4C76B221DC5}"/>
              </a:ext>
            </a:extLst>
          </p:cNvPr>
          <p:cNvSpPr/>
          <p:nvPr/>
        </p:nvSpPr>
        <p:spPr>
          <a:xfrm flipH="1" flipV="1">
            <a:off x="16244064" y="1028700"/>
            <a:ext cx="1015236" cy="1015236"/>
          </a:xfrm>
          <a:custGeom>
            <a:avLst/>
            <a:gdLst/>
            <a:ahLst/>
            <a:cxnLst/>
            <a:rect l="l" t="t" r="r" b="b"/>
            <a:pathLst>
              <a:path w="1015236" h="1015236">
                <a:moveTo>
                  <a:pt x="1015236" y="1015236"/>
                </a:moveTo>
                <a:lnTo>
                  <a:pt x="0" y="1015236"/>
                </a:lnTo>
                <a:lnTo>
                  <a:pt x="0" y="0"/>
                </a:lnTo>
                <a:lnTo>
                  <a:pt x="1015236" y="0"/>
                </a:lnTo>
                <a:lnTo>
                  <a:pt x="1015236" y="1015236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BDB1FAF-A0C2-299C-5358-52082634E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200" y="2439349"/>
            <a:ext cx="13716000" cy="7717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058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451</Words>
  <Application>Microsoft Office PowerPoint</Application>
  <PresentationFormat>Custom</PresentationFormat>
  <Paragraphs>75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Poppins</vt:lpstr>
      <vt:lpstr>Calibri</vt:lpstr>
      <vt:lpstr>Arial</vt:lpstr>
      <vt:lpstr>Montserrat Bold</vt:lpstr>
      <vt:lpstr>Poppins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fx-primer-broker-collateral.pptx</dc:title>
  <dc:creator>Sergio Garcia</dc:creator>
  <cp:lastModifiedBy>Sergio Garcia</cp:lastModifiedBy>
  <cp:revision>5</cp:revision>
  <dcterms:created xsi:type="dcterms:W3CDTF">2006-08-16T00:00:00Z</dcterms:created>
  <dcterms:modified xsi:type="dcterms:W3CDTF">2026-08-13T10:52:24Z</dcterms:modified>
  <dc:identifier>DAHRyo9n3II</dc:identifier>
</cp:coreProperties>
</file>