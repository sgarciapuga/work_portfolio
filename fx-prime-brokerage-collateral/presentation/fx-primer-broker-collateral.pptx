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Montserrat Bold" charset="1" panose="00000800000000000000"/>
      <p:regular r:id="rId20"/>
    </p:embeddedFont>
    <p:embeddedFont>
      <p:font typeface="Poppins" charset="1" panose="00000500000000000000"/>
      <p:regular r:id="rId21"/>
    </p:embeddedFont>
    <p:embeddedFont>
      <p:font typeface="Poppins Bold" charset="1" panose="0000080000000000000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Relationship Id="rId3" Target="../media/image8.png" Type="http://schemas.openxmlformats.org/officeDocument/2006/relationships/image"/><Relationship Id="rId4" Target="../media/image9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0.png" Type="http://schemas.openxmlformats.org/officeDocument/2006/relationships/image"/><Relationship Id="rId11" Target="../media/image21.svg" Type="http://schemas.openxmlformats.org/officeDocument/2006/relationships/image"/><Relationship Id="rId12" Target="../media/image22.png" Type="http://schemas.openxmlformats.org/officeDocument/2006/relationships/image"/><Relationship Id="rId13" Target="../media/image23.svg" Type="http://schemas.openxmlformats.org/officeDocument/2006/relationships/image"/><Relationship Id="rId2" Target="../media/image14.png" Type="http://schemas.openxmlformats.org/officeDocument/2006/relationships/image"/><Relationship Id="rId3" Target="../media/image15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Relationship Id="rId6" Target="../media/image16.png" Type="http://schemas.openxmlformats.org/officeDocument/2006/relationships/image"/><Relationship Id="rId7" Target="../media/image17.svg" Type="http://schemas.openxmlformats.org/officeDocument/2006/relationships/image"/><Relationship Id="rId8" Target="../media/image18.png" Type="http://schemas.openxmlformats.org/officeDocument/2006/relationships/image"/><Relationship Id="rId9" Target="../media/image19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Relationship Id="rId3" Target="../media/image25.svg" Type="http://schemas.openxmlformats.org/officeDocument/2006/relationships/image"/><Relationship Id="rId4" Target="../media/image26.png" Type="http://schemas.openxmlformats.org/officeDocument/2006/relationships/image"/><Relationship Id="rId5" Target="../media/image27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8.png" Type="http://schemas.openxmlformats.org/officeDocument/2006/relationships/image"/><Relationship Id="rId3" Target="../media/image29.svg" Type="http://schemas.openxmlformats.org/officeDocument/2006/relationships/image"/><Relationship Id="rId4" Target="../media/image26.png" Type="http://schemas.openxmlformats.org/officeDocument/2006/relationships/image"/><Relationship Id="rId5" Target="../media/image27.svg" Type="http://schemas.openxmlformats.org/officeDocument/2006/relationships/image"/><Relationship Id="rId6" Target="../media/image30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Relationship Id="rId6" Target="../media/image20.png" Type="http://schemas.openxmlformats.org/officeDocument/2006/relationships/image"/><Relationship Id="rId7" Target="../media/image21.svg" Type="http://schemas.openxmlformats.org/officeDocument/2006/relationships/image"/><Relationship Id="rId8" Target="../media/image33.png" Type="http://schemas.openxmlformats.org/officeDocument/2006/relationships/image"/><Relationship Id="rId9" Target="../media/image34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5.png" Type="http://schemas.openxmlformats.org/officeDocument/2006/relationships/image"/><Relationship Id="rId3" Target="../media/image36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7.png" Type="http://schemas.openxmlformats.org/officeDocument/2006/relationships/image"/><Relationship Id="rId3" Target="../media/image38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Relationship Id="rId6" Target="../media/image39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7.png" Type="http://schemas.openxmlformats.org/officeDocument/2006/relationships/image"/><Relationship Id="rId3" Target="../media/image38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Relationship Id="rId6" Target="../media/image40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7.png" Type="http://schemas.openxmlformats.org/officeDocument/2006/relationships/image"/><Relationship Id="rId3" Target="../media/image38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Relationship Id="rId6" Target="../media/image4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028700"/>
            <a:ext cx="762772" cy="709822"/>
          </a:xfrm>
          <a:custGeom>
            <a:avLst/>
            <a:gdLst/>
            <a:ahLst/>
            <a:cxnLst/>
            <a:rect r="r" b="b" t="t" l="l"/>
            <a:pathLst>
              <a:path h="709822" w="762772">
                <a:moveTo>
                  <a:pt x="0" y="0"/>
                </a:moveTo>
                <a:lnTo>
                  <a:pt x="762772" y="0"/>
                </a:lnTo>
                <a:lnTo>
                  <a:pt x="762772" y="709822"/>
                </a:lnTo>
                <a:lnTo>
                  <a:pt x="0" y="7098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250" t="0" r="-252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948692" y="1383611"/>
            <a:ext cx="6310608" cy="7200900"/>
          </a:xfrm>
          <a:custGeom>
            <a:avLst/>
            <a:gdLst/>
            <a:ahLst/>
            <a:cxnLst/>
            <a:rect r="r" b="b" t="t" l="l"/>
            <a:pathLst>
              <a:path h="7200900" w="6310608">
                <a:moveTo>
                  <a:pt x="0" y="0"/>
                </a:moveTo>
                <a:lnTo>
                  <a:pt x="6310608" y="0"/>
                </a:lnTo>
                <a:lnTo>
                  <a:pt x="6310608" y="7200900"/>
                </a:lnTo>
                <a:lnTo>
                  <a:pt x="0" y="72009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10" t="0" r="-11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3145403"/>
            <a:ext cx="9662817" cy="3086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00"/>
              </a:lnSpc>
            </a:pPr>
            <a:r>
              <a:rPr lang="en-US" sz="12000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FX PB Collateral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7519828" y="-836514"/>
            <a:ext cx="1676067" cy="11642360"/>
          </a:xfrm>
          <a:custGeom>
            <a:avLst/>
            <a:gdLst/>
            <a:ahLst/>
            <a:cxnLst/>
            <a:rect r="r" b="b" t="t" l="l"/>
            <a:pathLst>
              <a:path h="11642360" w="1676067">
                <a:moveTo>
                  <a:pt x="0" y="0"/>
                </a:moveTo>
                <a:lnTo>
                  <a:pt x="1676066" y="0"/>
                </a:lnTo>
                <a:lnTo>
                  <a:pt x="1676066" y="11642360"/>
                </a:lnTo>
                <a:lnTo>
                  <a:pt x="0" y="1164236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28700" y="6641097"/>
            <a:ext cx="7880337" cy="415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spc="224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Automating FX Prime Brokerage Monitoring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7463590"/>
            <a:ext cx="7471829" cy="10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Replacing tedious manual portal extraction with an automated end-to-end data pipeline and Power BI analytics dashboard</a:t>
            </a:r>
          </a:p>
        </p:txBody>
      </p:sp>
      <p:sp>
        <p:nvSpPr>
          <p:cNvPr name="AutoShape 8" id="8"/>
          <p:cNvSpPr/>
          <p:nvPr/>
        </p:nvSpPr>
        <p:spPr>
          <a:xfrm rot="-5696280">
            <a:off x="826456" y="9042587"/>
            <a:ext cx="442589" cy="0"/>
          </a:xfrm>
          <a:prstGeom prst="line">
            <a:avLst/>
          </a:prstGeom>
          <a:ln cap="rnd" w="28575">
            <a:solidFill>
              <a:srgbClr val="EFF1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 rot="-5696280">
            <a:off x="970445" y="9042587"/>
            <a:ext cx="442589" cy="0"/>
          </a:xfrm>
          <a:prstGeom prst="line">
            <a:avLst/>
          </a:prstGeom>
          <a:ln cap="rnd" w="28575">
            <a:solidFill>
              <a:srgbClr val="EFF1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 rot="-5696280">
            <a:off x="1114435" y="9042587"/>
            <a:ext cx="442589" cy="0"/>
          </a:xfrm>
          <a:prstGeom prst="line">
            <a:avLst/>
          </a:prstGeom>
          <a:ln cap="rnd" w="28575">
            <a:solidFill>
              <a:srgbClr val="EFF1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 rot="-5696280">
            <a:off x="16730977" y="9042587"/>
            <a:ext cx="442589" cy="0"/>
          </a:xfrm>
          <a:prstGeom prst="line">
            <a:avLst/>
          </a:prstGeom>
          <a:ln cap="rnd" w="28575">
            <a:solidFill>
              <a:srgbClr val="EFF1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 rot="-5103720">
            <a:off x="16874966" y="9042587"/>
            <a:ext cx="442589" cy="0"/>
          </a:xfrm>
          <a:prstGeom prst="line">
            <a:avLst/>
          </a:prstGeom>
          <a:ln cap="rnd" w="28575">
            <a:solidFill>
              <a:srgbClr val="EFF1E8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 rot="-5103720">
            <a:off x="17018956" y="9042587"/>
            <a:ext cx="442589" cy="0"/>
          </a:xfrm>
          <a:prstGeom prst="line">
            <a:avLst/>
          </a:prstGeom>
          <a:ln cap="rnd" w="28575">
            <a:solidFill>
              <a:srgbClr val="EFF1E8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080260" y="-195491"/>
            <a:ext cx="7179040" cy="10655427"/>
            <a:chOff x="0" y="0"/>
            <a:chExt cx="9572054" cy="142072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572117" cy="14207237"/>
            </a:xfrm>
            <a:custGeom>
              <a:avLst/>
              <a:gdLst/>
              <a:ahLst/>
              <a:cxnLst/>
              <a:rect r="r" b="b" t="t" l="l"/>
              <a:pathLst>
                <a:path h="14207237" w="9572117">
                  <a:moveTo>
                    <a:pt x="0" y="0"/>
                  </a:moveTo>
                  <a:lnTo>
                    <a:pt x="9572117" y="0"/>
                  </a:lnTo>
                  <a:lnTo>
                    <a:pt x="9572117" y="14207237"/>
                  </a:lnTo>
                  <a:lnTo>
                    <a:pt x="0" y="14207237"/>
                  </a:lnTo>
                  <a:close/>
                </a:path>
              </a:pathLst>
            </a:custGeom>
            <a:blipFill>
              <a:blip r:embed="rId2"/>
              <a:stretch>
                <a:fillRect l="-61317" t="0" r="-61316" b="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true" flipV="false" rot="0">
            <a:off x="-493290" y="4865056"/>
            <a:ext cx="3804514" cy="5594880"/>
          </a:xfrm>
          <a:custGeom>
            <a:avLst/>
            <a:gdLst/>
            <a:ahLst/>
            <a:cxnLst/>
            <a:rect r="r" b="b" t="t" l="l"/>
            <a:pathLst>
              <a:path h="5594880" w="3804514">
                <a:moveTo>
                  <a:pt x="3804513" y="0"/>
                </a:moveTo>
                <a:lnTo>
                  <a:pt x="0" y="0"/>
                </a:lnTo>
                <a:lnTo>
                  <a:pt x="0" y="5594880"/>
                </a:lnTo>
                <a:lnTo>
                  <a:pt x="3804513" y="5594880"/>
                </a:lnTo>
                <a:lnTo>
                  <a:pt x="3804513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-65" r="0" b="-64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1219200"/>
            <a:ext cx="13917940" cy="36074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8"/>
              </a:lnSpc>
            </a:pPr>
            <a:r>
              <a:rPr lang="en-US" sz="8799" b="true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The Business Problem &amp; Enterprise Impact</a:t>
            </a:r>
          </a:p>
          <a:p>
            <a:pPr algn="l">
              <a:lnSpc>
                <a:spcPts val="9678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3894115"/>
            <a:ext cx="8260461" cy="1073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</a:pPr>
            <a:r>
              <a:rPr lang="en-US" sz="20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Understanding the manual bottlenecks in daily FX Prime Brokerage collateral and limits reporting.</a:t>
            </a:r>
          </a:p>
          <a:p>
            <a:pPr algn="just">
              <a:lnSpc>
                <a:spcPts val="2800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985481" y="6817662"/>
            <a:ext cx="6340983" cy="3078766"/>
          </a:xfrm>
          <a:custGeom>
            <a:avLst/>
            <a:gdLst/>
            <a:ahLst/>
            <a:cxnLst/>
            <a:rect r="r" b="b" t="t" l="l"/>
            <a:pathLst>
              <a:path h="3078766" w="6340983">
                <a:moveTo>
                  <a:pt x="0" y="0"/>
                </a:moveTo>
                <a:lnTo>
                  <a:pt x="6340983" y="0"/>
                </a:lnTo>
                <a:lnTo>
                  <a:pt x="6340983" y="3078765"/>
                </a:lnTo>
                <a:lnTo>
                  <a:pt x="0" y="307876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50712" y="8103556"/>
            <a:ext cx="1145600" cy="1145600"/>
          </a:xfrm>
          <a:custGeom>
            <a:avLst/>
            <a:gdLst/>
            <a:ahLst/>
            <a:cxnLst/>
            <a:rect r="r" b="b" t="t" l="l"/>
            <a:pathLst>
              <a:path h="1145600" w="1145600">
                <a:moveTo>
                  <a:pt x="0" y="0"/>
                </a:moveTo>
                <a:lnTo>
                  <a:pt x="1145601" y="0"/>
                </a:lnTo>
                <a:lnTo>
                  <a:pt x="1145601" y="1145600"/>
                </a:lnTo>
                <a:lnTo>
                  <a:pt x="0" y="11456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126712" y="1219200"/>
            <a:ext cx="16034576" cy="2378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78"/>
              </a:lnSpc>
            </a:pPr>
            <a:r>
              <a:rPr lang="en-US" sz="8799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Manual Process Challenge</a:t>
            </a:r>
          </a:p>
          <a:p>
            <a:pPr algn="ctr">
              <a:lnSpc>
                <a:spcPts val="9678"/>
              </a:lnSpc>
            </a:pPr>
          </a:p>
        </p:txBody>
      </p:sp>
      <p:sp>
        <p:nvSpPr>
          <p:cNvPr name="Freeform 5" id="5"/>
          <p:cNvSpPr/>
          <p:nvPr/>
        </p:nvSpPr>
        <p:spPr>
          <a:xfrm flipH="true" flipV="false" rot="0">
            <a:off x="16115633" y="8112700"/>
            <a:ext cx="1145600" cy="1145600"/>
          </a:xfrm>
          <a:custGeom>
            <a:avLst/>
            <a:gdLst/>
            <a:ahLst/>
            <a:cxnLst/>
            <a:rect r="r" b="b" t="t" l="l"/>
            <a:pathLst>
              <a:path h="1145600" w="1145600">
                <a:moveTo>
                  <a:pt x="1145601" y="0"/>
                </a:moveTo>
                <a:lnTo>
                  <a:pt x="0" y="0"/>
                </a:lnTo>
                <a:lnTo>
                  <a:pt x="0" y="1145600"/>
                </a:lnTo>
                <a:lnTo>
                  <a:pt x="1145601" y="1145600"/>
                </a:lnTo>
                <a:lnTo>
                  <a:pt x="1145601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209976" y="7618324"/>
            <a:ext cx="4460005" cy="358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Teams Pasting &amp; Delays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209976" y="8022612"/>
            <a:ext cx="5926626" cy="711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Consolidate the extracted information and </a:t>
            </a:r>
            <a:r>
              <a:rPr lang="en-US" sz="1998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manually share updates with stakeholders</a:t>
            </a:r>
            <a:r>
              <a:rPr lang="en-US" sz="1998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209976" y="6832844"/>
            <a:ext cx="875214" cy="788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4199" b="true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744198" y="2959084"/>
            <a:ext cx="6340983" cy="3078766"/>
          </a:xfrm>
          <a:custGeom>
            <a:avLst/>
            <a:gdLst/>
            <a:ahLst/>
            <a:cxnLst/>
            <a:rect r="r" b="b" t="t" l="l"/>
            <a:pathLst>
              <a:path h="3078766" w="6340983">
                <a:moveTo>
                  <a:pt x="0" y="0"/>
                </a:moveTo>
                <a:lnTo>
                  <a:pt x="6340983" y="0"/>
                </a:lnTo>
                <a:lnTo>
                  <a:pt x="6340983" y="3078766"/>
                </a:lnTo>
                <a:lnTo>
                  <a:pt x="0" y="30787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968693" y="3759746"/>
            <a:ext cx="4460005" cy="358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Portal Authentication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68692" y="4164035"/>
            <a:ext cx="5926626" cy="1768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Operations team had to </a:t>
            </a:r>
            <a:r>
              <a:rPr lang="en-US" sz="1998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manually log into the Prime Brokerage (PB) portal every morning</a:t>
            </a:r>
            <a:r>
              <a:rPr lang="en-US" sz="1998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, navigate through reporting sub-menus, and await slow report loads.</a:t>
            </a:r>
          </a:p>
          <a:p>
            <a:pPr algn="l">
              <a:lnSpc>
                <a:spcPts val="2798"/>
              </a:lnSpc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968693" y="2974276"/>
            <a:ext cx="875214" cy="7886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4199" b="true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0669981" y="2959084"/>
            <a:ext cx="6340983" cy="3078766"/>
          </a:xfrm>
          <a:custGeom>
            <a:avLst/>
            <a:gdLst/>
            <a:ahLst/>
            <a:cxnLst/>
            <a:rect r="r" b="b" t="t" l="l"/>
            <a:pathLst>
              <a:path h="3078766" w="6340983">
                <a:moveTo>
                  <a:pt x="0" y="0"/>
                </a:moveTo>
                <a:lnTo>
                  <a:pt x="6340983" y="0"/>
                </a:lnTo>
                <a:lnTo>
                  <a:pt x="6340983" y="3078766"/>
                </a:lnTo>
                <a:lnTo>
                  <a:pt x="0" y="30787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0894466" y="3759746"/>
            <a:ext cx="4460005" cy="358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Manual Screenshotting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894466" y="4164035"/>
            <a:ext cx="5926626" cy="711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n-US" sz="1998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apture the relevant </a:t>
            </a:r>
            <a:r>
              <a:rPr lang="en-US" sz="1998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collateral, limits and portfolio information</a:t>
            </a:r>
            <a:r>
              <a:rPr lang="en-US" sz="1998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 from the portal reports.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894466" y="2974276"/>
            <a:ext cx="875214" cy="788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4199" b="true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952085" y="6476362"/>
            <a:ext cx="752446" cy="748341"/>
          </a:xfrm>
          <a:custGeom>
            <a:avLst/>
            <a:gdLst/>
            <a:ahLst/>
            <a:cxnLst/>
            <a:rect r="r" b="b" t="t" l="l"/>
            <a:pathLst>
              <a:path h="748341" w="752446">
                <a:moveTo>
                  <a:pt x="0" y="0"/>
                </a:moveTo>
                <a:lnTo>
                  <a:pt x="752447" y="0"/>
                </a:lnTo>
                <a:lnTo>
                  <a:pt x="752447" y="748341"/>
                </a:lnTo>
                <a:lnTo>
                  <a:pt x="0" y="7483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273" r="0" b="-274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16113700" y="1028700"/>
            <a:ext cx="1145600" cy="1145600"/>
          </a:xfrm>
          <a:custGeom>
            <a:avLst/>
            <a:gdLst/>
            <a:ahLst/>
            <a:cxnLst/>
            <a:rect r="r" b="b" t="t" l="l"/>
            <a:pathLst>
              <a:path h="1145600" w="1145600">
                <a:moveTo>
                  <a:pt x="1145600" y="1145600"/>
                </a:moveTo>
                <a:lnTo>
                  <a:pt x="0" y="1145600"/>
                </a:lnTo>
                <a:lnTo>
                  <a:pt x="0" y="0"/>
                </a:lnTo>
                <a:lnTo>
                  <a:pt x="1145600" y="0"/>
                </a:lnTo>
                <a:lnTo>
                  <a:pt x="1145600" y="114560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6113700" y="8112700"/>
            <a:ext cx="1145600" cy="1145600"/>
          </a:xfrm>
          <a:custGeom>
            <a:avLst/>
            <a:gdLst/>
            <a:ahLst/>
            <a:cxnLst/>
            <a:rect r="r" b="b" t="t" l="l"/>
            <a:pathLst>
              <a:path h="1145600" w="1145600">
                <a:moveTo>
                  <a:pt x="1145600" y="0"/>
                </a:moveTo>
                <a:lnTo>
                  <a:pt x="0" y="0"/>
                </a:lnTo>
                <a:lnTo>
                  <a:pt x="0" y="1145600"/>
                </a:lnTo>
                <a:lnTo>
                  <a:pt x="1145600" y="1145600"/>
                </a:lnTo>
                <a:lnTo>
                  <a:pt x="11456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77606" y="4660335"/>
            <a:ext cx="713346" cy="517179"/>
          </a:xfrm>
          <a:custGeom>
            <a:avLst/>
            <a:gdLst/>
            <a:ahLst/>
            <a:cxnLst/>
            <a:rect r="r" b="b" t="t" l="l"/>
            <a:pathLst>
              <a:path h="517179" w="713346">
                <a:moveTo>
                  <a:pt x="0" y="0"/>
                </a:moveTo>
                <a:lnTo>
                  <a:pt x="713346" y="0"/>
                </a:lnTo>
                <a:lnTo>
                  <a:pt x="713346" y="517179"/>
                </a:lnTo>
                <a:lnTo>
                  <a:pt x="0" y="5171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574" r="0" b="-574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169121" y="6403867"/>
            <a:ext cx="870290" cy="874662"/>
          </a:xfrm>
          <a:custGeom>
            <a:avLst/>
            <a:gdLst/>
            <a:ahLst/>
            <a:cxnLst/>
            <a:rect r="r" b="b" t="t" l="l"/>
            <a:pathLst>
              <a:path h="874662" w="870290">
                <a:moveTo>
                  <a:pt x="0" y="0"/>
                </a:moveTo>
                <a:lnTo>
                  <a:pt x="870290" y="0"/>
                </a:lnTo>
                <a:lnTo>
                  <a:pt x="870290" y="874662"/>
                </a:lnTo>
                <a:lnTo>
                  <a:pt x="0" y="8746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251" t="0" r="-25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663626" y="3834546"/>
            <a:ext cx="665007" cy="836486"/>
          </a:xfrm>
          <a:custGeom>
            <a:avLst/>
            <a:gdLst/>
            <a:ahLst/>
            <a:cxnLst/>
            <a:rect r="r" b="b" t="t" l="l"/>
            <a:pathLst>
              <a:path h="836486" w="665007">
                <a:moveTo>
                  <a:pt x="0" y="0"/>
                </a:moveTo>
                <a:lnTo>
                  <a:pt x="665007" y="0"/>
                </a:lnTo>
                <a:lnTo>
                  <a:pt x="665007" y="836485"/>
                </a:lnTo>
                <a:lnTo>
                  <a:pt x="0" y="83648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539" r="0" b="-538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028700" y="1219200"/>
            <a:ext cx="10803455" cy="2378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8"/>
              </a:lnSpc>
            </a:pPr>
            <a:r>
              <a:rPr lang="en-US" sz="8799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Implemented Solution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3479949"/>
            <a:ext cx="12372746" cy="415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Automated Ingestion Pipeline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06767" y="4503001"/>
            <a:ext cx="3676155" cy="415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Automated Email Delivery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06767" y="4949666"/>
            <a:ext cx="3806019" cy="768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PB portal configured to auto-distribute daily CSV files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338582" y="6213824"/>
            <a:ext cx="3681136" cy="415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Automate Workflow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338582" y="6660490"/>
            <a:ext cx="3805418" cy="1120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Cloud workflow automatically saves CSV files to a secured SharePoint folder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730445" y="3720246"/>
            <a:ext cx="2989964" cy="415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BI Dataflows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730445" y="4166911"/>
            <a:ext cx="3811829" cy="141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Connects to SharePoint, cleans, aggregates, and structures the raw CSV data for downstream reporting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948096" y="6289567"/>
            <a:ext cx="2989964" cy="415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BI Reports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948096" y="6736242"/>
            <a:ext cx="3813477" cy="1120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Automatically refreshed interactive reports distributed to the primary stakeholders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689258" y="5970937"/>
            <a:ext cx="16573500" cy="57150"/>
            <a:chOff x="0" y="0"/>
            <a:chExt cx="22098000" cy="762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098000" cy="76200"/>
            </a:xfrm>
            <a:custGeom>
              <a:avLst/>
              <a:gdLst/>
              <a:ahLst/>
              <a:cxnLst/>
              <a:rect r="r" b="b" t="t" l="l"/>
              <a:pathLst>
                <a:path h="76200" w="22098000">
                  <a:moveTo>
                    <a:pt x="0" y="0"/>
                  </a:moveTo>
                  <a:lnTo>
                    <a:pt x="22098000" y="0"/>
                  </a:lnTo>
                  <a:lnTo>
                    <a:pt x="22098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EFF1E9"/>
            </a:solidFill>
          </p:spPr>
        </p:sp>
      </p:grpSp>
      <p:sp>
        <p:nvSpPr>
          <p:cNvPr name="Freeform 20" id="20"/>
          <p:cNvSpPr/>
          <p:nvPr/>
        </p:nvSpPr>
        <p:spPr>
          <a:xfrm flipH="false" flipV="false" rot="0">
            <a:off x="2388022" y="5792343"/>
            <a:ext cx="414338" cy="414338"/>
          </a:xfrm>
          <a:custGeom>
            <a:avLst/>
            <a:gdLst/>
            <a:ahLst/>
            <a:cxnLst/>
            <a:rect r="r" b="b" t="t" l="l"/>
            <a:pathLst>
              <a:path h="414338" w="414338">
                <a:moveTo>
                  <a:pt x="0" y="0"/>
                </a:moveTo>
                <a:lnTo>
                  <a:pt x="414338" y="0"/>
                </a:lnTo>
                <a:lnTo>
                  <a:pt x="414338" y="414337"/>
                </a:lnTo>
                <a:lnTo>
                  <a:pt x="0" y="41433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6641897" y="5792343"/>
            <a:ext cx="414338" cy="414338"/>
          </a:xfrm>
          <a:custGeom>
            <a:avLst/>
            <a:gdLst/>
            <a:ahLst/>
            <a:cxnLst/>
            <a:rect r="r" b="b" t="t" l="l"/>
            <a:pathLst>
              <a:path h="414338" w="414338">
                <a:moveTo>
                  <a:pt x="0" y="0"/>
                </a:moveTo>
                <a:lnTo>
                  <a:pt x="414337" y="0"/>
                </a:lnTo>
                <a:lnTo>
                  <a:pt x="414337" y="414337"/>
                </a:lnTo>
                <a:lnTo>
                  <a:pt x="0" y="41433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0895781" y="5792343"/>
            <a:ext cx="414338" cy="414338"/>
          </a:xfrm>
          <a:custGeom>
            <a:avLst/>
            <a:gdLst/>
            <a:ahLst/>
            <a:cxnLst/>
            <a:rect r="r" b="b" t="t" l="l"/>
            <a:pathLst>
              <a:path h="414338" w="414338">
                <a:moveTo>
                  <a:pt x="0" y="0"/>
                </a:moveTo>
                <a:lnTo>
                  <a:pt x="414337" y="0"/>
                </a:lnTo>
                <a:lnTo>
                  <a:pt x="414337" y="414337"/>
                </a:lnTo>
                <a:lnTo>
                  <a:pt x="0" y="41433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5149655" y="5792343"/>
            <a:ext cx="414338" cy="414338"/>
          </a:xfrm>
          <a:custGeom>
            <a:avLst/>
            <a:gdLst/>
            <a:ahLst/>
            <a:cxnLst/>
            <a:rect r="r" b="b" t="t" l="l"/>
            <a:pathLst>
              <a:path h="414338" w="414338">
                <a:moveTo>
                  <a:pt x="0" y="0"/>
                </a:moveTo>
                <a:lnTo>
                  <a:pt x="414338" y="0"/>
                </a:lnTo>
                <a:lnTo>
                  <a:pt x="414338" y="414337"/>
                </a:lnTo>
                <a:lnTo>
                  <a:pt x="0" y="41433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34720" y="4126125"/>
            <a:ext cx="4636570" cy="3795693"/>
          </a:xfrm>
          <a:custGeom>
            <a:avLst/>
            <a:gdLst/>
            <a:ahLst/>
            <a:cxnLst/>
            <a:rect r="r" b="b" t="t" l="l"/>
            <a:pathLst>
              <a:path h="3795693" w="4636570">
                <a:moveTo>
                  <a:pt x="0" y="0"/>
                </a:moveTo>
                <a:lnTo>
                  <a:pt x="4636570" y="0"/>
                </a:lnTo>
                <a:lnTo>
                  <a:pt x="4636570" y="3795694"/>
                </a:lnTo>
                <a:lnTo>
                  <a:pt x="0" y="379569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610211" y="8630260"/>
            <a:ext cx="20321216" cy="918381"/>
          </a:xfrm>
          <a:custGeom>
            <a:avLst/>
            <a:gdLst/>
            <a:ahLst/>
            <a:cxnLst/>
            <a:rect r="r" b="b" t="t" l="l"/>
            <a:pathLst>
              <a:path h="918381" w="20321216">
                <a:moveTo>
                  <a:pt x="0" y="0"/>
                </a:moveTo>
                <a:lnTo>
                  <a:pt x="20321216" y="0"/>
                </a:lnTo>
                <a:lnTo>
                  <a:pt x="20321216" y="918381"/>
                </a:lnTo>
                <a:lnTo>
                  <a:pt x="0" y="91838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000002" y="1219200"/>
            <a:ext cx="14287995" cy="2392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78"/>
              </a:lnSpc>
            </a:pPr>
            <a:r>
              <a:rPr lang="en-US" sz="8799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Operational Speed &amp; Impact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14257" y="4150376"/>
            <a:ext cx="4549826" cy="16624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8799" b="true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&lt;10s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19217" y="5660403"/>
            <a:ext cx="4739907" cy="1877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35"/>
              </a:lnSpc>
            </a:pPr>
            <a:r>
              <a:rPr lang="en-US" sz="36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Time to Decision Insight</a:t>
            </a:r>
          </a:p>
          <a:p>
            <a:pPr algn="ctr">
              <a:lnSpc>
                <a:spcPts val="4479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7255193" y="4597784"/>
            <a:ext cx="5630751" cy="768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Instant Collateral Requirements Visibility</a:t>
            </a:r>
          </a:p>
          <a:p>
            <a:pPr algn="l">
              <a:lnSpc>
                <a:spcPts val="2798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7255193" y="5044450"/>
            <a:ext cx="8454076" cy="141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By removing manual portal logins, screenshotting, and Teams messaging, the solution compresses the daily reporting cycle from over </a:t>
            </a: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15 minutes</a:t>
            </a: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down to </a:t>
            </a: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under 10 seconds</a:t>
            </a: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  <a:p>
            <a:pPr algn="l">
              <a:lnSpc>
                <a:spcPts val="2798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7239000" y="6412401"/>
            <a:ext cx="8454076" cy="10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Stakeholders receive </a:t>
            </a: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an updated, reliable collateral report</a:t>
            </a: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every morning</a:t>
            </a:r>
          </a:p>
          <a:p>
            <a:pPr algn="l">
              <a:lnSpc>
                <a:spcPts val="2798"/>
              </a:lnSpc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828800" y="3775624"/>
            <a:ext cx="3456594" cy="4176817"/>
          </a:xfrm>
          <a:custGeom>
            <a:avLst/>
            <a:gdLst/>
            <a:ahLst/>
            <a:cxnLst/>
            <a:rect r="r" b="b" t="t" l="l"/>
            <a:pathLst>
              <a:path h="4176817" w="3456594">
                <a:moveTo>
                  <a:pt x="0" y="0"/>
                </a:moveTo>
                <a:lnTo>
                  <a:pt x="3456594" y="0"/>
                </a:lnTo>
                <a:lnTo>
                  <a:pt x="3456594" y="4176818"/>
                </a:lnTo>
                <a:lnTo>
                  <a:pt x="0" y="417681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610211" y="8630260"/>
            <a:ext cx="20321216" cy="918381"/>
          </a:xfrm>
          <a:custGeom>
            <a:avLst/>
            <a:gdLst/>
            <a:ahLst/>
            <a:cxnLst/>
            <a:rect r="r" b="b" t="t" l="l"/>
            <a:pathLst>
              <a:path h="918381" w="20321216">
                <a:moveTo>
                  <a:pt x="0" y="0"/>
                </a:moveTo>
                <a:lnTo>
                  <a:pt x="20321216" y="0"/>
                </a:lnTo>
                <a:lnTo>
                  <a:pt x="20321216" y="918381"/>
                </a:lnTo>
                <a:lnTo>
                  <a:pt x="0" y="91838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000002" y="1219200"/>
            <a:ext cx="14287995" cy="23926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78"/>
              </a:lnSpc>
            </a:pPr>
            <a:r>
              <a:rPr lang="en-US" sz="8799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Value Added Through Analytics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255193" y="4592898"/>
            <a:ext cx="5630751" cy="398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BI Reporting gives additional value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255193" y="5171237"/>
            <a:ext cx="8454076" cy="353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Trend Analysis </a:t>
            </a: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– Daily collateral movements visualized over time</a:t>
            </a:r>
          </a:p>
          <a:p>
            <a:pPr algn="l">
              <a:lnSpc>
                <a:spcPts val="2798"/>
              </a:lnSpc>
            </a:pPr>
          </a:p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Limit Utilization Monitoring</a:t>
            </a: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– Daily view of PB limits</a:t>
            </a:r>
          </a:p>
          <a:p>
            <a:pPr algn="l">
              <a:lnSpc>
                <a:spcPts val="2798"/>
              </a:lnSpc>
            </a:pPr>
          </a:p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Counterparty Exposure Insights</a:t>
            </a: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– Aggregated exposure by counterparty</a:t>
            </a:r>
          </a:p>
          <a:p>
            <a:pPr algn="l">
              <a:lnSpc>
                <a:spcPts val="2798"/>
              </a:lnSpc>
            </a:pPr>
          </a:p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Operational Transparency</a:t>
            </a: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– Stakeholders can self‑serve instead of requesting ad‑hoc updates.</a:t>
            </a:r>
          </a:p>
          <a:p>
            <a:pPr algn="l">
              <a:lnSpc>
                <a:spcPts val="2798"/>
              </a:lnSpc>
            </a:pPr>
          </a:p>
        </p:txBody>
      </p:sp>
      <p:grpSp>
        <p:nvGrpSpPr>
          <p:cNvPr name="Group 7" id="7"/>
          <p:cNvGrpSpPr/>
          <p:nvPr/>
        </p:nvGrpSpPr>
        <p:grpSpPr>
          <a:xfrm rot="0">
            <a:off x="2667000" y="4159025"/>
            <a:ext cx="1847412" cy="3529394"/>
            <a:chOff x="0" y="0"/>
            <a:chExt cx="2463216" cy="470585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463165" cy="4705858"/>
            </a:xfrm>
            <a:custGeom>
              <a:avLst/>
              <a:gdLst/>
              <a:ahLst/>
              <a:cxnLst/>
              <a:rect r="r" b="b" t="t" l="l"/>
              <a:pathLst>
                <a:path h="4705858" w="2463165">
                  <a:moveTo>
                    <a:pt x="0" y="0"/>
                  </a:moveTo>
                  <a:lnTo>
                    <a:pt x="2463165" y="0"/>
                  </a:lnTo>
                  <a:lnTo>
                    <a:pt x="2463165" y="4705858"/>
                  </a:lnTo>
                  <a:lnTo>
                    <a:pt x="0" y="4705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2" b="0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-493290" y="4865056"/>
            <a:ext cx="3804514" cy="5594880"/>
          </a:xfrm>
          <a:custGeom>
            <a:avLst/>
            <a:gdLst/>
            <a:ahLst/>
            <a:cxnLst/>
            <a:rect r="r" b="b" t="t" l="l"/>
            <a:pathLst>
              <a:path h="5594880" w="3804514">
                <a:moveTo>
                  <a:pt x="3804513" y="0"/>
                </a:moveTo>
                <a:lnTo>
                  <a:pt x="0" y="0"/>
                </a:lnTo>
                <a:lnTo>
                  <a:pt x="0" y="5594880"/>
                </a:lnTo>
                <a:lnTo>
                  <a:pt x="3804513" y="5594880"/>
                </a:lnTo>
                <a:lnTo>
                  <a:pt x="3804513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65" r="0" b="-64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219200"/>
            <a:ext cx="13917940" cy="36074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8"/>
              </a:lnSpc>
            </a:pPr>
            <a:r>
              <a:rPr lang="en-US" sz="8799" b="true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Public Portfolio &amp; GitHub Replication</a:t>
            </a:r>
          </a:p>
          <a:p>
            <a:pPr algn="l">
              <a:lnSpc>
                <a:spcPts val="9678"/>
              </a:lnSpc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894115"/>
            <a:ext cx="8260461" cy="720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</a:pPr>
            <a:r>
              <a:rPr lang="en-US" sz="20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Enterprise project securely recreated into a public portfolio demonstration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0386460" y="4761243"/>
            <a:ext cx="7621410" cy="4901355"/>
          </a:xfrm>
          <a:custGeom>
            <a:avLst/>
            <a:gdLst/>
            <a:ahLst/>
            <a:cxnLst/>
            <a:rect r="r" b="b" t="t" l="l"/>
            <a:pathLst>
              <a:path h="4901355" w="7621410">
                <a:moveTo>
                  <a:pt x="0" y="0"/>
                </a:moveTo>
                <a:lnTo>
                  <a:pt x="7621410" y="0"/>
                </a:lnTo>
                <a:lnTo>
                  <a:pt x="7621410" y="4901355"/>
                </a:lnTo>
                <a:lnTo>
                  <a:pt x="0" y="49013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2" t="0" r="-12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028700" y="1028700"/>
            <a:ext cx="1015232" cy="1015232"/>
          </a:xfrm>
          <a:custGeom>
            <a:avLst/>
            <a:gdLst/>
            <a:ahLst/>
            <a:cxnLst/>
            <a:rect r="r" b="b" t="t" l="l"/>
            <a:pathLst>
              <a:path h="1015232" w="1015232">
                <a:moveTo>
                  <a:pt x="0" y="1015232"/>
                </a:moveTo>
                <a:lnTo>
                  <a:pt x="1015232" y="1015232"/>
                </a:lnTo>
                <a:lnTo>
                  <a:pt x="1015232" y="0"/>
                </a:lnTo>
                <a:lnTo>
                  <a:pt x="0" y="0"/>
                </a:lnTo>
                <a:lnTo>
                  <a:pt x="0" y="1015232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839649" y="1219200"/>
            <a:ext cx="14608693" cy="2473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78"/>
              </a:lnSpc>
            </a:pPr>
            <a:r>
              <a:rPr lang="en-US" sz="8799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Enterprise vs Public Portfolio</a:t>
            </a:r>
          </a:p>
        </p:txBody>
      </p:sp>
      <p:sp>
        <p:nvSpPr>
          <p:cNvPr name="Freeform 4" id="4"/>
          <p:cNvSpPr/>
          <p:nvPr/>
        </p:nvSpPr>
        <p:spPr>
          <a:xfrm flipH="true" flipV="true" rot="0">
            <a:off x="16244068" y="1028700"/>
            <a:ext cx="1015232" cy="1015232"/>
          </a:xfrm>
          <a:custGeom>
            <a:avLst/>
            <a:gdLst/>
            <a:ahLst/>
            <a:cxnLst/>
            <a:rect r="r" b="b" t="t" l="l"/>
            <a:pathLst>
              <a:path h="1015232" w="1015232">
                <a:moveTo>
                  <a:pt x="1015232" y="1015232"/>
                </a:moveTo>
                <a:lnTo>
                  <a:pt x="0" y="1015232"/>
                </a:lnTo>
                <a:lnTo>
                  <a:pt x="0" y="0"/>
                </a:lnTo>
                <a:lnTo>
                  <a:pt x="1015232" y="0"/>
                </a:lnTo>
                <a:lnTo>
                  <a:pt x="1015232" y="1015232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5" id="5"/>
          <p:cNvGraphicFramePr>
            <a:graphicFrameLocks noGrp="true"/>
          </p:cNvGraphicFramePr>
          <p:nvPr/>
        </p:nvGraphicFramePr>
        <p:xfrm>
          <a:off x="660963" y="3854523"/>
          <a:ext cx="16966065" cy="6003861"/>
        </p:xfrm>
        <a:graphic>
          <a:graphicData uri="http://schemas.openxmlformats.org/drawingml/2006/table">
            <a:tbl>
              <a:tblPr/>
              <a:tblGrid>
                <a:gridCol w="7186152"/>
                <a:gridCol w="2970673"/>
                <a:gridCol w="6809240"/>
              </a:tblGrid>
              <a:tr h="147621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5879"/>
                        </a:lnSpc>
                        <a:defRPr/>
                      </a:pPr>
                      <a:r>
                        <a:rPr lang="en-US" sz="4199" b="true">
                          <a:solidFill>
                            <a:srgbClr val="EFF1E8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Enterprise Production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5879"/>
                        </a:lnSpc>
                        <a:defRPr/>
                      </a:pPr>
                      <a:r>
                        <a:rPr lang="en-US" sz="4199" b="true">
                          <a:solidFill>
                            <a:srgbClr val="EFF1E8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GitHub Replication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3787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399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Prime Brokerage portal CSV feeds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399" b="true">
                          <a:solidFill>
                            <a:srgbClr val="EFF1E9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Data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399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Custom Python script generating synthetic FX data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992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399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Microsoft SharePoint Online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399" b="true">
                          <a:solidFill>
                            <a:srgbClr val="EFF1E9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Storage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399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PostgreSQL on Neon Database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992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399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Power BI Dataflows to BI reports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399" b="true">
                          <a:solidFill>
                            <a:srgbClr val="EFF1E9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Connection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399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Direct Power BI connection to Neon DB.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2992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399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Power BI Report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399" b="true">
                          <a:solidFill>
                            <a:srgbClr val="EFF1E9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Reporting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399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BI Tools – Power BI or Google Data Studio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055240" y="7098925"/>
            <a:ext cx="752446" cy="748341"/>
          </a:xfrm>
          <a:custGeom>
            <a:avLst/>
            <a:gdLst/>
            <a:ahLst/>
            <a:cxnLst/>
            <a:rect r="r" b="b" t="t" l="l"/>
            <a:pathLst>
              <a:path h="748341" w="752446">
                <a:moveTo>
                  <a:pt x="0" y="0"/>
                </a:moveTo>
                <a:lnTo>
                  <a:pt x="752447" y="0"/>
                </a:lnTo>
                <a:lnTo>
                  <a:pt x="752447" y="748341"/>
                </a:lnTo>
                <a:lnTo>
                  <a:pt x="0" y="7483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273" r="0" b="-274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16113700" y="1028700"/>
            <a:ext cx="1145600" cy="1145600"/>
          </a:xfrm>
          <a:custGeom>
            <a:avLst/>
            <a:gdLst/>
            <a:ahLst/>
            <a:cxnLst/>
            <a:rect r="r" b="b" t="t" l="l"/>
            <a:pathLst>
              <a:path h="1145600" w="1145600">
                <a:moveTo>
                  <a:pt x="1145600" y="1145600"/>
                </a:moveTo>
                <a:lnTo>
                  <a:pt x="0" y="1145600"/>
                </a:lnTo>
                <a:lnTo>
                  <a:pt x="0" y="0"/>
                </a:lnTo>
                <a:lnTo>
                  <a:pt x="1145600" y="0"/>
                </a:lnTo>
                <a:lnTo>
                  <a:pt x="1145600" y="114560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6113700" y="8112700"/>
            <a:ext cx="1145600" cy="1145600"/>
          </a:xfrm>
          <a:custGeom>
            <a:avLst/>
            <a:gdLst/>
            <a:ahLst/>
            <a:cxnLst/>
            <a:rect r="r" b="b" t="t" l="l"/>
            <a:pathLst>
              <a:path h="1145600" w="1145600">
                <a:moveTo>
                  <a:pt x="1145600" y="0"/>
                </a:moveTo>
                <a:lnTo>
                  <a:pt x="0" y="0"/>
                </a:lnTo>
                <a:lnTo>
                  <a:pt x="0" y="1145600"/>
                </a:lnTo>
                <a:lnTo>
                  <a:pt x="1145600" y="1145600"/>
                </a:lnTo>
                <a:lnTo>
                  <a:pt x="114560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8962539" y="4873095"/>
            <a:ext cx="665007" cy="836486"/>
          </a:xfrm>
          <a:custGeom>
            <a:avLst/>
            <a:gdLst/>
            <a:ahLst/>
            <a:cxnLst/>
            <a:rect r="r" b="b" t="t" l="l"/>
            <a:pathLst>
              <a:path h="836486" w="665007">
                <a:moveTo>
                  <a:pt x="0" y="0"/>
                </a:moveTo>
                <a:lnTo>
                  <a:pt x="665007" y="0"/>
                </a:lnTo>
                <a:lnTo>
                  <a:pt x="665007" y="836485"/>
                </a:lnTo>
                <a:lnTo>
                  <a:pt x="0" y="83648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539" r="0" b="-538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894988" y="4873095"/>
            <a:ext cx="782622" cy="782622"/>
          </a:xfrm>
          <a:custGeom>
            <a:avLst/>
            <a:gdLst/>
            <a:ahLst/>
            <a:cxnLst/>
            <a:rect r="r" b="b" t="t" l="l"/>
            <a:pathLst>
              <a:path h="782622" w="782622">
                <a:moveTo>
                  <a:pt x="0" y="0"/>
                </a:moveTo>
                <a:lnTo>
                  <a:pt x="782622" y="0"/>
                </a:lnTo>
                <a:lnTo>
                  <a:pt x="782622" y="782621"/>
                </a:lnTo>
                <a:lnTo>
                  <a:pt x="0" y="78262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219200"/>
            <a:ext cx="10086080" cy="2378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8"/>
              </a:lnSpc>
            </a:pPr>
            <a:r>
              <a:rPr lang="en-US" sz="8799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Data Architecture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3926043"/>
            <a:ext cx="12372746" cy="415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Python &amp; Neon PostgreSQL Pipeline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025596" y="4758795"/>
            <a:ext cx="3676155" cy="415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Data Generation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025596" y="5205460"/>
            <a:ext cx="5189477" cy="711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Developed a </a:t>
            </a: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Python</a:t>
            </a: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script to synthesize mock data mimicking original reports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029358" y="4758795"/>
            <a:ext cx="2989964" cy="415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Database Integration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029358" y="5205460"/>
            <a:ext cx="6875202" cy="10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Structured a relational schema and automated data loads directly into a </a:t>
            </a: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Neon PostgreSQL</a:t>
            </a: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serverless cloud database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051241" y="6912121"/>
            <a:ext cx="2989964" cy="415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BI Reports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051241" y="7358796"/>
            <a:ext cx="6946021" cy="10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Connected </a:t>
            </a:r>
            <a:r>
              <a:rPr lang="en-US" sz="1998" b="true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BI</a:t>
            </a:r>
            <a:r>
              <a:rPr lang="en-US" sz="1998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directly to Neon PostgreSQL database to model data, write DAX measures, and publish the dashboard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6757" y="3624653"/>
            <a:ext cx="5176542" cy="3078766"/>
          </a:xfrm>
          <a:custGeom>
            <a:avLst/>
            <a:gdLst/>
            <a:ahLst/>
            <a:cxnLst/>
            <a:rect r="r" b="b" t="t" l="l"/>
            <a:pathLst>
              <a:path h="3078766" w="5176542">
                <a:moveTo>
                  <a:pt x="0" y="0"/>
                </a:moveTo>
                <a:lnTo>
                  <a:pt x="5176542" y="0"/>
                </a:lnTo>
                <a:lnTo>
                  <a:pt x="5176542" y="3078766"/>
                </a:lnTo>
                <a:lnTo>
                  <a:pt x="0" y="30787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553791" y="3624653"/>
            <a:ext cx="5176542" cy="3078766"/>
          </a:xfrm>
          <a:custGeom>
            <a:avLst/>
            <a:gdLst/>
            <a:ahLst/>
            <a:cxnLst/>
            <a:rect r="r" b="b" t="t" l="l"/>
            <a:pathLst>
              <a:path h="3078766" w="5176542">
                <a:moveTo>
                  <a:pt x="0" y="0"/>
                </a:moveTo>
                <a:lnTo>
                  <a:pt x="5176542" y="0"/>
                </a:lnTo>
                <a:lnTo>
                  <a:pt x="5176542" y="3078766"/>
                </a:lnTo>
                <a:lnTo>
                  <a:pt x="0" y="30787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082758" y="3624653"/>
            <a:ext cx="5176542" cy="3078766"/>
          </a:xfrm>
          <a:custGeom>
            <a:avLst/>
            <a:gdLst/>
            <a:ahLst/>
            <a:cxnLst/>
            <a:rect r="r" b="b" t="t" l="l"/>
            <a:pathLst>
              <a:path h="3078766" w="5176542">
                <a:moveTo>
                  <a:pt x="0" y="0"/>
                </a:moveTo>
                <a:lnTo>
                  <a:pt x="5176542" y="0"/>
                </a:lnTo>
                <a:lnTo>
                  <a:pt x="5176542" y="3078766"/>
                </a:lnTo>
                <a:lnTo>
                  <a:pt x="0" y="30787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50712" y="8103556"/>
            <a:ext cx="1145600" cy="1145600"/>
          </a:xfrm>
          <a:custGeom>
            <a:avLst/>
            <a:gdLst/>
            <a:ahLst/>
            <a:cxnLst/>
            <a:rect r="r" b="b" t="t" l="l"/>
            <a:pathLst>
              <a:path h="1145600" w="1145600">
                <a:moveTo>
                  <a:pt x="0" y="0"/>
                </a:moveTo>
                <a:lnTo>
                  <a:pt x="1145601" y="0"/>
                </a:lnTo>
                <a:lnTo>
                  <a:pt x="1145601" y="1145600"/>
                </a:lnTo>
                <a:lnTo>
                  <a:pt x="0" y="11456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126712" y="1219200"/>
            <a:ext cx="16034576" cy="114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78"/>
              </a:lnSpc>
            </a:pPr>
            <a:r>
              <a:rPr lang="en-US" sz="8799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AI-Assisted Development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52455" y="4526775"/>
            <a:ext cx="4460005" cy="358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Rapid Scripting &amp; Synthetic Logic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52455" y="4931064"/>
            <a:ext cx="4221166" cy="10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Us</a:t>
            </a:r>
            <a:r>
              <a:rPr lang="en-US" sz="1998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ed Generative AI to accelerate the development of complex </a:t>
            </a:r>
            <a:r>
              <a:rPr lang="en-US" sz="1998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Python data-generation scripts</a:t>
            </a:r>
            <a:r>
              <a:rPr lang="en-US" sz="1998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52455" y="3741306"/>
            <a:ext cx="875214" cy="7886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4199" b="true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879488" y="4526775"/>
            <a:ext cx="4460005" cy="358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Database Schema Optimization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879488" y="4931064"/>
            <a:ext cx="4626314" cy="141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Leveraged AI prompts to help design </a:t>
            </a:r>
            <a:r>
              <a:rPr lang="en-US" sz="1998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PostgreSQL tables</a:t>
            </a:r>
            <a:r>
              <a:rPr lang="en-US" sz="1998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—schema layout, primary keys, and data types for Neon PostgreSQL database.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879488" y="3741306"/>
            <a:ext cx="875214" cy="7886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4199" b="true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408456" y="4526775"/>
            <a:ext cx="4460005" cy="358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Documentation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408456" y="4931064"/>
            <a:ext cx="4221166" cy="141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Generated docstrings and a comprehensive </a:t>
            </a:r>
            <a:r>
              <a:rPr lang="en-US" sz="1998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GitHub README</a:t>
            </a:r>
            <a:r>
              <a:rPr lang="en-US" sz="1998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 explaining setup instructions for reviewers.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408456" y="3741306"/>
            <a:ext cx="875214" cy="7886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4199" b="true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sp>
        <p:nvSpPr>
          <p:cNvPr name="Freeform 16" id="16"/>
          <p:cNvSpPr/>
          <p:nvPr/>
        </p:nvSpPr>
        <p:spPr>
          <a:xfrm flipH="true" flipV="false" rot="0">
            <a:off x="16115633" y="8112700"/>
            <a:ext cx="1145600" cy="1145600"/>
          </a:xfrm>
          <a:custGeom>
            <a:avLst/>
            <a:gdLst/>
            <a:ahLst/>
            <a:cxnLst/>
            <a:rect r="r" b="b" t="t" l="l"/>
            <a:pathLst>
              <a:path h="1145600" w="1145600">
                <a:moveTo>
                  <a:pt x="1145601" y="0"/>
                </a:moveTo>
                <a:lnTo>
                  <a:pt x="0" y="0"/>
                </a:lnTo>
                <a:lnTo>
                  <a:pt x="0" y="1145600"/>
                </a:lnTo>
                <a:lnTo>
                  <a:pt x="1145601" y="1145600"/>
                </a:lnTo>
                <a:lnTo>
                  <a:pt x="1145601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6553791" y="6827634"/>
            <a:ext cx="5176542" cy="3078766"/>
          </a:xfrm>
          <a:custGeom>
            <a:avLst/>
            <a:gdLst/>
            <a:ahLst/>
            <a:cxnLst/>
            <a:rect r="r" b="b" t="t" l="l"/>
            <a:pathLst>
              <a:path h="3078766" w="5176542">
                <a:moveTo>
                  <a:pt x="0" y="0"/>
                </a:moveTo>
                <a:lnTo>
                  <a:pt x="5176542" y="0"/>
                </a:lnTo>
                <a:lnTo>
                  <a:pt x="5176542" y="3078766"/>
                </a:lnTo>
                <a:lnTo>
                  <a:pt x="0" y="30787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6879488" y="7729757"/>
            <a:ext cx="4460005" cy="358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 b="true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Implementation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879488" y="8134055"/>
            <a:ext cx="4221166" cy="106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98"/>
              </a:lnSpc>
            </a:pPr>
            <a:r>
              <a:rPr lang="en-US" sz="1998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AI-accelerated implementation while </a:t>
            </a:r>
            <a:r>
              <a:rPr lang="en-US" sz="1998" b="true">
                <a:solidFill>
                  <a:srgbClr val="70A1BD"/>
                </a:solidFill>
                <a:latin typeface="Poppins Bold"/>
                <a:ea typeface="Poppins Bold"/>
                <a:cs typeface="Poppins Bold"/>
                <a:sym typeface="Poppins Bold"/>
              </a:rPr>
              <a:t>designing, testing, and validating</a:t>
            </a:r>
            <a:r>
              <a:rPr lang="en-US" sz="1998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 the logic.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879488" y="6944287"/>
            <a:ext cx="875214" cy="7886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4199" b="true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-493290" y="4865056"/>
            <a:ext cx="3804514" cy="5594880"/>
          </a:xfrm>
          <a:custGeom>
            <a:avLst/>
            <a:gdLst/>
            <a:ahLst/>
            <a:cxnLst/>
            <a:rect r="r" b="b" t="t" l="l"/>
            <a:pathLst>
              <a:path h="5594880" w="3804514">
                <a:moveTo>
                  <a:pt x="3804513" y="0"/>
                </a:moveTo>
                <a:lnTo>
                  <a:pt x="0" y="0"/>
                </a:lnTo>
                <a:lnTo>
                  <a:pt x="0" y="5594880"/>
                </a:lnTo>
                <a:lnTo>
                  <a:pt x="3804513" y="5594880"/>
                </a:lnTo>
                <a:lnTo>
                  <a:pt x="3804513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65" r="0" b="-64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219200"/>
            <a:ext cx="13917940" cy="1149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78"/>
              </a:lnSpc>
            </a:pPr>
            <a:r>
              <a:rPr lang="en-US" sz="8799" b="true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Reporting Examples 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894115"/>
            <a:ext cx="8260461" cy="4349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</a:pPr>
            <a:r>
              <a:rPr lang="en-US" sz="20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Interactive Power BI Reports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0386460" y="4761243"/>
            <a:ext cx="7621410" cy="4901355"/>
          </a:xfrm>
          <a:custGeom>
            <a:avLst/>
            <a:gdLst/>
            <a:ahLst/>
            <a:cxnLst/>
            <a:rect r="r" b="b" t="t" l="l"/>
            <a:pathLst>
              <a:path h="4901355" w="7621410">
                <a:moveTo>
                  <a:pt x="0" y="0"/>
                </a:moveTo>
                <a:lnTo>
                  <a:pt x="7621410" y="0"/>
                </a:lnTo>
                <a:lnTo>
                  <a:pt x="7621410" y="4901355"/>
                </a:lnTo>
                <a:lnTo>
                  <a:pt x="0" y="49013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2" t="0" r="-12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209800" y="1935261"/>
            <a:ext cx="14034268" cy="8275539"/>
          </a:xfrm>
          <a:custGeom>
            <a:avLst/>
            <a:gdLst/>
            <a:ahLst/>
            <a:cxnLst/>
            <a:rect r="r" b="b" t="t" l="l"/>
            <a:pathLst>
              <a:path h="8275539" w="14034268">
                <a:moveTo>
                  <a:pt x="0" y="0"/>
                </a:moveTo>
                <a:lnTo>
                  <a:pt x="14034268" y="0"/>
                </a:lnTo>
                <a:lnTo>
                  <a:pt x="14034268" y="8275539"/>
                </a:lnTo>
                <a:lnTo>
                  <a:pt x="0" y="82755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126712" y="1219200"/>
            <a:ext cx="16034576" cy="11486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78"/>
              </a:lnSpc>
            </a:pPr>
            <a:r>
              <a:rPr lang="en-US" sz="8799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Collateral Dashboard</a:t>
            </a:r>
          </a:p>
        </p:txBody>
      </p:sp>
      <p:sp>
        <p:nvSpPr>
          <p:cNvPr name="Freeform 4" id="4"/>
          <p:cNvSpPr/>
          <p:nvPr/>
        </p:nvSpPr>
        <p:spPr>
          <a:xfrm flipH="false" flipV="true" rot="0">
            <a:off x="1028700" y="1028700"/>
            <a:ext cx="1015232" cy="1015232"/>
          </a:xfrm>
          <a:custGeom>
            <a:avLst/>
            <a:gdLst/>
            <a:ahLst/>
            <a:cxnLst/>
            <a:rect r="r" b="b" t="t" l="l"/>
            <a:pathLst>
              <a:path h="1015232" w="1015232">
                <a:moveTo>
                  <a:pt x="0" y="1015232"/>
                </a:moveTo>
                <a:lnTo>
                  <a:pt x="1015232" y="1015232"/>
                </a:lnTo>
                <a:lnTo>
                  <a:pt x="1015232" y="0"/>
                </a:lnTo>
                <a:lnTo>
                  <a:pt x="0" y="0"/>
                </a:lnTo>
                <a:lnTo>
                  <a:pt x="0" y="101523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6244068" y="1028700"/>
            <a:ext cx="1015232" cy="1015232"/>
          </a:xfrm>
          <a:custGeom>
            <a:avLst/>
            <a:gdLst/>
            <a:ahLst/>
            <a:cxnLst/>
            <a:rect r="r" b="b" t="t" l="l"/>
            <a:pathLst>
              <a:path h="1015232" w="1015232">
                <a:moveTo>
                  <a:pt x="1015232" y="1015232"/>
                </a:moveTo>
                <a:lnTo>
                  <a:pt x="0" y="1015232"/>
                </a:lnTo>
                <a:lnTo>
                  <a:pt x="0" y="0"/>
                </a:lnTo>
                <a:lnTo>
                  <a:pt x="1015232" y="0"/>
                </a:lnTo>
                <a:lnTo>
                  <a:pt x="1015232" y="101523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2362200" y="2439352"/>
            <a:ext cx="13716000" cy="7717784"/>
            <a:chOff x="0" y="0"/>
            <a:chExt cx="18288000" cy="1029037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8288000" cy="10290429"/>
            </a:xfrm>
            <a:custGeom>
              <a:avLst/>
              <a:gdLst/>
              <a:ahLst/>
              <a:cxnLst/>
              <a:rect r="r" b="b" t="t" l="l"/>
              <a:pathLst>
                <a:path h="10290429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10290429"/>
                  </a:lnTo>
                  <a:lnTo>
                    <a:pt x="0" y="102904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209800" y="1935261"/>
            <a:ext cx="14034268" cy="8275539"/>
          </a:xfrm>
          <a:custGeom>
            <a:avLst/>
            <a:gdLst/>
            <a:ahLst/>
            <a:cxnLst/>
            <a:rect r="r" b="b" t="t" l="l"/>
            <a:pathLst>
              <a:path h="8275539" w="14034268">
                <a:moveTo>
                  <a:pt x="0" y="0"/>
                </a:moveTo>
                <a:lnTo>
                  <a:pt x="14034268" y="0"/>
                </a:lnTo>
                <a:lnTo>
                  <a:pt x="14034268" y="8275539"/>
                </a:lnTo>
                <a:lnTo>
                  <a:pt x="0" y="82755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126712" y="1219200"/>
            <a:ext cx="16034576" cy="11486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78"/>
              </a:lnSpc>
            </a:pPr>
            <a:r>
              <a:rPr lang="en-US" sz="8799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Limits</a:t>
            </a:r>
          </a:p>
        </p:txBody>
      </p:sp>
      <p:sp>
        <p:nvSpPr>
          <p:cNvPr name="Freeform 4" id="4"/>
          <p:cNvSpPr/>
          <p:nvPr/>
        </p:nvSpPr>
        <p:spPr>
          <a:xfrm flipH="false" flipV="true" rot="0">
            <a:off x="1028700" y="1028700"/>
            <a:ext cx="1015232" cy="1015232"/>
          </a:xfrm>
          <a:custGeom>
            <a:avLst/>
            <a:gdLst/>
            <a:ahLst/>
            <a:cxnLst/>
            <a:rect r="r" b="b" t="t" l="l"/>
            <a:pathLst>
              <a:path h="1015232" w="1015232">
                <a:moveTo>
                  <a:pt x="0" y="1015232"/>
                </a:moveTo>
                <a:lnTo>
                  <a:pt x="1015232" y="1015232"/>
                </a:lnTo>
                <a:lnTo>
                  <a:pt x="1015232" y="0"/>
                </a:lnTo>
                <a:lnTo>
                  <a:pt x="0" y="0"/>
                </a:lnTo>
                <a:lnTo>
                  <a:pt x="0" y="101523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6244068" y="1028700"/>
            <a:ext cx="1015232" cy="1015232"/>
          </a:xfrm>
          <a:custGeom>
            <a:avLst/>
            <a:gdLst/>
            <a:ahLst/>
            <a:cxnLst/>
            <a:rect r="r" b="b" t="t" l="l"/>
            <a:pathLst>
              <a:path h="1015232" w="1015232">
                <a:moveTo>
                  <a:pt x="1015232" y="1015232"/>
                </a:moveTo>
                <a:lnTo>
                  <a:pt x="0" y="1015232"/>
                </a:lnTo>
                <a:lnTo>
                  <a:pt x="0" y="0"/>
                </a:lnTo>
                <a:lnTo>
                  <a:pt x="1015232" y="0"/>
                </a:lnTo>
                <a:lnTo>
                  <a:pt x="1015232" y="101523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2400300" y="2463127"/>
            <a:ext cx="13601700" cy="7655119"/>
            <a:chOff x="0" y="0"/>
            <a:chExt cx="18135600" cy="1020682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8135600" cy="10206863"/>
            </a:xfrm>
            <a:custGeom>
              <a:avLst/>
              <a:gdLst/>
              <a:ahLst/>
              <a:cxnLst/>
              <a:rect r="r" b="b" t="t" l="l"/>
              <a:pathLst>
                <a:path h="10206863" w="18135600">
                  <a:moveTo>
                    <a:pt x="0" y="0"/>
                  </a:moveTo>
                  <a:lnTo>
                    <a:pt x="18135600" y="0"/>
                  </a:lnTo>
                  <a:lnTo>
                    <a:pt x="18135600" y="10206863"/>
                  </a:lnTo>
                  <a:lnTo>
                    <a:pt x="0" y="102068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0A1B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209800" y="1935261"/>
            <a:ext cx="14034268" cy="8275539"/>
          </a:xfrm>
          <a:custGeom>
            <a:avLst/>
            <a:gdLst/>
            <a:ahLst/>
            <a:cxnLst/>
            <a:rect r="r" b="b" t="t" l="l"/>
            <a:pathLst>
              <a:path h="8275539" w="14034268">
                <a:moveTo>
                  <a:pt x="0" y="0"/>
                </a:moveTo>
                <a:lnTo>
                  <a:pt x="14034268" y="0"/>
                </a:lnTo>
                <a:lnTo>
                  <a:pt x="14034268" y="8275539"/>
                </a:lnTo>
                <a:lnTo>
                  <a:pt x="0" y="82755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126712" y="1219200"/>
            <a:ext cx="16034576" cy="11486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78"/>
              </a:lnSpc>
            </a:pPr>
            <a:r>
              <a:rPr lang="en-US" sz="8799" b="true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Portfolio</a:t>
            </a:r>
          </a:p>
        </p:txBody>
      </p:sp>
      <p:sp>
        <p:nvSpPr>
          <p:cNvPr name="Freeform 4" id="4"/>
          <p:cNvSpPr/>
          <p:nvPr/>
        </p:nvSpPr>
        <p:spPr>
          <a:xfrm flipH="false" flipV="true" rot="0">
            <a:off x="1028700" y="1028700"/>
            <a:ext cx="1015232" cy="1015232"/>
          </a:xfrm>
          <a:custGeom>
            <a:avLst/>
            <a:gdLst/>
            <a:ahLst/>
            <a:cxnLst/>
            <a:rect r="r" b="b" t="t" l="l"/>
            <a:pathLst>
              <a:path h="1015232" w="1015232">
                <a:moveTo>
                  <a:pt x="0" y="1015232"/>
                </a:moveTo>
                <a:lnTo>
                  <a:pt x="1015232" y="1015232"/>
                </a:lnTo>
                <a:lnTo>
                  <a:pt x="1015232" y="0"/>
                </a:lnTo>
                <a:lnTo>
                  <a:pt x="0" y="0"/>
                </a:lnTo>
                <a:lnTo>
                  <a:pt x="0" y="101523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0">
            <a:off x="16244068" y="1028700"/>
            <a:ext cx="1015232" cy="1015232"/>
          </a:xfrm>
          <a:custGeom>
            <a:avLst/>
            <a:gdLst/>
            <a:ahLst/>
            <a:cxnLst/>
            <a:rect r="r" b="b" t="t" l="l"/>
            <a:pathLst>
              <a:path h="1015232" w="1015232">
                <a:moveTo>
                  <a:pt x="1015232" y="1015232"/>
                </a:moveTo>
                <a:lnTo>
                  <a:pt x="0" y="1015232"/>
                </a:lnTo>
                <a:lnTo>
                  <a:pt x="0" y="0"/>
                </a:lnTo>
                <a:lnTo>
                  <a:pt x="1015232" y="0"/>
                </a:lnTo>
                <a:lnTo>
                  <a:pt x="1015232" y="101523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2438400" y="2483529"/>
            <a:ext cx="13635790" cy="7673607"/>
            <a:chOff x="0" y="0"/>
            <a:chExt cx="18181053" cy="102314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8181065" cy="10231501"/>
            </a:xfrm>
            <a:custGeom>
              <a:avLst/>
              <a:gdLst/>
              <a:ahLst/>
              <a:cxnLst/>
              <a:rect r="r" b="b" t="t" l="l"/>
              <a:pathLst>
                <a:path h="10231501" w="18181065">
                  <a:moveTo>
                    <a:pt x="0" y="0"/>
                  </a:moveTo>
                  <a:lnTo>
                    <a:pt x="18181065" y="0"/>
                  </a:lnTo>
                  <a:lnTo>
                    <a:pt x="18181065" y="10231501"/>
                  </a:lnTo>
                  <a:lnTo>
                    <a:pt x="0" y="102315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DAHSqZslE3o</dc:identifier>
  <dcterms:modified xsi:type="dcterms:W3CDTF">2011-08-01T06:04:30Z</dcterms:modified>
  <cp:revision>1</cp:revision>
  <dc:title>fx-primer-broker-collateral.pptx</dc:title>
</cp:coreProperties>
</file>