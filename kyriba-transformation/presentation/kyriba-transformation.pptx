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Montserrat Bold" panose="020B0604020202020204" charset="0"/>
      <p:regular r:id="rId16"/>
    </p:embeddedFont>
    <p:embeddedFont>
      <p:font typeface="Poppins" panose="00000500000000000000" pitchFamily="2" charset="0"/>
      <p:regular r:id="rId17"/>
    </p:embeddedFont>
    <p:embeddedFont>
      <p:font typeface="Poppi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4" d="100"/>
          <a:sy n="104" d="100"/>
        </p:scale>
        <p:origin x="46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9.svg"/><Relationship Id="rId7" Type="http://schemas.openxmlformats.org/officeDocument/2006/relationships/image" Target="../media/image1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762772" cy="709824"/>
          </a:xfrm>
          <a:custGeom>
            <a:avLst/>
            <a:gdLst/>
            <a:ahLst/>
            <a:cxnLst/>
            <a:rect l="l" t="t" r="r" b="b"/>
            <a:pathLst>
              <a:path w="762772" h="709824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948693" y="1383612"/>
            <a:ext cx="6310607" cy="7200900"/>
          </a:xfrm>
          <a:custGeom>
            <a:avLst/>
            <a:gdLst/>
            <a:ahLst/>
            <a:cxnLst/>
            <a:rect l="l" t="t" r="r" b="b"/>
            <a:pathLst>
              <a:path w="6310607" h="7200900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2973957"/>
            <a:ext cx="12382500" cy="3231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Kyriba TMS Transformation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7519831" y="-691855"/>
            <a:ext cx="1676063" cy="11497700"/>
            <a:chOff x="0" y="0"/>
            <a:chExt cx="441432" cy="302820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41432" cy="3028201"/>
            </a:xfrm>
            <a:custGeom>
              <a:avLst/>
              <a:gdLst/>
              <a:ahLst/>
              <a:cxnLst/>
              <a:rect l="l" t="t" r="r" b="b"/>
              <a:pathLst>
                <a:path w="441432" h="3028201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6698243"/>
            <a:ext cx="8953500" cy="341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pc="225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End-to-End Implementation &amp; Process Optimization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520738"/>
            <a:ext cx="7471831" cy="1418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Executive overview highlighting full Kyriba implementation, technical analysis of consultant configurations, Open API integration with centralized data platform and accounting ERP integration.</a:t>
            </a:r>
          </a:p>
        </p:txBody>
      </p:sp>
      <p:sp>
        <p:nvSpPr>
          <p:cNvPr id="10" name="AutoShape 10"/>
          <p:cNvSpPr/>
          <p:nvPr/>
        </p:nvSpPr>
        <p:spPr>
          <a:xfrm flipH="1" flipV="1">
            <a:off x="10477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191738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flipH="1" flipV="1">
            <a:off x="1335726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H="1" flipV="1">
            <a:off x="16952274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7096262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172402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80258" y="-195490"/>
            <a:ext cx="7179042" cy="10655429"/>
            <a:chOff x="0" y="0"/>
            <a:chExt cx="1112221" cy="16508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2221" cy="1650805"/>
            </a:xfrm>
            <a:custGeom>
              <a:avLst/>
              <a:gdLst/>
              <a:ahLst/>
              <a:cxnLst/>
              <a:rect l="l" t="t" r="r" b="b"/>
              <a:pathLst>
                <a:path w="1112221" h="1650805">
                  <a:moveTo>
                    <a:pt x="0" y="0"/>
                  </a:moveTo>
                  <a:lnTo>
                    <a:pt x="1112221" y="0"/>
                  </a:lnTo>
                  <a:lnTo>
                    <a:pt x="1112221" y="1650805"/>
                  </a:lnTo>
                  <a:lnTo>
                    <a:pt x="0" y="1650805"/>
                  </a:lnTo>
                  <a:close/>
                </a:path>
              </a:pathLst>
            </a:custGeom>
            <a:blipFill>
              <a:blip r:embed="rId2"/>
              <a:stretch>
                <a:fillRect l="-37367" r="-8506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1123950"/>
            <a:ext cx="13917939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 dirty="0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Strategic Overview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960788"/>
            <a:ext cx="8260459" cy="1777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 dirty="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This initiative delivered a full end‑to‑end implementation of the Kyriba Treasury Management System, covering everything from initial TMS selection through blueprinting, core data configuration, access setup, integrations, and value‑added process improvements.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52086" y="6476365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5"/>
                </a:lnTo>
                <a:lnTo>
                  <a:pt x="0" y="7483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77602" y="4660337"/>
            <a:ext cx="713347" cy="517176"/>
          </a:xfrm>
          <a:custGeom>
            <a:avLst/>
            <a:gdLst/>
            <a:ahLst/>
            <a:cxnLst/>
            <a:rect l="l" t="t" r="r" b="b"/>
            <a:pathLst>
              <a:path w="713347" h="517176">
                <a:moveTo>
                  <a:pt x="0" y="0"/>
                </a:moveTo>
                <a:lnTo>
                  <a:pt x="713347" y="0"/>
                </a:lnTo>
                <a:lnTo>
                  <a:pt x="713347" y="517176"/>
                </a:lnTo>
                <a:lnTo>
                  <a:pt x="0" y="517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Freeform 6"/>
          <p:cNvSpPr/>
          <p:nvPr/>
        </p:nvSpPr>
        <p:spPr>
          <a:xfrm>
            <a:off x="4169118" y="6403867"/>
            <a:ext cx="870289" cy="874663"/>
          </a:xfrm>
          <a:custGeom>
            <a:avLst/>
            <a:gdLst/>
            <a:ahLst/>
            <a:cxnLst/>
            <a:rect l="l" t="t" r="r" b="b"/>
            <a:pathLst>
              <a:path w="870289" h="874663">
                <a:moveTo>
                  <a:pt x="0" y="0"/>
                </a:moveTo>
                <a:lnTo>
                  <a:pt x="870289" y="0"/>
                </a:lnTo>
                <a:lnTo>
                  <a:pt x="870289" y="874663"/>
                </a:lnTo>
                <a:lnTo>
                  <a:pt x="0" y="87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63625" y="3834545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8" y="0"/>
                </a:lnTo>
                <a:lnTo>
                  <a:pt x="665008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123950"/>
            <a:ext cx="1080345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Roadmap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6764" y="4560150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Email Delivery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6764" y="5006821"/>
            <a:ext cx="3806018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PB portal configured to auto-distribute daily CSV files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338578" y="6270973"/>
            <a:ext cx="368113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Automate Workflow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8578" y="6717644"/>
            <a:ext cx="380542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Cloud workflow automatically saves CSV files to a secured SharePoint folder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30445" y="377739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Dataflows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30445" y="4224066"/>
            <a:ext cx="3811831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Connects to SharePoint, cleans, aggregates, and structures the raw CSV data for downstream reporting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48093" y="6346717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48093" y="6793388"/>
            <a:ext cx="381347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Automatically refreshed interactive reports distributed to the primary stakeholders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89259" y="5970936"/>
            <a:ext cx="16573500" cy="57150"/>
            <a:chOff x="0" y="0"/>
            <a:chExt cx="22098000" cy="76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98000" cy="76200"/>
            </a:xfrm>
            <a:custGeom>
              <a:avLst/>
              <a:gdLst/>
              <a:ahLst/>
              <a:cxnLst/>
              <a:rect l="l" t="t" r="r" b="b"/>
              <a:pathLst>
                <a:path w="22098000" h="76200">
                  <a:moveTo>
                    <a:pt x="0" y="0"/>
                  </a:moveTo>
                  <a:lnTo>
                    <a:pt x="22098000" y="0"/>
                  </a:lnTo>
                  <a:lnTo>
                    <a:pt x="2209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9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2409455" y="5813773"/>
            <a:ext cx="371475" cy="371475"/>
            <a:chOff x="0" y="0"/>
            <a:chExt cx="495300" cy="4953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663329" y="5813773"/>
            <a:ext cx="371475" cy="371475"/>
            <a:chOff x="0" y="0"/>
            <a:chExt cx="495300" cy="4953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0917213" y="5813773"/>
            <a:ext cx="371475" cy="371475"/>
            <a:chOff x="0" y="0"/>
            <a:chExt cx="495300" cy="4953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5171088" y="5813773"/>
            <a:ext cx="371475" cy="371475"/>
            <a:chOff x="0" y="0"/>
            <a:chExt cx="495300" cy="4953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85485" y="6962319"/>
            <a:ext cx="6340986" cy="2934108"/>
            <a:chOff x="0" y="0"/>
            <a:chExt cx="1670054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26711" y="1123950"/>
            <a:ext cx="160345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Process Challenge</a:t>
            </a:r>
          </a:p>
          <a:p>
            <a:pPr algn="ctr">
              <a:lnSpc>
                <a:spcPts val="9679"/>
              </a:lnSpc>
            </a:pPr>
            <a:endParaRPr lang="en-US" sz="8799" b="1" dirty="0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881427" y="388977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81427" y="4322644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81427" y="315193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0" name="Freeform 10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209974" y="7646895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Teams Pasting &amp; Delays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09974" y="8079760"/>
            <a:ext cx="59266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Clean incomplete records, remove duplicates, and ensure accuracy to maintain data integrity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09974" y="6909049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200" y="3103743"/>
            <a:ext cx="6340986" cy="2934108"/>
            <a:chOff x="0" y="0"/>
            <a:chExt cx="1670054" cy="77276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6868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Portal Authentication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8689" y="4221184"/>
            <a:ext cx="5926631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Operations team had to manually log into the Prime Brokerage (PB) portal every morning, navigate through reporting sub-menus, and await slow report loads.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68689" y="305047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669981" y="3103743"/>
            <a:ext cx="6340986" cy="2934108"/>
            <a:chOff x="0" y="0"/>
            <a:chExt cx="1670054" cy="77276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89446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94469" y="4221184"/>
            <a:ext cx="5926631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94469" y="3050474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48BD1A-8537-B635-89FA-6E386BEB4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5E51A07-4A42-82A1-2F93-11EE61BEAEF5}"/>
              </a:ext>
            </a:extLst>
          </p:cNvPr>
          <p:cNvGrpSpPr/>
          <p:nvPr/>
        </p:nvGrpSpPr>
        <p:grpSpPr>
          <a:xfrm>
            <a:off x="1034717" y="4261238"/>
            <a:ext cx="4636571" cy="3660583"/>
            <a:chOff x="0" y="0"/>
            <a:chExt cx="1307450" cy="103223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8963DF3-2164-8DEB-18BF-F3C37E95DDB2}"/>
                </a:ext>
              </a:extLst>
            </p:cNvPr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11905E5-5A32-609C-7358-594B8E9FB1D2}"/>
                </a:ext>
              </a:extLst>
            </p:cNvPr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D2A57D4-8744-3F7F-571F-047713B8224C}"/>
              </a:ext>
            </a:extLst>
          </p:cNvPr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4051FF8-F618-993F-3B13-5291A1DE6710}"/>
                </a:ext>
              </a:extLst>
            </p:cNvPr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BD29B19-1026-E9E2-9AF4-0FF8DF958F4D}"/>
                </a:ext>
              </a:extLst>
            </p:cNvPr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18A8D713-1AF3-1907-677B-453201CC41DF}"/>
              </a:ext>
            </a:extLst>
          </p:cNvPr>
          <p:cNvSpPr txBox="1"/>
          <p:nvPr/>
        </p:nvSpPr>
        <p:spPr>
          <a:xfrm>
            <a:off x="2000003" y="1123950"/>
            <a:ext cx="14287995" cy="2487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Operational Speed &amp; Impact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E3729D0-668A-ABD9-186E-AC5AA99AE393}"/>
              </a:ext>
            </a:extLst>
          </p:cNvPr>
          <p:cNvSpPr txBox="1"/>
          <p:nvPr/>
        </p:nvSpPr>
        <p:spPr>
          <a:xfrm>
            <a:off x="914260" y="4312297"/>
            <a:ext cx="4549829" cy="150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  <a:spcBef>
                <a:spcPct val="0"/>
              </a:spcBef>
            </a:pPr>
            <a:r>
              <a:rPr lang="en-US" sz="87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&lt;10s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CCA98E4-B185-0AD3-103F-96815A05CCAD}"/>
              </a:ext>
            </a:extLst>
          </p:cNvPr>
          <p:cNvSpPr txBox="1"/>
          <p:nvPr/>
        </p:nvSpPr>
        <p:spPr>
          <a:xfrm>
            <a:off x="819221" y="5736603"/>
            <a:ext cx="4739907" cy="180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700" dirty="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Time to Decision Insight</a:t>
            </a:r>
          </a:p>
          <a:p>
            <a:pPr algn="ctr">
              <a:lnSpc>
                <a:spcPts val="4480"/>
              </a:lnSpc>
            </a:pPr>
            <a:endParaRPr lang="en-US" sz="3700" dirty="0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F0A267C-C0D4-073B-BC3E-43FA9D310F83}"/>
              </a:ext>
            </a:extLst>
          </p:cNvPr>
          <p:cNvSpPr txBox="1"/>
          <p:nvPr/>
        </p:nvSpPr>
        <p:spPr>
          <a:xfrm>
            <a:off x="7255194" y="4654932"/>
            <a:ext cx="5630752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Instant Collateral Requirements Visibility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b="1">
              <a:solidFill>
                <a:srgbClr val="EFF1E8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B49038-06D2-2AF3-09F4-4CF22F3F0C77}"/>
              </a:ext>
            </a:extLst>
          </p:cNvPr>
          <p:cNvSpPr txBox="1"/>
          <p:nvPr/>
        </p:nvSpPr>
        <p:spPr>
          <a:xfrm>
            <a:off x="7255194" y="5101603"/>
            <a:ext cx="8454076" cy="1418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By removing manual portal logins, screenshotting, and Teams messaging, the solution compresses the daily reporting cycle from over 15 minutes down to under 10 seconds.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95093AB-4842-9B53-4412-8F8FCDEB132B}"/>
              </a:ext>
            </a:extLst>
          </p:cNvPr>
          <p:cNvSpPr txBox="1"/>
          <p:nvPr/>
        </p:nvSpPr>
        <p:spPr>
          <a:xfrm>
            <a:off x="7239000" y="6469552"/>
            <a:ext cx="845407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Stakeholders</a:t>
            </a:r>
            <a:r>
              <a:rPr lang="en-US" sz="1999" u="none" strike="noStrike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receive updated and reliable collateral report every morning.</a:t>
            </a:r>
          </a:p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endParaRPr lang="en-US" sz="1999" u="none" strike="noStrike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65954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2">
            <a:extLst>
              <a:ext uri="{FF2B5EF4-FFF2-40B4-BE49-F238E27FC236}">
                <a16:creationId xmlns:a16="http://schemas.microsoft.com/office/drawing/2014/main" id="{0A12D37D-8ADD-C8AE-4083-2FF875889AED}"/>
              </a:ext>
            </a:extLst>
          </p:cNvPr>
          <p:cNvGrpSpPr/>
          <p:nvPr/>
        </p:nvGrpSpPr>
        <p:grpSpPr>
          <a:xfrm>
            <a:off x="1828800" y="3924300"/>
            <a:ext cx="3456594" cy="4028139"/>
            <a:chOff x="0" y="0"/>
            <a:chExt cx="1307450" cy="1032235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620ED7D4-3951-9B86-F674-40400C2681C8}"/>
                </a:ext>
              </a:extLst>
            </p:cNvPr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625349B5-03CC-A4B5-F46C-344AC1ADF4D2}"/>
                </a:ext>
              </a:extLst>
            </p:cNvPr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000003" y="1123950"/>
            <a:ext cx="14287995" cy="2487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Value Added Through Analytics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55194" y="4650045"/>
            <a:ext cx="5630752" cy="34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Reporting gives additional value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55194" y="5228391"/>
            <a:ext cx="8454076" cy="3572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Trend Analysis – Daily collateral movements visualized over time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Limit Utilization Monitoring – Real‑time view of PB limits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Counterparty Exposure Insights – Aggregated exposure by counterparty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Operational Transparency – Stakeholders can self‑serve instead of requesting ad‑hoc updates.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 err="1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FD6F88-07AB-C8F2-AE4D-B3356701B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4159027"/>
            <a:ext cx="1847414" cy="35293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Public Portfolio &amp; GitHub Replication</a:t>
            </a:r>
          </a:p>
          <a:p>
            <a:pPr algn="l">
              <a:lnSpc>
                <a:spcPts val="9679"/>
              </a:lnSpc>
            </a:pPr>
            <a:endParaRPr lang="en-US" sz="8799" b="1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Enterprise project securely recreated into an open-source demonstration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839653" y="1123950"/>
            <a:ext cx="14608693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Enterprise vs Open Source</a:t>
            </a:r>
          </a:p>
        </p:txBody>
      </p:sp>
      <p:sp>
        <p:nvSpPr>
          <p:cNvPr id="4" name="Freeform 4"/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081421"/>
              </p:ext>
            </p:extLst>
          </p:nvPr>
        </p:nvGraphicFramePr>
        <p:xfrm>
          <a:off x="961504" y="3923696"/>
          <a:ext cx="16297797" cy="5991226"/>
        </p:xfrm>
        <a:graphic>
          <a:graphicData uri="http://schemas.openxmlformats.org/drawingml/2006/table">
            <a:tbl>
              <a:tblPr/>
              <a:tblGrid>
                <a:gridCol w="66806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6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76238">
                <a:tc>
                  <a:txBody>
                    <a:bodyPr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1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Workplace Production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587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4199" b="1" u="none" strike="noStrik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GitHub Replication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78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Prime Brokerage portal CSV feeds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1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Custom Python script generating synthetic FX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Microsoft SharePoint Online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Storage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PostgreSQL on Neon 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Dataflows to BI reports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Connection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Direct Power BI connection to Neon DB.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Reporting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 dirty="0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 Tools – Power BI or Google Data Studio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55239" y="7098923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6"/>
                </a:lnTo>
                <a:lnTo>
                  <a:pt x="0" y="7483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962536" y="4873092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9" y="0"/>
                </a:lnTo>
                <a:lnTo>
                  <a:pt x="665009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4988" y="4873092"/>
            <a:ext cx="782620" cy="782620"/>
          </a:xfrm>
          <a:custGeom>
            <a:avLst/>
            <a:gdLst/>
            <a:ahLst/>
            <a:cxnLst/>
            <a:rect l="l" t="t" r="r" b="b"/>
            <a:pathLst>
              <a:path w="782620" h="782620">
                <a:moveTo>
                  <a:pt x="0" y="0"/>
                </a:moveTo>
                <a:lnTo>
                  <a:pt x="782620" y="0"/>
                </a:lnTo>
                <a:lnTo>
                  <a:pt x="782620" y="782620"/>
                </a:lnTo>
                <a:lnTo>
                  <a:pt x="0" y="78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123950"/>
            <a:ext cx="100860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Architecture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983189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Python &amp; Neon PostgreSQL Pipeline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25596" y="4815942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Generation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25596" y="5262612"/>
            <a:ext cx="518947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Developed a Python script to synthesize mock data mimicking original reports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29356" y="4815942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029356" y="5262612"/>
            <a:ext cx="6875203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Structured a relational schema and automated data loads directly into a Neon PostgreSQL serverless cloud database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51245" y="696927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51245" y="7415946"/>
            <a:ext cx="694601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Power BI Reports directly to Neon Database to model data, write DAX measures, and publish the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761" y="3769317"/>
            <a:ext cx="5176543" cy="2934108"/>
            <a:chOff x="0" y="0"/>
            <a:chExt cx="1363369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553789" y="3769317"/>
            <a:ext cx="5176543" cy="2934108"/>
            <a:chOff x="0" y="0"/>
            <a:chExt cx="1363369" cy="7727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82757" y="3769317"/>
            <a:ext cx="5176543" cy="2934108"/>
            <a:chOff x="0" y="0"/>
            <a:chExt cx="1363369" cy="7727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6711" y="1123950"/>
            <a:ext cx="16034578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AI-Assisted Development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2459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Rapid Scripting &amp; Synthetic Logic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2459" y="4988218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Generative AI assistance to program complex Python generator scripts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459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79487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Database Schema Optimization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79487" y="4988218"/>
            <a:ext cx="4557145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AI prompts to help design PostgreSQL tables— schema layout, primary keys, and data types for Neon DB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79487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08455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08455" y="4988218"/>
            <a:ext cx="4221162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Generated docstrings and a comprehensive GitHub README explaining setup instructions for reviewers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08455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22" name="Freeform 22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9" name="Group 8">
            <a:extLst>
              <a:ext uri="{FF2B5EF4-FFF2-40B4-BE49-F238E27FC236}">
                <a16:creationId xmlns:a16="http://schemas.microsoft.com/office/drawing/2014/main" id="{78A06741-A656-4BAD-4351-A65B17AC2086}"/>
              </a:ext>
            </a:extLst>
          </p:cNvPr>
          <p:cNvGrpSpPr/>
          <p:nvPr/>
        </p:nvGrpSpPr>
        <p:grpSpPr>
          <a:xfrm>
            <a:off x="6553789" y="6972300"/>
            <a:ext cx="5176543" cy="2934108"/>
            <a:chOff x="0" y="0"/>
            <a:chExt cx="1363369" cy="772769"/>
          </a:xfrm>
        </p:grpSpPr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1ABB04C2-184E-BFFA-4D64-5F874114360A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31" name="TextBox 10">
              <a:extLst>
                <a:ext uri="{FF2B5EF4-FFF2-40B4-BE49-F238E27FC236}">
                  <a16:creationId xmlns:a16="http://schemas.microsoft.com/office/drawing/2014/main" id="{63B3F245-DBC0-6096-1FFF-517677D3E52B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19">
            <a:extLst>
              <a:ext uri="{FF2B5EF4-FFF2-40B4-BE49-F238E27FC236}">
                <a16:creationId xmlns:a16="http://schemas.microsoft.com/office/drawing/2014/main" id="{3CABDABA-EF59-1F85-6698-0720E8A68ABA}"/>
              </a:ext>
            </a:extLst>
          </p:cNvPr>
          <p:cNvSpPr txBox="1"/>
          <p:nvPr/>
        </p:nvSpPr>
        <p:spPr>
          <a:xfrm>
            <a:off x="6879487" y="7758336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</a:t>
            </a:r>
          </a:p>
        </p:txBody>
      </p:sp>
      <p:sp>
        <p:nvSpPr>
          <p:cNvPr id="33" name="TextBox 20">
            <a:extLst>
              <a:ext uri="{FF2B5EF4-FFF2-40B4-BE49-F238E27FC236}">
                <a16:creationId xmlns:a16="http://schemas.microsoft.com/office/drawing/2014/main" id="{3600A6A4-94AE-8F9C-68AC-D2454594FAEC}"/>
              </a:ext>
            </a:extLst>
          </p:cNvPr>
          <p:cNvSpPr txBox="1"/>
          <p:nvPr/>
        </p:nvSpPr>
        <p:spPr>
          <a:xfrm>
            <a:off x="6879487" y="8191201"/>
            <a:ext cx="4221162" cy="1059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AI accelerated implementation while designing, testing, and validating the logic.</a:t>
            </a:r>
          </a:p>
        </p:txBody>
      </p:sp>
      <p:sp>
        <p:nvSpPr>
          <p:cNvPr id="34" name="TextBox 21">
            <a:extLst>
              <a:ext uri="{FF2B5EF4-FFF2-40B4-BE49-F238E27FC236}">
                <a16:creationId xmlns:a16="http://schemas.microsoft.com/office/drawing/2014/main" id="{09576722-B01F-F42B-2B9D-29EBD2EAC86A}"/>
              </a:ext>
            </a:extLst>
          </p:cNvPr>
          <p:cNvSpPr txBox="1"/>
          <p:nvPr/>
        </p:nvSpPr>
        <p:spPr>
          <a:xfrm>
            <a:off x="6879487" y="7020490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Reporting Examples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368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Interactive Power BI Reports</a:t>
            </a: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F3AFA-0BDE-1641-4E17-40FA7BD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7E139F7-E78C-BB60-0C2E-8ED33AA3789A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30AF16F-4161-E0B0-02B3-5029735DEF85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4A743CE-18F1-3CE1-A4FB-622AA5E1F564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44FC532D-BEB0-B1A3-ECE2-54F80FABBD9A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Collateral Dashboard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F1603938-0620-C97C-2629-CFD42476E3A7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C417A0F0-7FAA-788D-700F-B4C76B221DC5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BDB1FAF-A0C2-299C-5358-52082634E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2439349"/>
            <a:ext cx="13716000" cy="771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58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B66C02-C8E0-6867-1FC3-2EF875D15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10D92F8-0DAF-A2B3-15F3-B9C24D298534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E1F3D6EC-2315-430A-7FBC-764CE819138F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4F25B2-5E85-0ED9-5B8E-82330348C871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E016B6D-05F3-5595-7F1F-9A0301FE69D6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Limits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B0BE193A-F262-CD3D-A466-2F1BB59DEC48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3052E74C-AEC1-C459-6287-A263C2211B52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E1ABD9-BA6C-44A1-EE91-28FBF523D0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300" y="2463130"/>
            <a:ext cx="13601700" cy="765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61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9EB4C-199F-6DF2-7B11-83A84D8E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7E8FD7D-2E38-E529-C3D6-824C8A208E65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692E2B9-1F94-F6D1-07BB-E04C564D0646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62B787-C300-F36F-2922-55FF79244C8D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28779449-06FA-F42F-DA14-7338FD5429AC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Portfolio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2C736A26-1C78-4A4C-4C2C-036284A8AE47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57D3FBA3-E584-3564-CCA1-5577FAC1AEC2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179E57-F5A4-02B0-6946-92CDC1052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2483527"/>
            <a:ext cx="13635789" cy="7673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52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</Words>
  <Application>Microsoft Office PowerPoint</Application>
  <PresentationFormat>Custom</PresentationFormat>
  <Paragraphs>85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Montserrat Bold</vt:lpstr>
      <vt:lpstr>Poppins Bold</vt:lpstr>
      <vt:lpstr>Poppins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fx-primer-broker-collateral.pptx</dc:title>
  <dc:creator>Sergio Garcia</dc:creator>
  <cp:lastModifiedBy>Sergio Garcia</cp:lastModifiedBy>
  <cp:revision>8</cp:revision>
  <dcterms:created xsi:type="dcterms:W3CDTF">2006-08-16T00:00:00Z</dcterms:created>
  <dcterms:modified xsi:type="dcterms:W3CDTF">2026-08-14T11:08:44Z</dcterms:modified>
  <dc:identifier>DAHRyo9n3II</dc:identifier>
</cp:coreProperties>
</file>