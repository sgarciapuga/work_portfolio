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8288000" cy="10287000"/>
  <p:notesSz cx="6858000" cy="9144000"/>
  <p:embeddedFontLst>
    <p:embeddedFont>
      <p:font typeface="Montserrat Bold" charset="1" panose="00000800000000000000"/>
      <p:regular r:id="rId25"/>
    </p:embeddedFont>
    <p:embeddedFont>
      <p:font typeface="Poppins Bold" charset="1" panose="00000800000000000000"/>
      <p:regular r:id="rId26"/>
    </p:embeddedFont>
    <p:embeddedFont>
      <p:font typeface="Poppins" charset="1" panose="00000500000000000000"/>
      <p:regular r:id="rId27"/>
    </p:embeddedFont>
    <p:embeddedFont>
      <p:font typeface="Poppins Italics" charset="1" panose="0000050000000000000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png" Type="http://schemas.openxmlformats.org/officeDocument/2006/relationships/image"/><Relationship Id="rId11" Target="../media/image17.svg" Type="http://schemas.openxmlformats.org/officeDocument/2006/relationships/image"/><Relationship Id="rId12" Target="../media/image18.png" Type="http://schemas.openxmlformats.org/officeDocument/2006/relationships/image"/><Relationship Id="rId13" Target="../media/image19.svg" Type="http://schemas.openxmlformats.org/officeDocument/2006/relationships/image"/><Relationship Id="rId14" Target="../media/image20.png" Type="http://schemas.openxmlformats.org/officeDocument/2006/relationships/image"/><Relationship Id="rId15" Target="../media/image21.svg" Type="http://schemas.openxmlformats.org/officeDocument/2006/relationships/image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24.png" Type="http://schemas.openxmlformats.org/officeDocument/2006/relationships/image"/><Relationship Id="rId5" Target="../media/image25.svg" Type="http://schemas.openxmlformats.org/officeDocument/2006/relationships/image"/><Relationship Id="rId6" Target="../media/image26.png" Type="http://schemas.openxmlformats.org/officeDocument/2006/relationships/image"/><Relationship Id="rId7" Target="../media/image27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8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8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26.png" Type="http://schemas.openxmlformats.org/officeDocument/2006/relationships/image"/><Relationship Id="rId5" Target="../media/image27.svg" Type="http://schemas.openxmlformats.org/officeDocument/2006/relationships/image"/><Relationship Id="rId6" Target="../media/image29.png" Type="http://schemas.openxmlformats.org/officeDocument/2006/relationships/image"/><Relationship Id="rId7" Target="../media/image30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Relationship Id="rId3" Target="../media/image32.svg" Type="http://schemas.openxmlformats.org/officeDocument/2006/relationships/image"/><Relationship Id="rId4" Target="../media/image33.png" Type="http://schemas.openxmlformats.org/officeDocument/2006/relationships/image"/><Relationship Id="rId5" Target="../media/image34.svg" Type="http://schemas.openxmlformats.org/officeDocument/2006/relationships/image"/><Relationship Id="rId6" Target="../media/image35.png" Type="http://schemas.openxmlformats.org/officeDocument/2006/relationships/image"/><Relationship Id="rId7" Target="../media/image36.svg" Type="http://schemas.openxmlformats.org/officeDocument/2006/relationships/image"/><Relationship Id="rId8" Target="../media/image37.png" Type="http://schemas.openxmlformats.org/officeDocument/2006/relationships/image"/><Relationship Id="rId9" Target="../media/image38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8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2" Target="../media/image39.png" Type="http://schemas.openxmlformats.org/officeDocument/2006/relationships/image"/><Relationship Id="rId3" Target="../media/image40.svg" Type="http://schemas.openxmlformats.org/officeDocument/2006/relationships/image"/><Relationship Id="rId4" Target="../media/image41.png" Type="http://schemas.openxmlformats.org/officeDocument/2006/relationships/image"/><Relationship Id="rId5" Target="../media/image42.svg" Type="http://schemas.openxmlformats.org/officeDocument/2006/relationships/image"/><Relationship Id="rId6" Target="../media/image43.png" Type="http://schemas.openxmlformats.org/officeDocument/2006/relationships/image"/><Relationship Id="rId7" Target="../media/image44.svg" Type="http://schemas.openxmlformats.org/officeDocument/2006/relationships/image"/><Relationship Id="rId8" Target="../media/image45.pn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1.png" Type="http://schemas.openxmlformats.org/officeDocument/2006/relationships/image"/><Relationship Id="rId3" Target="../media/image42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5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3.png" Type="http://schemas.openxmlformats.org/officeDocument/2006/relationships/image"/><Relationship Id="rId3" Target="../media/image44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6.png" Type="http://schemas.openxmlformats.org/officeDocument/2006/relationships/image"/><Relationship Id="rId3" Target="../media/image47.sv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8.jpe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3145403"/>
            <a:ext cx="12382500" cy="3060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0"/>
              </a:lnSpc>
            </a:pPr>
            <a:r>
              <a:rPr lang="en-US" sz="120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Kyriba TMS Transformation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7403249" y="5518712"/>
            <a:ext cx="9856051" cy="8730429"/>
          </a:xfrm>
          <a:custGeom>
            <a:avLst/>
            <a:gdLst/>
            <a:ahLst/>
            <a:cxnLst/>
            <a:rect r="r" b="b" t="t" l="l"/>
            <a:pathLst>
              <a:path h="8730429" w="9856051">
                <a:moveTo>
                  <a:pt x="0" y="0"/>
                </a:moveTo>
                <a:lnTo>
                  <a:pt x="9856051" y="0"/>
                </a:lnTo>
                <a:lnTo>
                  <a:pt x="9856051" y="8730429"/>
                </a:lnTo>
                <a:lnTo>
                  <a:pt x="0" y="87304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6641097"/>
            <a:ext cx="8953500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b="true" sz="1998" spc="224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End-to-End Implementation &amp; Process Optimisation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7406440"/>
            <a:ext cx="7471829" cy="10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Executive overview highlighting full Kyriba implementation, functional analysis of solution design, Open API integration with the centralised data platform and ERP integration.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-3674361" y="-4268450"/>
            <a:ext cx="8438976" cy="7475193"/>
          </a:xfrm>
          <a:custGeom>
            <a:avLst/>
            <a:gdLst/>
            <a:ahLst/>
            <a:cxnLst/>
            <a:rect r="r" b="b" t="t" l="l"/>
            <a:pathLst>
              <a:path h="7475193" w="8438976">
                <a:moveTo>
                  <a:pt x="0" y="0"/>
                </a:moveTo>
                <a:lnTo>
                  <a:pt x="8438976" y="0"/>
                </a:lnTo>
                <a:lnTo>
                  <a:pt x="8438976" y="7475193"/>
                </a:lnTo>
                <a:lnTo>
                  <a:pt x="0" y="74751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66800" y="1866900"/>
            <a:ext cx="976655" cy="1025115"/>
          </a:xfrm>
          <a:custGeom>
            <a:avLst/>
            <a:gdLst/>
            <a:ahLst/>
            <a:cxnLst/>
            <a:rect r="r" b="b" t="t" l="l"/>
            <a:pathLst>
              <a:path h="1025115" w="976655">
                <a:moveTo>
                  <a:pt x="0" y="0"/>
                </a:moveTo>
                <a:lnTo>
                  <a:pt x="976655" y="0"/>
                </a:lnTo>
                <a:lnTo>
                  <a:pt x="976655" y="1025115"/>
                </a:lnTo>
                <a:lnTo>
                  <a:pt x="0" y="10251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8" id="8"/>
          <p:cNvGrpSpPr/>
          <p:nvPr/>
        </p:nvGrpSpPr>
        <p:grpSpPr>
          <a:xfrm rot="0">
            <a:off x="1066800" y="6400800"/>
            <a:ext cx="1333500" cy="57150"/>
            <a:chOff x="0" y="0"/>
            <a:chExt cx="1778000" cy="76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78000" cy="76200"/>
            </a:xfrm>
            <a:custGeom>
              <a:avLst/>
              <a:gdLst/>
              <a:ahLst/>
              <a:cxnLst/>
              <a:rect r="r" b="b" t="t" l="l"/>
              <a:pathLst>
                <a:path h="76200" w="1778000">
                  <a:moveTo>
                    <a:pt x="0" y="0"/>
                  </a:moveTo>
                  <a:lnTo>
                    <a:pt x="1778000" y="0"/>
                  </a:lnTo>
                  <a:lnTo>
                    <a:pt x="177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778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109007" y="-195491"/>
            <a:ext cx="7179040" cy="10655427"/>
            <a:chOff x="0" y="0"/>
            <a:chExt cx="9572054" cy="142072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572117" cy="14207237"/>
            </a:xfrm>
            <a:custGeom>
              <a:avLst/>
              <a:gdLst/>
              <a:ahLst/>
              <a:cxnLst/>
              <a:rect r="r" b="b" t="t" l="l"/>
              <a:pathLst>
                <a:path h="14207237" w="9572117">
                  <a:moveTo>
                    <a:pt x="0" y="0"/>
                  </a:moveTo>
                  <a:lnTo>
                    <a:pt x="9572117" y="0"/>
                  </a:lnTo>
                  <a:lnTo>
                    <a:pt x="9572117" y="14207237"/>
                  </a:lnTo>
                  <a:lnTo>
                    <a:pt x="0" y="14207237"/>
                  </a:lnTo>
                  <a:close/>
                </a:path>
              </a:pathLst>
            </a:custGeom>
            <a:blipFill>
              <a:blip r:embed="rId2"/>
              <a:stretch>
                <a:fillRect l="-61317" t="0" r="-61316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true" flipV="false" rot="0">
            <a:off x="-493290" y="4865056"/>
            <a:ext cx="3804514" cy="5594880"/>
          </a:xfrm>
          <a:custGeom>
            <a:avLst/>
            <a:gdLst/>
            <a:ahLst/>
            <a:cxnLst/>
            <a:rect r="r" b="b" t="t" l="l"/>
            <a:pathLst>
              <a:path h="5594880" w="3804514">
                <a:moveTo>
                  <a:pt x="3804513" y="0"/>
                </a:moveTo>
                <a:lnTo>
                  <a:pt x="0" y="0"/>
                </a:lnTo>
                <a:lnTo>
                  <a:pt x="0" y="5594880"/>
                </a:lnTo>
                <a:lnTo>
                  <a:pt x="3804513" y="5594880"/>
                </a:lnTo>
                <a:lnTo>
                  <a:pt x="3804513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65" r="0" b="-64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219200"/>
            <a:ext cx="9144000" cy="2473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Strategic Overview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4448175"/>
            <a:ext cx="8572500" cy="1714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225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This initiative delivered an end-to-end implementation of Kyriba Treasury Management System (TMS), covering TMS selection, blueprinting, core data configuration, access setup, integrations, and targeted process improvements.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66800" y="4000500"/>
            <a:ext cx="1333500" cy="57150"/>
            <a:chOff x="0" y="0"/>
            <a:chExt cx="1778000" cy="762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778000" cy="76200"/>
            </a:xfrm>
            <a:custGeom>
              <a:avLst/>
              <a:gdLst/>
              <a:ahLst/>
              <a:cxnLst/>
              <a:rect r="r" b="b" t="t" l="l"/>
              <a:pathLst>
                <a:path h="76200" w="1778000">
                  <a:moveTo>
                    <a:pt x="0" y="0"/>
                  </a:moveTo>
                  <a:lnTo>
                    <a:pt x="1778000" y="0"/>
                  </a:lnTo>
                  <a:lnTo>
                    <a:pt x="177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0A1BD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778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16113700" y="1028700"/>
            <a:ext cx="1145600" cy="1145600"/>
          </a:xfrm>
          <a:custGeom>
            <a:avLst/>
            <a:gdLst/>
            <a:ahLst/>
            <a:cxnLst/>
            <a:rect r="r" b="b" t="t" l="l"/>
            <a:pathLst>
              <a:path h="1145600" w="1145600">
                <a:moveTo>
                  <a:pt x="1145600" y="1145600"/>
                </a:moveTo>
                <a:lnTo>
                  <a:pt x="0" y="1145600"/>
                </a:lnTo>
                <a:lnTo>
                  <a:pt x="0" y="0"/>
                </a:lnTo>
                <a:lnTo>
                  <a:pt x="1145600" y="0"/>
                </a:lnTo>
                <a:lnTo>
                  <a:pt x="1145600" y="11456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6113700" y="8112700"/>
            <a:ext cx="1145600" cy="1145600"/>
          </a:xfrm>
          <a:custGeom>
            <a:avLst/>
            <a:gdLst/>
            <a:ahLst/>
            <a:cxnLst/>
            <a:rect r="r" b="b" t="t" l="l"/>
            <a:pathLst>
              <a:path h="1145600" w="1145600">
                <a:moveTo>
                  <a:pt x="1145600" y="0"/>
                </a:moveTo>
                <a:lnTo>
                  <a:pt x="0" y="0"/>
                </a:lnTo>
                <a:lnTo>
                  <a:pt x="0" y="1145600"/>
                </a:lnTo>
                <a:lnTo>
                  <a:pt x="1145600" y="1145600"/>
                </a:lnTo>
                <a:lnTo>
                  <a:pt x="114560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566188">
            <a:off x="13915840" y="5349384"/>
            <a:ext cx="575023" cy="3677470"/>
          </a:xfrm>
          <a:custGeom>
            <a:avLst/>
            <a:gdLst/>
            <a:ahLst/>
            <a:cxnLst/>
            <a:rect r="r" b="b" t="t" l="l"/>
            <a:pathLst>
              <a:path h="3677470" w="575023">
                <a:moveTo>
                  <a:pt x="0" y="0"/>
                </a:moveTo>
                <a:lnTo>
                  <a:pt x="575023" y="0"/>
                </a:lnTo>
                <a:lnTo>
                  <a:pt x="575023" y="3677470"/>
                </a:lnTo>
                <a:lnTo>
                  <a:pt x="0" y="367747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08468">
            <a:off x="8168589" y="4937596"/>
            <a:ext cx="4300761" cy="2752487"/>
          </a:xfrm>
          <a:custGeom>
            <a:avLst/>
            <a:gdLst/>
            <a:ahLst/>
            <a:cxnLst/>
            <a:rect r="r" b="b" t="t" l="l"/>
            <a:pathLst>
              <a:path h="2752487" w="4300761">
                <a:moveTo>
                  <a:pt x="0" y="0"/>
                </a:moveTo>
                <a:lnTo>
                  <a:pt x="4300760" y="0"/>
                </a:lnTo>
                <a:lnTo>
                  <a:pt x="4300760" y="2752487"/>
                </a:lnTo>
                <a:lnTo>
                  <a:pt x="0" y="275248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566188">
            <a:off x="6453773" y="3607077"/>
            <a:ext cx="575023" cy="3677470"/>
          </a:xfrm>
          <a:custGeom>
            <a:avLst/>
            <a:gdLst/>
            <a:ahLst/>
            <a:cxnLst/>
            <a:rect r="r" b="b" t="t" l="l"/>
            <a:pathLst>
              <a:path h="3677470" w="575023">
                <a:moveTo>
                  <a:pt x="0" y="0"/>
                </a:moveTo>
                <a:lnTo>
                  <a:pt x="575023" y="0"/>
                </a:lnTo>
                <a:lnTo>
                  <a:pt x="575023" y="3677470"/>
                </a:lnTo>
                <a:lnTo>
                  <a:pt x="0" y="367747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08468">
            <a:off x="701737" y="3200504"/>
            <a:ext cx="4300761" cy="2752487"/>
          </a:xfrm>
          <a:custGeom>
            <a:avLst/>
            <a:gdLst/>
            <a:ahLst/>
            <a:cxnLst/>
            <a:rect r="r" b="b" t="t" l="l"/>
            <a:pathLst>
              <a:path h="2752487" w="4300761">
                <a:moveTo>
                  <a:pt x="0" y="0"/>
                </a:moveTo>
                <a:lnTo>
                  <a:pt x="4300760" y="0"/>
                </a:lnTo>
                <a:lnTo>
                  <a:pt x="4300760" y="2752487"/>
                </a:lnTo>
                <a:lnTo>
                  <a:pt x="0" y="275248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9865482" y="5122715"/>
            <a:ext cx="782097" cy="759073"/>
            <a:chOff x="0" y="0"/>
            <a:chExt cx="613977" cy="59590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13977" cy="595903"/>
            </a:xfrm>
            <a:custGeom>
              <a:avLst/>
              <a:gdLst/>
              <a:ahLst/>
              <a:cxnLst/>
              <a:rect r="r" b="b" t="t" l="l"/>
              <a:pathLst>
                <a:path h="595903" w="613977">
                  <a:moveTo>
                    <a:pt x="306989" y="0"/>
                  </a:moveTo>
                  <a:cubicBezTo>
                    <a:pt x="137444" y="0"/>
                    <a:pt x="0" y="133397"/>
                    <a:pt x="0" y="297951"/>
                  </a:cubicBezTo>
                  <a:cubicBezTo>
                    <a:pt x="0" y="462505"/>
                    <a:pt x="137444" y="595903"/>
                    <a:pt x="306989" y="595903"/>
                  </a:cubicBezTo>
                  <a:cubicBezTo>
                    <a:pt x="476534" y="595903"/>
                    <a:pt x="613977" y="462505"/>
                    <a:pt x="613977" y="297951"/>
                  </a:cubicBezTo>
                  <a:cubicBezTo>
                    <a:pt x="613977" y="133397"/>
                    <a:pt x="476534" y="0"/>
                    <a:pt x="306989" y="0"/>
                  </a:cubicBezTo>
                  <a:close/>
                </a:path>
              </a:pathLst>
            </a:custGeom>
            <a:solidFill>
              <a:srgbClr val="70A1BD"/>
            </a:solidFill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57560" y="17766"/>
              <a:ext cx="498857" cy="522271"/>
            </a:xfrm>
            <a:prstGeom prst="rect">
              <a:avLst/>
            </a:prstGeom>
          </p:spPr>
          <p:txBody>
            <a:bodyPr anchor="ctr" rtlCol="false" tIns="45702" lIns="45702" bIns="45702" rIns="45702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2556042" y="3516847"/>
            <a:ext cx="782097" cy="759073"/>
            <a:chOff x="0" y="0"/>
            <a:chExt cx="613977" cy="59590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13977" cy="595903"/>
            </a:xfrm>
            <a:custGeom>
              <a:avLst/>
              <a:gdLst/>
              <a:ahLst/>
              <a:cxnLst/>
              <a:rect r="r" b="b" t="t" l="l"/>
              <a:pathLst>
                <a:path h="595903" w="613977">
                  <a:moveTo>
                    <a:pt x="306989" y="0"/>
                  </a:moveTo>
                  <a:cubicBezTo>
                    <a:pt x="137444" y="0"/>
                    <a:pt x="0" y="133397"/>
                    <a:pt x="0" y="297951"/>
                  </a:cubicBezTo>
                  <a:cubicBezTo>
                    <a:pt x="0" y="462505"/>
                    <a:pt x="137444" y="595903"/>
                    <a:pt x="306989" y="595903"/>
                  </a:cubicBezTo>
                  <a:cubicBezTo>
                    <a:pt x="476534" y="595903"/>
                    <a:pt x="613977" y="462505"/>
                    <a:pt x="613977" y="297951"/>
                  </a:cubicBezTo>
                  <a:cubicBezTo>
                    <a:pt x="613977" y="133397"/>
                    <a:pt x="476534" y="0"/>
                    <a:pt x="306989" y="0"/>
                  </a:cubicBezTo>
                  <a:close/>
                </a:path>
              </a:pathLst>
            </a:custGeom>
            <a:solidFill>
              <a:srgbClr val="70A1BD"/>
            </a:solidFill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57560" y="17766"/>
              <a:ext cx="498857" cy="522271"/>
            </a:xfrm>
            <a:prstGeom prst="rect">
              <a:avLst/>
            </a:prstGeom>
          </p:spPr>
          <p:txBody>
            <a:bodyPr anchor="ctr" rtlCol="false" tIns="45702" lIns="45702" bIns="45702" rIns="45702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2714157" y="3652228"/>
            <a:ext cx="465865" cy="449560"/>
          </a:xfrm>
          <a:custGeom>
            <a:avLst/>
            <a:gdLst/>
            <a:ahLst/>
            <a:cxnLst/>
            <a:rect r="r" b="b" t="t" l="l"/>
            <a:pathLst>
              <a:path h="449560" w="465865">
                <a:moveTo>
                  <a:pt x="0" y="0"/>
                </a:moveTo>
                <a:lnTo>
                  <a:pt x="465865" y="0"/>
                </a:lnTo>
                <a:lnTo>
                  <a:pt x="465865" y="449560"/>
                </a:lnTo>
                <a:lnTo>
                  <a:pt x="0" y="44956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15" id="15"/>
          <p:cNvGrpSpPr/>
          <p:nvPr/>
        </p:nvGrpSpPr>
        <p:grpSpPr>
          <a:xfrm rot="0">
            <a:off x="5905481" y="5075090"/>
            <a:ext cx="782097" cy="759073"/>
            <a:chOff x="0" y="0"/>
            <a:chExt cx="613977" cy="59590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13977" cy="595903"/>
            </a:xfrm>
            <a:custGeom>
              <a:avLst/>
              <a:gdLst/>
              <a:ahLst/>
              <a:cxnLst/>
              <a:rect r="r" b="b" t="t" l="l"/>
              <a:pathLst>
                <a:path h="595903" w="613977">
                  <a:moveTo>
                    <a:pt x="306989" y="0"/>
                  </a:moveTo>
                  <a:cubicBezTo>
                    <a:pt x="137444" y="0"/>
                    <a:pt x="0" y="133397"/>
                    <a:pt x="0" y="297951"/>
                  </a:cubicBezTo>
                  <a:cubicBezTo>
                    <a:pt x="0" y="462505"/>
                    <a:pt x="137444" y="595903"/>
                    <a:pt x="306989" y="595903"/>
                  </a:cubicBezTo>
                  <a:cubicBezTo>
                    <a:pt x="476534" y="595903"/>
                    <a:pt x="613977" y="462505"/>
                    <a:pt x="613977" y="297951"/>
                  </a:cubicBezTo>
                  <a:cubicBezTo>
                    <a:pt x="613977" y="133397"/>
                    <a:pt x="476534" y="0"/>
                    <a:pt x="306989" y="0"/>
                  </a:cubicBezTo>
                  <a:close/>
                </a:path>
              </a:pathLst>
            </a:custGeom>
            <a:solidFill>
              <a:srgbClr val="70A1BD"/>
            </a:solidFill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57560" y="17766"/>
              <a:ext cx="498857" cy="522271"/>
            </a:xfrm>
            <a:prstGeom prst="rect">
              <a:avLst/>
            </a:prstGeom>
          </p:spPr>
          <p:txBody>
            <a:bodyPr anchor="ctr" rtlCol="false" tIns="45702" lIns="45702" bIns="45702" rIns="45702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6023281" y="5281093"/>
            <a:ext cx="565547" cy="328017"/>
          </a:xfrm>
          <a:custGeom>
            <a:avLst/>
            <a:gdLst/>
            <a:ahLst/>
            <a:cxnLst/>
            <a:rect r="r" b="b" t="t" l="l"/>
            <a:pathLst>
              <a:path h="328017" w="565547">
                <a:moveTo>
                  <a:pt x="0" y="0"/>
                </a:moveTo>
                <a:lnTo>
                  <a:pt x="565547" y="0"/>
                </a:lnTo>
                <a:lnTo>
                  <a:pt x="565547" y="328017"/>
                </a:lnTo>
                <a:lnTo>
                  <a:pt x="0" y="32801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0014432" y="5269838"/>
            <a:ext cx="484195" cy="464827"/>
          </a:xfrm>
          <a:custGeom>
            <a:avLst/>
            <a:gdLst/>
            <a:ahLst/>
            <a:cxnLst/>
            <a:rect r="r" b="b" t="t" l="l"/>
            <a:pathLst>
              <a:path h="464827" w="484195">
                <a:moveTo>
                  <a:pt x="0" y="0"/>
                </a:moveTo>
                <a:lnTo>
                  <a:pt x="484195" y="0"/>
                </a:lnTo>
                <a:lnTo>
                  <a:pt x="484195" y="464827"/>
                </a:lnTo>
                <a:lnTo>
                  <a:pt x="0" y="46482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2592748" y="6845068"/>
            <a:ext cx="782097" cy="759073"/>
            <a:chOff x="0" y="0"/>
            <a:chExt cx="613977" cy="59590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13977" cy="595903"/>
            </a:xfrm>
            <a:custGeom>
              <a:avLst/>
              <a:gdLst/>
              <a:ahLst/>
              <a:cxnLst/>
              <a:rect r="r" b="b" t="t" l="l"/>
              <a:pathLst>
                <a:path h="595903" w="613977">
                  <a:moveTo>
                    <a:pt x="306989" y="0"/>
                  </a:moveTo>
                  <a:cubicBezTo>
                    <a:pt x="137444" y="0"/>
                    <a:pt x="0" y="133397"/>
                    <a:pt x="0" y="297951"/>
                  </a:cubicBezTo>
                  <a:cubicBezTo>
                    <a:pt x="0" y="462505"/>
                    <a:pt x="137444" y="595903"/>
                    <a:pt x="306989" y="595903"/>
                  </a:cubicBezTo>
                  <a:cubicBezTo>
                    <a:pt x="476534" y="595903"/>
                    <a:pt x="613977" y="462505"/>
                    <a:pt x="613977" y="297951"/>
                  </a:cubicBezTo>
                  <a:cubicBezTo>
                    <a:pt x="613977" y="133397"/>
                    <a:pt x="476534" y="0"/>
                    <a:pt x="306989" y="0"/>
                  </a:cubicBezTo>
                  <a:close/>
                </a:path>
              </a:pathLst>
            </a:custGeom>
            <a:solidFill>
              <a:srgbClr val="70A1BD"/>
            </a:solidFill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57560" y="17766"/>
              <a:ext cx="498857" cy="522271"/>
            </a:xfrm>
            <a:prstGeom prst="rect">
              <a:avLst/>
            </a:prstGeom>
          </p:spPr>
          <p:txBody>
            <a:bodyPr anchor="ctr" rtlCol="false" tIns="45702" lIns="45702" bIns="45702" rIns="45702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12750249" y="6963530"/>
            <a:ext cx="451435" cy="449177"/>
          </a:xfrm>
          <a:custGeom>
            <a:avLst/>
            <a:gdLst/>
            <a:ahLst/>
            <a:cxnLst/>
            <a:rect r="r" b="b" t="t" l="l"/>
            <a:pathLst>
              <a:path h="449177" w="451435">
                <a:moveTo>
                  <a:pt x="0" y="0"/>
                </a:moveTo>
                <a:lnTo>
                  <a:pt x="451434" y="0"/>
                </a:lnTo>
                <a:lnTo>
                  <a:pt x="451434" y="449177"/>
                </a:lnTo>
                <a:lnTo>
                  <a:pt x="0" y="449177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028700" y="1219200"/>
            <a:ext cx="10803455" cy="11486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Roadmap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338138" y="3015563"/>
            <a:ext cx="3856305" cy="325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"/>
              </a:lnSpc>
            </a:pPr>
            <a:r>
              <a:rPr lang="en-US" sz="17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Blueprinting &amp; Functional Design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338138" y="3459697"/>
            <a:ext cx="4929652" cy="325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"/>
              </a:lnSpc>
            </a:pPr>
            <a:r>
              <a:rPr lang="en-US" sz="17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Requi</a:t>
            </a:r>
            <a:r>
              <a:rPr lang="en-US" sz="17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rements, workflows, module design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485819" y="6144511"/>
            <a:ext cx="3055875" cy="325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"/>
              </a:lnSpc>
            </a:pPr>
            <a:r>
              <a:rPr lang="en-US" sz="17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Core Data &amp; Access Setup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485819" y="6548059"/>
            <a:ext cx="3229975" cy="64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"/>
              </a:lnSpc>
            </a:pPr>
            <a:r>
              <a:rPr lang="en-US" sz="17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Static data, secu</a:t>
            </a:r>
            <a:r>
              <a:rPr lang="en-US" sz="17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rity model, roles, permissions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714253" y="4083388"/>
            <a:ext cx="3055875" cy="325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"/>
              </a:lnSpc>
            </a:pPr>
            <a:r>
              <a:rPr lang="en-US" sz="17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Technical Integrations 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0714253" y="4523422"/>
            <a:ext cx="4178632" cy="954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"/>
              </a:lnSpc>
            </a:pPr>
            <a:r>
              <a:rPr lang="en-US" sz="17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Banking &amp; Payments, Trade Management, ERP / Accounting,  Data / API Layer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673746" y="7760724"/>
            <a:ext cx="5012754" cy="325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"/>
              </a:lnSpc>
            </a:pPr>
            <a:r>
              <a:rPr lang="en-US" sz="17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Optimisation &amp; Continuous Improvement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673746" y="8200759"/>
            <a:ext cx="3607571" cy="64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"/>
              </a:lnSpc>
            </a:pPr>
            <a:r>
              <a:rPr lang="en-US" sz="17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Controls, reconciliations, reporting, efficiency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115800" y="4762500"/>
            <a:ext cx="5143500" cy="4762500"/>
            <a:chOff x="0" y="0"/>
            <a:chExt cx="6858000" cy="6350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858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858000">
                  <a:moveTo>
                    <a:pt x="304800" y="0"/>
                  </a:moveTo>
                  <a:lnTo>
                    <a:pt x="6553200" y="0"/>
                  </a:lnTo>
                  <a:cubicBezTo>
                    <a:pt x="6721536" y="0"/>
                    <a:pt x="6858000" y="142150"/>
                    <a:pt x="6858000" y="317500"/>
                  </a:cubicBezTo>
                  <a:lnTo>
                    <a:pt x="6858000" y="6032500"/>
                  </a:lnTo>
                  <a:cubicBezTo>
                    <a:pt x="6858000" y="6207850"/>
                    <a:pt x="6721536" y="6350000"/>
                    <a:pt x="6553200" y="6350000"/>
                  </a:cubicBezTo>
                  <a:lnTo>
                    <a:pt x="304800" y="6350000"/>
                  </a:lnTo>
                  <a:cubicBezTo>
                    <a:pt x="136464" y="6350000"/>
                    <a:pt x="0" y="6207850"/>
                    <a:pt x="0" y="6032500"/>
                  </a:cubicBezTo>
                  <a:lnTo>
                    <a:pt x="0" y="317500"/>
                  </a:lnTo>
                  <a:cubicBezTo>
                    <a:pt x="0" y="142150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858000" cy="638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572250" y="4762500"/>
            <a:ext cx="5143500" cy="4762500"/>
            <a:chOff x="0" y="0"/>
            <a:chExt cx="6858000" cy="6350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58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858000">
                  <a:moveTo>
                    <a:pt x="304800" y="0"/>
                  </a:moveTo>
                  <a:lnTo>
                    <a:pt x="6553200" y="0"/>
                  </a:lnTo>
                  <a:cubicBezTo>
                    <a:pt x="6721536" y="0"/>
                    <a:pt x="6858000" y="142150"/>
                    <a:pt x="6858000" y="317500"/>
                  </a:cubicBezTo>
                  <a:lnTo>
                    <a:pt x="6858000" y="6032500"/>
                  </a:lnTo>
                  <a:cubicBezTo>
                    <a:pt x="6858000" y="6207850"/>
                    <a:pt x="6721536" y="6350000"/>
                    <a:pt x="6553200" y="6350000"/>
                  </a:cubicBezTo>
                  <a:lnTo>
                    <a:pt x="304800" y="6350000"/>
                  </a:lnTo>
                  <a:cubicBezTo>
                    <a:pt x="136464" y="6350000"/>
                    <a:pt x="0" y="6207850"/>
                    <a:pt x="0" y="6032500"/>
                  </a:cubicBezTo>
                  <a:lnTo>
                    <a:pt x="0" y="317500"/>
                  </a:lnTo>
                  <a:cubicBezTo>
                    <a:pt x="0" y="142150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6858000" cy="638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8700" y="4762500"/>
            <a:ext cx="5143500" cy="4762500"/>
            <a:chOff x="0" y="0"/>
            <a:chExt cx="6858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58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858000">
                  <a:moveTo>
                    <a:pt x="304800" y="0"/>
                  </a:moveTo>
                  <a:lnTo>
                    <a:pt x="6553200" y="0"/>
                  </a:lnTo>
                  <a:cubicBezTo>
                    <a:pt x="6721536" y="0"/>
                    <a:pt x="6858000" y="142150"/>
                    <a:pt x="6858000" y="317500"/>
                  </a:cubicBezTo>
                  <a:lnTo>
                    <a:pt x="6858000" y="6032500"/>
                  </a:lnTo>
                  <a:cubicBezTo>
                    <a:pt x="6858000" y="6207850"/>
                    <a:pt x="6721536" y="6350000"/>
                    <a:pt x="6553200" y="6350000"/>
                  </a:cubicBezTo>
                  <a:lnTo>
                    <a:pt x="304800" y="6350000"/>
                  </a:lnTo>
                  <a:cubicBezTo>
                    <a:pt x="136464" y="6350000"/>
                    <a:pt x="0" y="6207850"/>
                    <a:pt x="0" y="6032500"/>
                  </a:cubicBezTo>
                  <a:lnTo>
                    <a:pt x="0" y="317500"/>
                  </a:lnTo>
                  <a:cubicBezTo>
                    <a:pt x="0" y="142150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6858000" cy="638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2534900" y="5143500"/>
            <a:ext cx="766180" cy="762000"/>
          </a:xfrm>
          <a:custGeom>
            <a:avLst/>
            <a:gdLst/>
            <a:ahLst/>
            <a:cxnLst/>
            <a:rect r="r" b="b" t="t" l="l"/>
            <a:pathLst>
              <a:path h="762000" w="766180">
                <a:moveTo>
                  <a:pt x="0" y="0"/>
                </a:moveTo>
                <a:lnTo>
                  <a:pt x="766180" y="0"/>
                </a:lnTo>
                <a:lnTo>
                  <a:pt x="76618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273" r="0" b="-274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991350" y="5143500"/>
            <a:ext cx="605791" cy="762000"/>
          </a:xfrm>
          <a:custGeom>
            <a:avLst/>
            <a:gdLst/>
            <a:ahLst/>
            <a:cxnLst/>
            <a:rect r="r" b="b" t="t" l="l"/>
            <a:pathLst>
              <a:path h="762000" w="605791">
                <a:moveTo>
                  <a:pt x="0" y="0"/>
                </a:moveTo>
                <a:lnTo>
                  <a:pt x="605791" y="0"/>
                </a:lnTo>
                <a:lnTo>
                  <a:pt x="605791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539" r="0" b="-538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447800" y="5143500"/>
            <a:ext cx="567690" cy="762000"/>
          </a:xfrm>
          <a:custGeom>
            <a:avLst/>
            <a:gdLst/>
            <a:ahLst/>
            <a:cxnLst/>
            <a:rect r="r" b="b" t="t" l="l"/>
            <a:pathLst>
              <a:path h="762000" w="567690">
                <a:moveTo>
                  <a:pt x="0" y="0"/>
                </a:moveTo>
                <a:lnTo>
                  <a:pt x="567690" y="0"/>
                </a:lnTo>
                <a:lnTo>
                  <a:pt x="56769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028700" y="1219200"/>
            <a:ext cx="13146306" cy="2473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Core Role &amp; Hands-On Ownership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700" y="3926043"/>
            <a:ext cx="11590121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Bridging treasury requirements, Kyriba solution design and hands-on system ownership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47800" y="6086475"/>
            <a:ext cx="4305300" cy="711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Func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tional lead and solution validator.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47800" y="6943725"/>
            <a:ext cx="4305300" cy="2120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Led functional design and requirements validation, translating trea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sury needs into Kyriba solutions and reviewing workflows, mappings and system logic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991350" y="6086475"/>
            <a:ext cx="4305300" cy="711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Proces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s optimisation and workflow design.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991350" y="6943725"/>
            <a:ext cx="4305300" cy="212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Designed and enhanced workflows across payments, accounting and reporting, leveraging Kyriba automation to streamline processes and reduce manual intervention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534900" y="6086475"/>
            <a:ext cx="4305300" cy="711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O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wnership of improvements post‑go‑live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534900" y="6943725"/>
            <a:ext cx="4305300" cy="2120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Managed enhancements, fixes and optimisation cycles as System Administrator, ensuring the Kyriba solution continued to evolve with changing treasury requirements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493290" y="4865056"/>
            <a:ext cx="3804514" cy="5594880"/>
          </a:xfrm>
          <a:custGeom>
            <a:avLst/>
            <a:gdLst/>
            <a:ahLst/>
            <a:cxnLst/>
            <a:rect r="r" b="b" t="t" l="l"/>
            <a:pathLst>
              <a:path h="5594880" w="3804514">
                <a:moveTo>
                  <a:pt x="3804513" y="0"/>
                </a:moveTo>
                <a:lnTo>
                  <a:pt x="0" y="0"/>
                </a:lnTo>
                <a:lnTo>
                  <a:pt x="0" y="5594880"/>
                </a:lnTo>
                <a:lnTo>
                  <a:pt x="3804513" y="5594880"/>
                </a:lnTo>
                <a:lnTo>
                  <a:pt x="380451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65" r="0" b="-64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219200"/>
            <a:ext cx="13335000" cy="2473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Part 1 — Blueprinting &amp; Functional Design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4276725"/>
            <a:ext cx="12382500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Translating treasury requirements into functional design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5180179" y="0"/>
            <a:ext cx="4513686" cy="11241465"/>
          </a:xfrm>
          <a:custGeom>
            <a:avLst/>
            <a:gdLst/>
            <a:ahLst/>
            <a:cxnLst/>
            <a:rect r="r" b="b" t="t" l="l"/>
            <a:pathLst>
              <a:path h="11241465" w="4513686">
                <a:moveTo>
                  <a:pt x="0" y="0"/>
                </a:moveTo>
                <a:lnTo>
                  <a:pt x="4513685" y="0"/>
                </a:lnTo>
                <a:lnTo>
                  <a:pt x="4513685" y="11241465"/>
                </a:lnTo>
                <a:lnTo>
                  <a:pt x="0" y="11241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08491" t="0" r="-164621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66800" y="4000500"/>
            <a:ext cx="1333500" cy="57150"/>
            <a:chOff x="0" y="0"/>
            <a:chExt cx="1778000" cy="76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778000" cy="76200"/>
            </a:xfrm>
            <a:custGeom>
              <a:avLst/>
              <a:gdLst/>
              <a:ahLst/>
              <a:cxnLst/>
              <a:rect r="r" b="b" t="t" l="l"/>
              <a:pathLst>
                <a:path h="76200" w="1778000">
                  <a:moveTo>
                    <a:pt x="0" y="0"/>
                  </a:moveTo>
                  <a:lnTo>
                    <a:pt x="1778000" y="0"/>
                  </a:lnTo>
                  <a:lnTo>
                    <a:pt x="177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0A1B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778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96400" y="3905250"/>
            <a:ext cx="7962900" cy="5334000"/>
            <a:chOff x="0" y="0"/>
            <a:chExt cx="10617200" cy="7112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6172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10617200">
                  <a:moveTo>
                    <a:pt x="304800" y="0"/>
                  </a:moveTo>
                  <a:lnTo>
                    <a:pt x="10312400" y="0"/>
                  </a:lnTo>
                  <a:cubicBezTo>
                    <a:pt x="10480736" y="0"/>
                    <a:pt x="10617200" y="136464"/>
                    <a:pt x="10617200" y="304800"/>
                  </a:cubicBezTo>
                  <a:lnTo>
                    <a:pt x="10617200" y="6807200"/>
                  </a:lnTo>
                  <a:cubicBezTo>
                    <a:pt x="10617200" y="6975536"/>
                    <a:pt x="10480736" y="7112000"/>
                    <a:pt x="10312400" y="7112000"/>
                  </a:cubicBezTo>
                  <a:lnTo>
                    <a:pt x="304800" y="7112000"/>
                  </a:lnTo>
                  <a:cubicBezTo>
                    <a:pt x="136464" y="7112000"/>
                    <a:pt x="0" y="6975536"/>
                    <a:pt x="0" y="6807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06172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3905250"/>
            <a:ext cx="7962900" cy="5334000"/>
            <a:chOff x="0" y="0"/>
            <a:chExt cx="10617200" cy="7112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617200" cy="7112000"/>
            </a:xfrm>
            <a:custGeom>
              <a:avLst/>
              <a:gdLst/>
              <a:ahLst/>
              <a:cxnLst/>
              <a:rect r="r" b="b" t="t" l="l"/>
              <a:pathLst>
                <a:path h="7112000" w="10617200">
                  <a:moveTo>
                    <a:pt x="304800" y="0"/>
                  </a:moveTo>
                  <a:lnTo>
                    <a:pt x="10312400" y="0"/>
                  </a:lnTo>
                  <a:cubicBezTo>
                    <a:pt x="10480736" y="0"/>
                    <a:pt x="10617200" y="136464"/>
                    <a:pt x="10617200" y="304800"/>
                  </a:cubicBezTo>
                  <a:lnTo>
                    <a:pt x="10617200" y="6807200"/>
                  </a:lnTo>
                  <a:cubicBezTo>
                    <a:pt x="10617200" y="6975536"/>
                    <a:pt x="10480736" y="7112000"/>
                    <a:pt x="10312400" y="7112000"/>
                  </a:cubicBezTo>
                  <a:lnTo>
                    <a:pt x="304800" y="7112000"/>
                  </a:lnTo>
                  <a:cubicBezTo>
                    <a:pt x="136464" y="7112000"/>
                    <a:pt x="0" y="6975536"/>
                    <a:pt x="0" y="6807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06172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28700" y="1104900"/>
            <a:ext cx="16192500" cy="2333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75"/>
              </a:lnSpc>
            </a:pPr>
            <a:r>
              <a:rPr lang="en-US" sz="825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From Treasury Requirements to Kyriba Design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47800" y="4543425"/>
            <a:ext cx="7124700" cy="43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70"/>
              </a:lnSpc>
            </a:pPr>
            <a:r>
              <a:rPr lang="en-US" sz="255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Function</a:t>
            </a:r>
            <a:r>
              <a:rPr lang="en-US" sz="255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 Design Approach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47800" y="5181600"/>
            <a:ext cx="7124700" cy="3343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Treasury Busin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ess Role: 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Treasury SME with a deep understanding of operational Treasury processes, requirements and pain points</a:t>
            </a:r>
          </a:p>
          <a:p>
            <a:pPr algn="l">
              <a:lnSpc>
                <a:spcPts val="29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Stakeholder Alignment: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worked with key stakeholders to translate strategic objectives into practical requirements</a:t>
            </a:r>
          </a:p>
          <a:p>
            <a:pPr algn="l">
              <a:lnSpc>
                <a:spcPts val="29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Business-to-System Bridge: 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connected Treasury's operational needs with Kyriba's functional capabilities</a:t>
            </a:r>
          </a:p>
          <a:p>
            <a:pPr algn="l">
              <a:lnSpc>
                <a:spcPts val="2998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9715500" y="4543425"/>
            <a:ext cx="7124700" cy="43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70"/>
              </a:lnSpc>
            </a:pPr>
            <a:r>
              <a:rPr lang="en-US" sz="255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Functional Scope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715500" y="5181600"/>
            <a:ext cx="7124700" cy="3343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Trade processing: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trade capture and processing</a:t>
            </a:r>
          </a:p>
          <a:p>
            <a:pPr algn="l">
              <a:lnSpc>
                <a:spcPts val="29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Banking and payments: 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bank connectivity, payments and statements</a:t>
            </a:r>
          </a:p>
          <a:p>
            <a:pPr algn="l">
              <a:lnSpc>
                <a:spcPts val="29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FX integration: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front to back integration</a:t>
            </a:r>
          </a:p>
          <a:p>
            <a:pPr algn="l">
              <a:lnSpc>
                <a:spcPts val="29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Cash 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management: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balances, cash flows and visibility</a:t>
            </a:r>
          </a:p>
          <a:p>
            <a:pPr algn="l">
              <a:lnSpc>
                <a:spcPts val="29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Accounting: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requirements and ERP connectivity</a:t>
            </a:r>
          </a:p>
          <a:p>
            <a:pPr algn="l">
              <a:lnSpc>
                <a:spcPts val="29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Reporting: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bespoke reporting and API connectivity</a:t>
            </a:r>
          </a:p>
          <a:p>
            <a:pPr algn="l">
              <a:lnSpc>
                <a:spcPts val="29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Controls and approvals: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security and segregation of duties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447800" y="4324350"/>
            <a:ext cx="762000" cy="57150"/>
            <a:chOff x="0" y="0"/>
            <a:chExt cx="1016000" cy="762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16000" cy="76200"/>
            </a:xfrm>
            <a:custGeom>
              <a:avLst/>
              <a:gdLst/>
              <a:ahLst/>
              <a:cxnLst/>
              <a:rect r="r" b="b" t="t" l="l"/>
              <a:pathLst>
                <a:path h="76200" w="1016000">
                  <a:moveTo>
                    <a:pt x="0" y="0"/>
                  </a:moveTo>
                  <a:lnTo>
                    <a:pt x="1016000" y="0"/>
                  </a:lnTo>
                  <a:lnTo>
                    <a:pt x="1016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016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715500" y="4324350"/>
            <a:ext cx="762000" cy="57150"/>
            <a:chOff x="0" y="0"/>
            <a:chExt cx="1016000" cy="762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16000" cy="76200"/>
            </a:xfrm>
            <a:custGeom>
              <a:avLst/>
              <a:gdLst/>
              <a:ahLst/>
              <a:cxnLst/>
              <a:rect r="r" b="b" t="t" l="l"/>
              <a:pathLst>
                <a:path h="76200" w="1016000">
                  <a:moveTo>
                    <a:pt x="0" y="0"/>
                  </a:moveTo>
                  <a:lnTo>
                    <a:pt x="1016000" y="0"/>
                  </a:lnTo>
                  <a:lnTo>
                    <a:pt x="1016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016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96400" y="6477000"/>
            <a:ext cx="7962900" cy="2952750"/>
            <a:chOff x="0" y="0"/>
            <a:chExt cx="10617200" cy="3937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617200" cy="3937000"/>
            </a:xfrm>
            <a:custGeom>
              <a:avLst/>
              <a:gdLst/>
              <a:ahLst/>
              <a:cxnLst/>
              <a:rect r="r" b="b" t="t" l="l"/>
              <a:pathLst>
                <a:path h="3937000" w="10617200">
                  <a:moveTo>
                    <a:pt x="304800" y="0"/>
                  </a:moveTo>
                  <a:lnTo>
                    <a:pt x="10312400" y="0"/>
                  </a:lnTo>
                  <a:cubicBezTo>
                    <a:pt x="10480736" y="0"/>
                    <a:pt x="10617200" y="136464"/>
                    <a:pt x="10617200" y="304800"/>
                  </a:cubicBezTo>
                  <a:lnTo>
                    <a:pt x="10617200" y="3632200"/>
                  </a:lnTo>
                  <a:cubicBezTo>
                    <a:pt x="10617200" y="3800536"/>
                    <a:pt x="10480736" y="3937000"/>
                    <a:pt x="10312400" y="3937000"/>
                  </a:cubicBezTo>
                  <a:lnTo>
                    <a:pt x="304800" y="3937000"/>
                  </a:lnTo>
                  <a:cubicBezTo>
                    <a:pt x="136464" y="3937000"/>
                    <a:pt x="0" y="3800536"/>
                    <a:pt x="0" y="3632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0617200" cy="397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6477000"/>
            <a:ext cx="7962900" cy="2952750"/>
            <a:chOff x="0" y="0"/>
            <a:chExt cx="10617200" cy="3937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617200" cy="3937000"/>
            </a:xfrm>
            <a:custGeom>
              <a:avLst/>
              <a:gdLst/>
              <a:ahLst/>
              <a:cxnLst/>
              <a:rect r="r" b="b" t="t" l="l"/>
              <a:pathLst>
                <a:path h="3937000" w="10617200">
                  <a:moveTo>
                    <a:pt x="304800" y="0"/>
                  </a:moveTo>
                  <a:lnTo>
                    <a:pt x="10312400" y="0"/>
                  </a:lnTo>
                  <a:cubicBezTo>
                    <a:pt x="10480736" y="0"/>
                    <a:pt x="10617200" y="136464"/>
                    <a:pt x="10617200" y="304800"/>
                  </a:cubicBezTo>
                  <a:lnTo>
                    <a:pt x="10617200" y="3632200"/>
                  </a:lnTo>
                  <a:cubicBezTo>
                    <a:pt x="10617200" y="3800536"/>
                    <a:pt x="10480736" y="3937000"/>
                    <a:pt x="10312400" y="3937000"/>
                  </a:cubicBezTo>
                  <a:lnTo>
                    <a:pt x="304800" y="3937000"/>
                  </a:lnTo>
                  <a:cubicBezTo>
                    <a:pt x="136464" y="3937000"/>
                    <a:pt x="0" y="3800536"/>
                    <a:pt x="0" y="3632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0617200" cy="397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296400" y="3238500"/>
            <a:ext cx="7962900" cy="2952750"/>
            <a:chOff x="0" y="0"/>
            <a:chExt cx="10617200" cy="3937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617200" cy="3937000"/>
            </a:xfrm>
            <a:custGeom>
              <a:avLst/>
              <a:gdLst/>
              <a:ahLst/>
              <a:cxnLst/>
              <a:rect r="r" b="b" t="t" l="l"/>
              <a:pathLst>
                <a:path h="3937000" w="10617200">
                  <a:moveTo>
                    <a:pt x="304800" y="0"/>
                  </a:moveTo>
                  <a:lnTo>
                    <a:pt x="10312400" y="0"/>
                  </a:lnTo>
                  <a:cubicBezTo>
                    <a:pt x="10480736" y="0"/>
                    <a:pt x="10617200" y="136464"/>
                    <a:pt x="10617200" y="304800"/>
                  </a:cubicBezTo>
                  <a:lnTo>
                    <a:pt x="10617200" y="3632200"/>
                  </a:lnTo>
                  <a:cubicBezTo>
                    <a:pt x="10617200" y="3800536"/>
                    <a:pt x="10480736" y="3937000"/>
                    <a:pt x="10312400" y="3937000"/>
                  </a:cubicBezTo>
                  <a:lnTo>
                    <a:pt x="304800" y="3937000"/>
                  </a:lnTo>
                  <a:cubicBezTo>
                    <a:pt x="136464" y="3937000"/>
                    <a:pt x="0" y="3800536"/>
                    <a:pt x="0" y="3632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0617200" cy="397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28700" y="3238500"/>
            <a:ext cx="7962900" cy="2952750"/>
            <a:chOff x="0" y="0"/>
            <a:chExt cx="10617200" cy="3937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617200" cy="3937000"/>
            </a:xfrm>
            <a:custGeom>
              <a:avLst/>
              <a:gdLst/>
              <a:ahLst/>
              <a:cxnLst/>
              <a:rect r="r" b="b" t="t" l="l"/>
              <a:pathLst>
                <a:path h="3937000" w="10617200">
                  <a:moveTo>
                    <a:pt x="304800" y="0"/>
                  </a:moveTo>
                  <a:lnTo>
                    <a:pt x="10312400" y="0"/>
                  </a:lnTo>
                  <a:cubicBezTo>
                    <a:pt x="10480736" y="0"/>
                    <a:pt x="10617200" y="136464"/>
                    <a:pt x="10617200" y="304800"/>
                  </a:cubicBezTo>
                  <a:lnTo>
                    <a:pt x="10617200" y="3632200"/>
                  </a:lnTo>
                  <a:cubicBezTo>
                    <a:pt x="10617200" y="3800536"/>
                    <a:pt x="10480736" y="3937000"/>
                    <a:pt x="10312400" y="3937000"/>
                  </a:cubicBezTo>
                  <a:lnTo>
                    <a:pt x="304800" y="3937000"/>
                  </a:lnTo>
                  <a:cubicBezTo>
                    <a:pt x="136464" y="3937000"/>
                    <a:pt x="0" y="3800536"/>
                    <a:pt x="0" y="3632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0617200" cy="397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028700" y="1104900"/>
            <a:ext cx="16668750" cy="1150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10"/>
              </a:lnSpc>
            </a:pPr>
            <a:r>
              <a:rPr lang="en-US" sz="81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Functional Design in Practice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362200" y="6848475"/>
            <a:ext cx="6248400" cy="3904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225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Tr</a:t>
            </a:r>
            <a:r>
              <a:rPr lang="en-US" sz="225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anslate Requirements into Kyriba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362200" y="7372350"/>
            <a:ext cx="6248400" cy="1675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Mapped requir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ements to Kyriba functionality</a:t>
            </a:r>
          </a:p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Establ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ished functional behaviour, rules and configuration requirements</a:t>
            </a:r>
          </a:p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Rev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iewed and challenged consultant-designed solutions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09700" y="6600825"/>
            <a:ext cx="875214" cy="920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60"/>
              </a:lnSpc>
            </a:pPr>
            <a:r>
              <a:rPr lang="en-US" sz="54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62200" y="3609975"/>
            <a:ext cx="6248400" cy="3904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225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Requi</a:t>
            </a:r>
            <a:r>
              <a:rPr lang="en-US" sz="225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rements &amp; Stakeholder Alignment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362200" y="4133850"/>
            <a:ext cx="6248400" cy="1675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Cap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tured detailed operational requirements</a:t>
            </a:r>
          </a:p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Challenged existing processes and identified pain points</a:t>
            </a:r>
          </a:p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nverted Treasury needs into functional specifications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09700" y="3362325"/>
            <a:ext cx="875214" cy="920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60"/>
              </a:lnSpc>
            </a:pPr>
            <a:r>
              <a:rPr lang="en-US" sz="54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629900" y="3609975"/>
            <a:ext cx="6248400" cy="3904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225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Workf</a:t>
            </a:r>
            <a:r>
              <a:rPr lang="en-US" sz="225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low &amp; Process Design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629900" y="4133850"/>
            <a:ext cx="6248400" cy="1009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Designed end-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to-end treasury workflows</a:t>
            </a:r>
          </a:p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Establ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ished approval and control points</a:t>
            </a:r>
          </a:p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Identified opportunities to simplify manual activities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677400" y="3362325"/>
            <a:ext cx="875214" cy="920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60"/>
              </a:lnSpc>
            </a:pPr>
            <a:r>
              <a:rPr lang="en-US" sz="54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629900" y="6848475"/>
            <a:ext cx="6248400" cy="3904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225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Testing</a:t>
            </a:r>
            <a:r>
              <a:rPr lang="en-US" sz="225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&amp; Functional Validation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629900" y="7372350"/>
            <a:ext cx="6248400" cy="1342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Reviewed configuration against requir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ements</a:t>
            </a:r>
          </a:p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Supported functional and end-to-end testing</a:t>
            </a:r>
          </a:p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Confirmed that the solution worked from the Treasury user's perspective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677400" y="6600825"/>
            <a:ext cx="875214" cy="920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60"/>
              </a:lnSpc>
            </a:pPr>
            <a:r>
              <a:rPr lang="en-US" sz="54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28700" y="2343150"/>
            <a:ext cx="16192500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Translated treasury requireme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nts into practical Kyriba solutions, balancing operational needs, controls and system capabilities.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493290" y="4865056"/>
            <a:ext cx="3804514" cy="5594880"/>
          </a:xfrm>
          <a:custGeom>
            <a:avLst/>
            <a:gdLst/>
            <a:ahLst/>
            <a:cxnLst/>
            <a:rect r="r" b="b" t="t" l="l"/>
            <a:pathLst>
              <a:path h="5594880" w="3804514">
                <a:moveTo>
                  <a:pt x="3804513" y="0"/>
                </a:moveTo>
                <a:lnTo>
                  <a:pt x="0" y="0"/>
                </a:lnTo>
                <a:lnTo>
                  <a:pt x="0" y="5594880"/>
                </a:lnTo>
                <a:lnTo>
                  <a:pt x="3804513" y="5594880"/>
                </a:lnTo>
                <a:lnTo>
                  <a:pt x="380451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65" r="0" b="-64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219200"/>
            <a:ext cx="13335000" cy="2473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Part 2 — Core Data &amp; Access Setup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4276725"/>
            <a:ext cx="12382500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Establishing the data, security and governance foundation for Kyriba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5180179" y="0"/>
            <a:ext cx="4513686" cy="11241465"/>
          </a:xfrm>
          <a:custGeom>
            <a:avLst/>
            <a:gdLst/>
            <a:ahLst/>
            <a:cxnLst/>
            <a:rect r="r" b="b" t="t" l="l"/>
            <a:pathLst>
              <a:path h="11241465" w="4513686">
                <a:moveTo>
                  <a:pt x="0" y="0"/>
                </a:moveTo>
                <a:lnTo>
                  <a:pt x="4513685" y="0"/>
                </a:lnTo>
                <a:lnTo>
                  <a:pt x="4513685" y="11241465"/>
                </a:lnTo>
                <a:lnTo>
                  <a:pt x="0" y="11241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08491" t="0" r="-164621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66800" y="4000500"/>
            <a:ext cx="1333500" cy="57150"/>
            <a:chOff x="0" y="0"/>
            <a:chExt cx="1778000" cy="76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778000" cy="76200"/>
            </a:xfrm>
            <a:custGeom>
              <a:avLst/>
              <a:gdLst/>
              <a:ahLst/>
              <a:cxnLst/>
              <a:rect r="r" b="b" t="t" l="l"/>
              <a:pathLst>
                <a:path h="76200" w="1778000">
                  <a:moveTo>
                    <a:pt x="0" y="0"/>
                  </a:moveTo>
                  <a:lnTo>
                    <a:pt x="1778000" y="0"/>
                  </a:lnTo>
                  <a:lnTo>
                    <a:pt x="177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0A1B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778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115800" y="4667250"/>
            <a:ext cx="5143500" cy="4191000"/>
            <a:chOff x="0" y="0"/>
            <a:chExt cx="6858000" cy="5588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858000" cy="5588000"/>
            </a:xfrm>
            <a:custGeom>
              <a:avLst/>
              <a:gdLst/>
              <a:ahLst/>
              <a:cxnLst/>
              <a:rect r="r" b="b" t="t" l="l"/>
              <a:pathLst>
                <a:path h="5588000" w="6858000">
                  <a:moveTo>
                    <a:pt x="304800" y="0"/>
                  </a:moveTo>
                  <a:lnTo>
                    <a:pt x="6553200" y="0"/>
                  </a:lnTo>
                  <a:cubicBezTo>
                    <a:pt x="6721536" y="0"/>
                    <a:pt x="6858000" y="136464"/>
                    <a:pt x="6858000" y="304800"/>
                  </a:cubicBezTo>
                  <a:lnTo>
                    <a:pt x="6858000" y="5283200"/>
                  </a:lnTo>
                  <a:cubicBezTo>
                    <a:pt x="6858000" y="5451536"/>
                    <a:pt x="6721536" y="5588000"/>
                    <a:pt x="6553200" y="5588000"/>
                  </a:cubicBezTo>
                  <a:lnTo>
                    <a:pt x="304800" y="5588000"/>
                  </a:lnTo>
                  <a:cubicBezTo>
                    <a:pt x="136464" y="5588000"/>
                    <a:pt x="0" y="5451536"/>
                    <a:pt x="0" y="5283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858000" cy="562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572250" y="4667250"/>
            <a:ext cx="5143500" cy="4191000"/>
            <a:chOff x="0" y="0"/>
            <a:chExt cx="6858000" cy="5588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58000" cy="5588000"/>
            </a:xfrm>
            <a:custGeom>
              <a:avLst/>
              <a:gdLst/>
              <a:ahLst/>
              <a:cxnLst/>
              <a:rect r="r" b="b" t="t" l="l"/>
              <a:pathLst>
                <a:path h="5588000" w="6858000">
                  <a:moveTo>
                    <a:pt x="304800" y="0"/>
                  </a:moveTo>
                  <a:lnTo>
                    <a:pt x="6553200" y="0"/>
                  </a:lnTo>
                  <a:cubicBezTo>
                    <a:pt x="6721536" y="0"/>
                    <a:pt x="6858000" y="136464"/>
                    <a:pt x="6858000" y="304800"/>
                  </a:cubicBezTo>
                  <a:lnTo>
                    <a:pt x="6858000" y="5283200"/>
                  </a:lnTo>
                  <a:cubicBezTo>
                    <a:pt x="6858000" y="5451536"/>
                    <a:pt x="6721536" y="5588000"/>
                    <a:pt x="6553200" y="5588000"/>
                  </a:cubicBezTo>
                  <a:lnTo>
                    <a:pt x="304800" y="5588000"/>
                  </a:lnTo>
                  <a:cubicBezTo>
                    <a:pt x="136464" y="5588000"/>
                    <a:pt x="0" y="5451536"/>
                    <a:pt x="0" y="5283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6858000" cy="562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8700" y="4667250"/>
            <a:ext cx="5143500" cy="4191000"/>
            <a:chOff x="0" y="0"/>
            <a:chExt cx="6858000" cy="5588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858000" cy="5588000"/>
            </a:xfrm>
            <a:custGeom>
              <a:avLst/>
              <a:gdLst/>
              <a:ahLst/>
              <a:cxnLst/>
              <a:rect r="r" b="b" t="t" l="l"/>
              <a:pathLst>
                <a:path h="5588000" w="6858000">
                  <a:moveTo>
                    <a:pt x="304800" y="0"/>
                  </a:moveTo>
                  <a:lnTo>
                    <a:pt x="6553200" y="0"/>
                  </a:lnTo>
                  <a:cubicBezTo>
                    <a:pt x="6721536" y="0"/>
                    <a:pt x="6858000" y="136464"/>
                    <a:pt x="6858000" y="304800"/>
                  </a:cubicBezTo>
                  <a:lnTo>
                    <a:pt x="6858000" y="5283200"/>
                  </a:lnTo>
                  <a:cubicBezTo>
                    <a:pt x="6858000" y="5451536"/>
                    <a:pt x="6721536" y="5588000"/>
                    <a:pt x="6553200" y="5588000"/>
                  </a:cubicBezTo>
                  <a:lnTo>
                    <a:pt x="304800" y="5588000"/>
                  </a:lnTo>
                  <a:cubicBezTo>
                    <a:pt x="136464" y="5588000"/>
                    <a:pt x="0" y="5451536"/>
                    <a:pt x="0" y="52832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6858000" cy="562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2496800" y="5010150"/>
            <a:ext cx="689562" cy="685800"/>
          </a:xfrm>
          <a:custGeom>
            <a:avLst/>
            <a:gdLst/>
            <a:ahLst/>
            <a:cxnLst/>
            <a:rect r="r" b="b" t="t" l="l"/>
            <a:pathLst>
              <a:path h="685800" w="689562">
                <a:moveTo>
                  <a:pt x="0" y="0"/>
                </a:moveTo>
                <a:lnTo>
                  <a:pt x="689562" y="0"/>
                </a:lnTo>
                <a:lnTo>
                  <a:pt x="689562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273" r="0" b="-274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409700" y="5010150"/>
            <a:ext cx="510921" cy="685800"/>
          </a:xfrm>
          <a:custGeom>
            <a:avLst/>
            <a:gdLst/>
            <a:ahLst/>
            <a:cxnLst/>
            <a:rect r="r" b="b" t="t" l="l"/>
            <a:pathLst>
              <a:path h="685800" w="510921">
                <a:moveTo>
                  <a:pt x="0" y="0"/>
                </a:moveTo>
                <a:lnTo>
                  <a:pt x="510921" y="0"/>
                </a:lnTo>
                <a:lnTo>
                  <a:pt x="510921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6953250" y="5010150"/>
            <a:ext cx="685800" cy="685800"/>
          </a:xfrm>
          <a:custGeom>
            <a:avLst/>
            <a:gdLst/>
            <a:ahLst/>
            <a:cxnLst/>
            <a:rect r="r" b="b" t="t" l="l"/>
            <a:pathLst>
              <a:path h="685800" w="685800">
                <a:moveTo>
                  <a:pt x="0" y="0"/>
                </a:moveTo>
                <a:lnTo>
                  <a:pt x="685800" y="0"/>
                </a:lnTo>
                <a:lnTo>
                  <a:pt x="6858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028700" y="1219200"/>
            <a:ext cx="13146306" cy="2474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Building the Kyriba Data Foundation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700" y="3926043"/>
            <a:ext cx="11590121" cy="358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Establishing the core data and configuration required to support Treasury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09700" y="5829300"/>
            <a:ext cx="4381500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Mas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ter Data Definition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09700" y="6305550"/>
            <a:ext cx="4381500" cy="2526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Completed and quality-checked Kyriba-provided templates for entities, banks, bank accounts and third parties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Established </a:t>
            </a: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relationships between core data objects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Conf</a:t>
            </a: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irmed data structures aligned with Treasury operating requirements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953250" y="5829300"/>
            <a:ext cx="4381500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Sys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tem Configuration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953250" y="6305550"/>
            <a:ext cx="4381500" cy="15830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Set main and system currencies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Established transaction types and relevant product structures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Al</a:t>
            </a: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igned product subscriptions with business and user requirements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496800" y="5829300"/>
            <a:ext cx="4381500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Data Qual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ity &amp; Validation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496800" y="6305550"/>
            <a:ext cx="4381500" cy="15830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Reviewed data before system loading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Check</a:t>
            </a: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ed configuration against business requirements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Ensured consistency across entities, accounts and third parties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28700" y="9144000"/>
            <a:ext cx="16230600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8"/>
              </a:lnSpc>
              <a:spcBef>
                <a:spcPct val="0"/>
              </a:spcBef>
            </a:pP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Established the core data model required to support Treasury operations, connectivity and reporting within Kyriba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96400" y="6972300"/>
            <a:ext cx="7962900" cy="2362200"/>
            <a:chOff x="0" y="0"/>
            <a:chExt cx="10617200" cy="3149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617200" cy="3149600"/>
            </a:xfrm>
            <a:custGeom>
              <a:avLst/>
              <a:gdLst/>
              <a:ahLst/>
              <a:cxnLst/>
              <a:rect r="r" b="b" t="t" l="l"/>
              <a:pathLst>
                <a:path h="3149600" w="10617200">
                  <a:moveTo>
                    <a:pt x="304800" y="0"/>
                  </a:moveTo>
                  <a:lnTo>
                    <a:pt x="10312400" y="0"/>
                  </a:lnTo>
                  <a:cubicBezTo>
                    <a:pt x="10480736" y="0"/>
                    <a:pt x="10617200" y="136464"/>
                    <a:pt x="10617200" y="304800"/>
                  </a:cubicBezTo>
                  <a:lnTo>
                    <a:pt x="10617200" y="2844800"/>
                  </a:lnTo>
                  <a:cubicBezTo>
                    <a:pt x="10617200" y="3013136"/>
                    <a:pt x="10480736" y="3149600"/>
                    <a:pt x="10312400" y="3149600"/>
                  </a:cubicBezTo>
                  <a:lnTo>
                    <a:pt x="304800" y="3149600"/>
                  </a:lnTo>
                  <a:cubicBezTo>
                    <a:pt x="136464" y="3149600"/>
                    <a:pt x="0" y="3013136"/>
                    <a:pt x="0" y="28448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0617200" cy="318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6972300"/>
            <a:ext cx="7962900" cy="2362200"/>
            <a:chOff x="0" y="0"/>
            <a:chExt cx="10617200" cy="314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617200" cy="3149600"/>
            </a:xfrm>
            <a:custGeom>
              <a:avLst/>
              <a:gdLst/>
              <a:ahLst/>
              <a:cxnLst/>
              <a:rect r="r" b="b" t="t" l="l"/>
              <a:pathLst>
                <a:path h="3149600" w="10617200">
                  <a:moveTo>
                    <a:pt x="304800" y="0"/>
                  </a:moveTo>
                  <a:lnTo>
                    <a:pt x="10312400" y="0"/>
                  </a:lnTo>
                  <a:cubicBezTo>
                    <a:pt x="10480736" y="0"/>
                    <a:pt x="10617200" y="136464"/>
                    <a:pt x="10617200" y="304800"/>
                  </a:cubicBezTo>
                  <a:lnTo>
                    <a:pt x="10617200" y="2844800"/>
                  </a:lnTo>
                  <a:cubicBezTo>
                    <a:pt x="10617200" y="3013136"/>
                    <a:pt x="10480736" y="3149600"/>
                    <a:pt x="10312400" y="3149600"/>
                  </a:cubicBezTo>
                  <a:lnTo>
                    <a:pt x="304800" y="3149600"/>
                  </a:lnTo>
                  <a:cubicBezTo>
                    <a:pt x="136464" y="3149600"/>
                    <a:pt x="0" y="3013136"/>
                    <a:pt x="0" y="28448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0617200" cy="318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296400" y="4457700"/>
            <a:ext cx="7962900" cy="2362200"/>
            <a:chOff x="0" y="0"/>
            <a:chExt cx="10617200" cy="3149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617200" cy="3149600"/>
            </a:xfrm>
            <a:custGeom>
              <a:avLst/>
              <a:gdLst/>
              <a:ahLst/>
              <a:cxnLst/>
              <a:rect r="r" b="b" t="t" l="l"/>
              <a:pathLst>
                <a:path h="3149600" w="10617200">
                  <a:moveTo>
                    <a:pt x="304800" y="0"/>
                  </a:moveTo>
                  <a:lnTo>
                    <a:pt x="10312400" y="0"/>
                  </a:lnTo>
                  <a:cubicBezTo>
                    <a:pt x="10480736" y="0"/>
                    <a:pt x="10617200" y="136464"/>
                    <a:pt x="10617200" y="304800"/>
                  </a:cubicBezTo>
                  <a:lnTo>
                    <a:pt x="10617200" y="2844800"/>
                  </a:lnTo>
                  <a:cubicBezTo>
                    <a:pt x="10617200" y="3013136"/>
                    <a:pt x="10480736" y="3149600"/>
                    <a:pt x="10312400" y="3149600"/>
                  </a:cubicBezTo>
                  <a:lnTo>
                    <a:pt x="304800" y="3149600"/>
                  </a:lnTo>
                  <a:cubicBezTo>
                    <a:pt x="136464" y="3149600"/>
                    <a:pt x="0" y="3013136"/>
                    <a:pt x="0" y="28448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0617200" cy="318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28700" y="4457700"/>
            <a:ext cx="7962900" cy="2362200"/>
            <a:chOff x="0" y="0"/>
            <a:chExt cx="10617200" cy="3149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617200" cy="3149600"/>
            </a:xfrm>
            <a:custGeom>
              <a:avLst/>
              <a:gdLst/>
              <a:ahLst/>
              <a:cxnLst/>
              <a:rect r="r" b="b" t="t" l="l"/>
              <a:pathLst>
                <a:path h="3149600" w="10617200">
                  <a:moveTo>
                    <a:pt x="304800" y="0"/>
                  </a:moveTo>
                  <a:lnTo>
                    <a:pt x="10312400" y="0"/>
                  </a:lnTo>
                  <a:cubicBezTo>
                    <a:pt x="10480736" y="0"/>
                    <a:pt x="10617200" y="136464"/>
                    <a:pt x="10617200" y="304800"/>
                  </a:cubicBezTo>
                  <a:lnTo>
                    <a:pt x="10617200" y="2844800"/>
                  </a:lnTo>
                  <a:cubicBezTo>
                    <a:pt x="10617200" y="3013136"/>
                    <a:pt x="10480736" y="3149600"/>
                    <a:pt x="10312400" y="3149600"/>
                  </a:cubicBezTo>
                  <a:lnTo>
                    <a:pt x="304800" y="3149600"/>
                  </a:lnTo>
                  <a:cubicBezTo>
                    <a:pt x="136464" y="3149600"/>
                    <a:pt x="0" y="3013136"/>
                    <a:pt x="0" y="2844800"/>
                  </a:cubicBezTo>
                  <a:lnTo>
                    <a:pt x="0" y="304800"/>
                  </a:lnTo>
                  <a:cubicBezTo>
                    <a:pt x="0" y="136464"/>
                    <a:pt x="136464" y="0"/>
                    <a:pt x="304800" y="0"/>
                  </a:cubicBezTo>
                  <a:close/>
                </a:path>
              </a:pathLst>
            </a:custGeom>
            <a:solidFill>
              <a:srgbClr val="EFF1E8">
                <a:alpha val="14902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0617200" cy="318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371600" y="4762500"/>
            <a:ext cx="508635" cy="571500"/>
          </a:xfrm>
          <a:custGeom>
            <a:avLst/>
            <a:gdLst/>
            <a:ahLst/>
            <a:cxnLst/>
            <a:rect r="r" b="b" t="t" l="l"/>
            <a:pathLst>
              <a:path h="571500" w="508635">
                <a:moveTo>
                  <a:pt x="0" y="0"/>
                </a:moveTo>
                <a:lnTo>
                  <a:pt x="508635" y="0"/>
                </a:lnTo>
                <a:lnTo>
                  <a:pt x="508635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639300" y="4762500"/>
            <a:ext cx="545783" cy="571500"/>
          </a:xfrm>
          <a:custGeom>
            <a:avLst/>
            <a:gdLst/>
            <a:ahLst/>
            <a:cxnLst/>
            <a:rect r="r" b="b" t="t" l="l"/>
            <a:pathLst>
              <a:path h="571500" w="545783">
                <a:moveTo>
                  <a:pt x="0" y="0"/>
                </a:moveTo>
                <a:lnTo>
                  <a:pt x="545782" y="0"/>
                </a:lnTo>
                <a:lnTo>
                  <a:pt x="545782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71600" y="7277100"/>
            <a:ext cx="571500" cy="571500"/>
          </a:xfrm>
          <a:custGeom>
            <a:avLst/>
            <a:gdLst/>
            <a:ahLst/>
            <a:cxnLst/>
            <a:rect r="r" b="b" t="t" l="l"/>
            <a:pathLst>
              <a:path h="571500" w="571500">
                <a:moveTo>
                  <a:pt x="0" y="0"/>
                </a:moveTo>
                <a:lnTo>
                  <a:pt x="571500" y="0"/>
                </a:lnTo>
                <a:lnTo>
                  <a:pt x="5715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9639300" y="7277100"/>
            <a:ext cx="460058" cy="571500"/>
          </a:xfrm>
          <a:custGeom>
            <a:avLst/>
            <a:gdLst/>
            <a:ahLst/>
            <a:cxnLst/>
            <a:rect r="r" b="b" t="t" l="l"/>
            <a:pathLst>
              <a:path h="571500" w="460058">
                <a:moveTo>
                  <a:pt x="0" y="0"/>
                </a:moveTo>
                <a:lnTo>
                  <a:pt x="460058" y="0"/>
                </a:lnTo>
                <a:lnTo>
                  <a:pt x="460058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028700" y="1219200"/>
            <a:ext cx="13146306" cy="2474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Access, Controls &amp; Self-Service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28700" y="3926043"/>
            <a:ext cx="11590121" cy="3587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Establishing a controlled access model with Treasury-led system administration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171700" y="4648200"/>
            <a:ext cx="6572250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Us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er Profiles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171700" y="5086350"/>
            <a:ext cx="6572250" cy="95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Defined access requirements across different </a:t>
            </a: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user types: for example, Client User, Treasury User, Admin User or View-Only-User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439400" y="4648200"/>
            <a:ext cx="6572250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Roles &amp; P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ermissions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439400" y="5086350"/>
            <a:ext cx="6572250" cy="1268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Designed role-based access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Defined permissions according to responsibilities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Established appropriate access boundaries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Al</a:t>
            </a: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igned access with segregation-of-duties requirements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171700" y="7162800"/>
            <a:ext cx="6572250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Approval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 &amp; Control Framework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171700" y="7600950"/>
            <a:ext cx="6572250" cy="1268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Defined approval workflows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Established segregation of duties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Aligned permissions and approval levels with Treasury controls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28700" y="9505950"/>
            <a:ext cx="16230600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8"/>
              </a:lnSpc>
              <a:spcBef>
                <a:spcPct val="0"/>
              </a:spcBef>
            </a:pPr>
            <a:r>
              <a:rPr lang="en-US" sz="1998" i="tru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De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si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gn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ed 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a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co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nt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r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oll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ed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a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ccess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model 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wh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i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l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e 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enabling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Treasury to 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i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n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depe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n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d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e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n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t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ly ma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i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n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t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ain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and e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v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o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lve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th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e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Kyriba</a:t>
            </a:r>
            <a:r>
              <a:rPr lang="en-US" sz="1998" i="true" strike="noStrike" u="none">
                <a:solidFill>
                  <a:srgbClr val="EFF1E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environment.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439400" y="7162800"/>
            <a:ext cx="6572250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Treasury-Led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 Administration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439400" y="7600950"/>
            <a:ext cx="6572250" cy="15830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Treasury Operations maintained day-to-day Kyriba administration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Managed users, roles, permissions and system data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Performed ongoing configuration and maintenance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Escalated technical components requiring IT support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493290" y="4865056"/>
            <a:ext cx="3804514" cy="5594880"/>
          </a:xfrm>
          <a:custGeom>
            <a:avLst/>
            <a:gdLst/>
            <a:ahLst/>
            <a:cxnLst/>
            <a:rect r="r" b="b" t="t" l="l"/>
            <a:pathLst>
              <a:path h="5594880" w="3804514">
                <a:moveTo>
                  <a:pt x="3804513" y="0"/>
                </a:moveTo>
                <a:lnTo>
                  <a:pt x="0" y="0"/>
                </a:lnTo>
                <a:lnTo>
                  <a:pt x="0" y="5594880"/>
                </a:lnTo>
                <a:lnTo>
                  <a:pt x="3804513" y="5594880"/>
                </a:lnTo>
                <a:lnTo>
                  <a:pt x="380451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65" r="0" b="-64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219200"/>
            <a:ext cx="13335000" cy="2473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Part 3 — Technical Integrations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4276725"/>
            <a:ext cx="12382500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Connecting Kyriba to the wider Treasury and financial ecosystem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5180179" y="0"/>
            <a:ext cx="4513686" cy="11241465"/>
          </a:xfrm>
          <a:custGeom>
            <a:avLst/>
            <a:gdLst/>
            <a:ahLst/>
            <a:cxnLst/>
            <a:rect r="r" b="b" t="t" l="l"/>
            <a:pathLst>
              <a:path h="11241465" w="4513686">
                <a:moveTo>
                  <a:pt x="0" y="0"/>
                </a:moveTo>
                <a:lnTo>
                  <a:pt x="4513685" y="0"/>
                </a:lnTo>
                <a:lnTo>
                  <a:pt x="4513685" y="11241465"/>
                </a:lnTo>
                <a:lnTo>
                  <a:pt x="0" y="11241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08491" t="0" r="-164621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66800" y="4000500"/>
            <a:ext cx="1333500" cy="57150"/>
            <a:chOff x="0" y="0"/>
            <a:chExt cx="1778000" cy="76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778000" cy="76200"/>
            </a:xfrm>
            <a:custGeom>
              <a:avLst/>
              <a:gdLst/>
              <a:ahLst/>
              <a:cxnLst/>
              <a:rect r="r" b="b" t="t" l="l"/>
              <a:pathLst>
                <a:path h="76200" w="1778000">
                  <a:moveTo>
                    <a:pt x="0" y="0"/>
                  </a:moveTo>
                  <a:lnTo>
                    <a:pt x="1778000" y="0"/>
                  </a:lnTo>
                  <a:lnTo>
                    <a:pt x="177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0A1B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778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114425"/>
            <a:ext cx="16192500" cy="1244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652"/>
              </a:lnSpc>
              <a:spcBef>
                <a:spcPct val="0"/>
              </a:spcBef>
            </a:pPr>
            <a:r>
              <a:rPr lang="en-US" b="true" sz="8775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</a:t>
            </a:r>
            <a:r>
              <a:rPr lang="en-US" b="true" sz="8775" strike="noStrike" u="non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ntegration Landscape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524000" y="3619500"/>
            <a:ext cx="15233950" cy="5806699"/>
            <a:chOff x="0" y="0"/>
            <a:chExt cx="20311933" cy="774226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6562670" y="399355"/>
              <a:ext cx="7207231" cy="7207231"/>
            </a:xfrm>
            <a:custGeom>
              <a:avLst/>
              <a:gdLst/>
              <a:ahLst/>
              <a:cxnLst/>
              <a:rect r="r" b="b" t="t" l="l"/>
              <a:pathLst>
                <a:path h="7207231" w="7207231">
                  <a:moveTo>
                    <a:pt x="0" y="0"/>
                  </a:moveTo>
                  <a:lnTo>
                    <a:pt x="7207231" y="0"/>
                  </a:lnTo>
                  <a:lnTo>
                    <a:pt x="7207231" y="7207231"/>
                  </a:lnTo>
                  <a:lnTo>
                    <a:pt x="0" y="72072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grpSp>
          <p:nvGrpSpPr>
            <p:cNvPr name="Group 5" id="5"/>
            <p:cNvGrpSpPr/>
            <p:nvPr/>
          </p:nvGrpSpPr>
          <p:grpSpPr>
            <a:xfrm rot="0">
              <a:off x="7529762" y="1366447"/>
              <a:ext cx="5273048" cy="5273048"/>
              <a:chOff x="0" y="0"/>
              <a:chExt cx="812800" cy="812800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FF1E9"/>
              </a:solid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756"/>
                  </a:lnSpc>
                </a:pPr>
              </a:p>
            </p:txBody>
          </p:sp>
        </p:grpSp>
        <p:grpSp>
          <p:nvGrpSpPr>
            <p:cNvPr name="Group 8" id="8"/>
            <p:cNvGrpSpPr/>
            <p:nvPr/>
          </p:nvGrpSpPr>
          <p:grpSpPr>
            <a:xfrm rot="0">
              <a:off x="12337530" y="6262556"/>
              <a:ext cx="598139" cy="598139"/>
              <a:chOff x="0" y="0"/>
              <a:chExt cx="812800" cy="8128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675" cap="sq">
                <a:solidFill>
                  <a:srgbClr val="E6BE6F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756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1" id="11"/>
            <p:cNvGrpSpPr/>
            <p:nvPr/>
          </p:nvGrpSpPr>
          <p:grpSpPr>
            <a:xfrm rot="0">
              <a:off x="12287915" y="1114819"/>
              <a:ext cx="598139" cy="598139"/>
              <a:chOff x="0" y="0"/>
              <a:chExt cx="812800" cy="8128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675" cap="sq">
                <a:solidFill>
                  <a:srgbClr val="91DFB1"/>
                </a:solidFill>
                <a:prstDash val="solid"/>
                <a:miter/>
              </a:ln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756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4" id="14"/>
            <p:cNvGrpSpPr/>
            <p:nvPr/>
          </p:nvGrpSpPr>
          <p:grpSpPr>
            <a:xfrm rot="0">
              <a:off x="7360127" y="6312290"/>
              <a:ext cx="598139" cy="598139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675" cap="sq">
                <a:solidFill>
                  <a:srgbClr val="63B1DB"/>
                </a:solidFill>
                <a:prstDash val="solid"/>
                <a:miter/>
              </a:ln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756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7" id="17"/>
            <p:cNvGrpSpPr/>
            <p:nvPr/>
          </p:nvGrpSpPr>
          <p:grpSpPr>
            <a:xfrm rot="0">
              <a:off x="0" y="0"/>
              <a:ext cx="6790647" cy="2093859"/>
              <a:chOff x="0" y="0"/>
              <a:chExt cx="1467458" cy="452483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467458" cy="452483"/>
              </a:xfrm>
              <a:custGeom>
                <a:avLst/>
                <a:gdLst/>
                <a:ahLst/>
                <a:cxnLst/>
                <a:rect r="r" b="b" t="t" l="l"/>
                <a:pathLst>
                  <a:path h="452483" w="1467458">
                    <a:moveTo>
                      <a:pt x="1264258" y="0"/>
                    </a:moveTo>
                    <a:cubicBezTo>
                      <a:pt x="1376482" y="0"/>
                      <a:pt x="1467458" y="101292"/>
                      <a:pt x="1467458" y="226241"/>
                    </a:cubicBezTo>
                    <a:cubicBezTo>
                      <a:pt x="1467458" y="351191"/>
                      <a:pt x="1376482" y="452483"/>
                      <a:pt x="1264258" y="452483"/>
                    </a:cubicBezTo>
                    <a:lnTo>
                      <a:pt x="203200" y="452483"/>
                    </a:lnTo>
                    <a:cubicBezTo>
                      <a:pt x="90976" y="452483"/>
                      <a:pt x="0" y="351191"/>
                      <a:pt x="0" y="226241"/>
                    </a:cubicBezTo>
                    <a:cubicBezTo>
                      <a:pt x="0" y="101292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EFF1E8"/>
              </a:solidFill>
              <a:ln w="66675" cap="sq">
                <a:solidFill>
                  <a:srgbClr val="EFF1E9"/>
                </a:solidFill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38100"/>
                <a:ext cx="1467458" cy="49058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756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0" id="20"/>
            <p:cNvGrpSpPr/>
            <p:nvPr/>
          </p:nvGrpSpPr>
          <p:grpSpPr>
            <a:xfrm rot="-10800000">
              <a:off x="5561085" y="387635"/>
              <a:ext cx="1589124" cy="1369975"/>
              <a:chOff x="0" y="0"/>
              <a:chExt cx="1290485" cy="111252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1290485" cy="1113790"/>
              </a:xfrm>
              <a:custGeom>
                <a:avLst/>
                <a:gdLst/>
                <a:ahLst/>
                <a:cxnLst/>
                <a:rect r="r" b="b" t="t" l="l"/>
                <a:pathLst>
                  <a:path h="1113790" w="1290485">
                    <a:moveTo>
                      <a:pt x="738035" y="0"/>
                    </a:moveTo>
                    <a:lnTo>
                      <a:pt x="553720" y="0"/>
                    </a:lnTo>
                    <a:cubicBezTo>
                      <a:pt x="247650" y="0"/>
                      <a:pt x="0" y="247650"/>
                      <a:pt x="0" y="553720"/>
                    </a:cubicBezTo>
                    <a:cubicBezTo>
                      <a:pt x="0" y="859790"/>
                      <a:pt x="247650" y="1107440"/>
                      <a:pt x="553720" y="1107440"/>
                    </a:cubicBezTo>
                    <a:lnTo>
                      <a:pt x="738035" y="1113790"/>
                    </a:lnTo>
                    <a:lnTo>
                      <a:pt x="1290485" y="558800"/>
                    </a:lnTo>
                    <a:lnTo>
                      <a:pt x="738035" y="0"/>
                    </a:lnTo>
                    <a:close/>
                  </a:path>
                </a:pathLst>
              </a:custGeom>
              <a:solidFill>
                <a:srgbClr val="9397D8"/>
              </a:solidFill>
            </p:spPr>
          </p:sp>
        </p:grpSp>
        <p:grpSp>
          <p:nvGrpSpPr>
            <p:cNvPr name="Group 22" id="22"/>
            <p:cNvGrpSpPr/>
            <p:nvPr/>
          </p:nvGrpSpPr>
          <p:grpSpPr>
            <a:xfrm rot="0">
              <a:off x="7360127" y="1136568"/>
              <a:ext cx="598139" cy="598139"/>
              <a:chOff x="0" y="0"/>
              <a:chExt cx="812800" cy="8128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  <a:ln w="66675" cap="sq">
                <a:solidFill>
                  <a:srgbClr val="9397D8"/>
                </a:solidFill>
                <a:prstDash val="solid"/>
                <a:miter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756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0">
              <a:off x="12747" y="5572075"/>
              <a:ext cx="6790647" cy="2093859"/>
              <a:chOff x="0" y="0"/>
              <a:chExt cx="1467458" cy="452483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467458" cy="452483"/>
              </a:xfrm>
              <a:custGeom>
                <a:avLst/>
                <a:gdLst/>
                <a:ahLst/>
                <a:cxnLst/>
                <a:rect r="r" b="b" t="t" l="l"/>
                <a:pathLst>
                  <a:path h="452483" w="1467458">
                    <a:moveTo>
                      <a:pt x="1264258" y="0"/>
                    </a:moveTo>
                    <a:cubicBezTo>
                      <a:pt x="1376482" y="0"/>
                      <a:pt x="1467458" y="101292"/>
                      <a:pt x="1467458" y="226241"/>
                    </a:cubicBezTo>
                    <a:cubicBezTo>
                      <a:pt x="1467458" y="351191"/>
                      <a:pt x="1376482" y="452483"/>
                      <a:pt x="1264258" y="452483"/>
                    </a:cubicBezTo>
                    <a:lnTo>
                      <a:pt x="203200" y="452483"/>
                    </a:lnTo>
                    <a:cubicBezTo>
                      <a:pt x="90976" y="452483"/>
                      <a:pt x="0" y="351191"/>
                      <a:pt x="0" y="226241"/>
                    </a:cubicBezTo>
                    <a:cubicBezTo>
                      <a:pt x="0" y="101292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EFF1E8"/>
              </a:solidFill>
              <a:ln w="66675" cap="sq">
                <a:solidFill>
                  <a:srgbClr val="EFF1E9"/>
                </a:solidFill>
                <a:prstDash val="solid"/>
                <a:miter/>
              </a:ln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38100"/>
                <a:ext cx="1467458" cy="49058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756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28" id="28"/>
            <p:cNvGrpSpPr/>
            <p:nvPr/>
          </p:nvGrpSpPr>
          <p:grpSpPr>
            <a:xfrm rot="-10800000">
              <a:off x="5573832" y="5959710"/>
              <a:ext cx="1589124" cy="1369975"/>
              <a:chOff x="0" y="0"/>
              <a:chExt cx="1290485" cy="111252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290485" cy="1113790"/>
              </a:xfrm>
              <a:custGeom>
                <a:avLst/>
                <a:gdLst/>
                <a:ahLst/>
                <a:cxnLst/>
                <a:rect r="r" b="b" t="t" l="l"/>
                <a:pathLst>
                  <a:path h="1113790" w="1290485">
                    <a:moveTo>
                      <a:pt x="738035" y="0"/>
                    </a:moveTo>
                    <a:lnTo>
                      <a:pt x="553720" y="0"/>
                    </a:lnTo>
                    <a:cubicBezTo>
                      <a:pt x="247650" y="0"/>
                      <a:pt x="0" y="247650"/>
                      <a:pt x="0" y="553720"/>
                    </a:cubicBezTo>
                    <a:cubicBezTo>
                      <a:pt x="0" y="859790"/>
                      <a:pt x="247650" y="1107440"/>
                      <a:pt x="553720" y="1107440"/>
                    </a:cubicBezTo>
                    <a:lnTo>
                      <a:pt x="738035" y="1113790"/>
                    </a:lnTo>
                    <a:lnTo>
                      <a:pt x="1290485" y="558800"/>
                    </a:lnTo>
                    <a:lnTo>
                      <a:pt x="738035" y="0"/>
                    </a:lnTo>
                    <a:close/>
                  </a:path>
                </a:pathLst>
              </a:custGeom>
              <a:solidFill>
                <a:srgbClr val="63B1DB"/>
              </a:solidFill>
            </p:spPr>
          </p:sp>
        </p:grpSp>
        <p:grpSp>
          <p:nvGrpSpPr>
            <p:cNvPr name="Group 30" id="30"/>
            <p:cNvGrpSpPr/>
            <p:nvPr/>
          </p:nvGrpSpPr>
          <p:grpSpPr>
            <a:xfrm rot="0">
              <a:off x="13495885" y="0"/>
              <a:ext cx="6790647" cy="2093859"/>
              <a:chOff x="0" y="0"/>
              <a:chExt cx="1467458" cy="452483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1467458" cy="452483"/>
              </a:xfrm>
              <a:custGeom>
                <a:avLst/>
                <a:gdLst/>
                <a:ahLst/>
                <a:cxnLst/>
                <a:rect r="r" b="b" t="t" l="l"/>
                <a:pathLst>
                  <a:path h="452483" w="1467458">
                    <a:moveTo>
                      <a:pt x="1264258" y="0"/>
                    </a:moveTo>
                    <a:cubicBezTo>
                      <a:pt x="1376482" y="0"/>
                      <a:pt x="1467458" y="101292"/>
                      <a:pt x="1467458" y="226241"/>
                    </a:cubicBezTo>
                    <a:cubicBezTo>
                      <a:pt x="1467458" y="351191"/>
                      <a:pt x="1376482" y="452483"/>
                      <a:pt x="1264258" y="452483"/>
                    </a:cubicBezTo>
                    <a:lnTo>
                      <a:pt x="203200" y="452483"/>
                    </a:lnTo>
                    <a:cubicBezTo>
                      <a:pt x="90976" y="452483"/>
                      <a:pt x="0" y="351191"/>
                      <a:pt x="0" y="226241"/>
                    </a:cubicBezTo>
                    <a:cubicBezTo>
                      <a:pt x="0" y="101292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EFF1E8"/>
              </a:solidFill>
              <a:ln w="66675" cap="sq">
                <a:solidFill>
                  <a:srgbClr val="EFF1E9"/>
                </a:solidFill>
                <a:prstDash val="solid"/>
                <a:miter/>
              </a:ln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0" y="-38100"/>
                <a:ext cx="1467458" cy="49058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756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13101954" y="387635"/>
              <a:ext cx="1589124" cy="1369975"/>
              <a:chOff x="0" y="0"/>
              <a:chExt cx="1290485" cy="111252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1290485" cy="1113790"/>
              </a:xfrm>
              <a:custGeom>
                <a:avLst/>
                <a:gdLst/>
                <a:ahLst/>
                <a:cxnLst/>
                <a:rect r="r" b="b" t="t" l="l"/>
                <a:pathLst>
                  <a:path h="1113790" w="1290485">
                    <a:moveTo>
                      <a:pt x="738035" y="0"/>
                    </a:moveTo>
                    <a:lnTo>
                      <a:pt x="553720" y="0"/>
                    </a:lnTo>
                    <a:cubicBezTo>
                      <a:pt x="247650" y="0"/>
                      <a:pt x="0" y="247650"/>
                      <a:pt x="0" y="553720"/>
                    </a:cubicBezTo>
                    <a:cubicBezTo>
                      <a:pt x="0" y="859790"/>
                      <a:pt x="247650" y="1107440"/>
                      <a:pt x="553720" y="1107440"/>
                    </a:cubicBezTo>
                    <a:lnTo>
                      <a:pt x="738035" y="1113790"/>
                    </a:lnTo>
                    <a:lnTo>
                      <a:pt x="1290485" y="558800"/>
                    </a:lnTo>
                    <a:lnTo>
                      <a:pt x="738035" y="0"/>
                    </a:lnTo>
                    <a:close/>
                  </a:path>
                </a:pathLst>
              </a:custGeom>
              <a:solidFill>
                <a:srgbClr val="91DFB1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13521285" y="5572075"/>
              <a:ext cx="6790647" cy="2093859"/>
              <a:chOff x="0" y="0"/>
              <a:chExt cx="1467458" cy="452483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1467458" cy="452483"/>
              </a:xfrm>
              <a:custGeom>
                <a:avLst/>
                <a:gdLst/>
                <a:ahLst/>
                <a:cxnLst/>
                <a:rect r="r" b="b" t="t" l="l"/>
                <a:pathLst>
                  <a:path h="452483" w="1467458">
                    <a:moveTo>
                      <a:pt x="1264258" y="0"/>
                    </a:moveTo>
                    <a:cubicBezTo>
                      <a:pt x="1376482" y="0"/>
                      <a:pt x="1467458" y="101292"/>
                      <a:pt x="1467458" y="226241"/>
                    </a:cubicBezTo>
                    <a:cubicBezTo>
                      <a:pt x="1467458" y="351191"/>
                      <a:pt x="1376482" y="452483"/>
                      <a:pt x="1264258" y="452483"/>
                    </a:cubicBezTo>
                    <a:lnTo>
                      <a:pt x="203200" y="452483"/>
                    </a:lnTo>
                    <a:cubicBezTo>
                      <a:pt x="90976" y="452483"/>
                      <a:pt x="0" y="351191"/>
                      <a:pt x="0" y="226241"/>
                    </a:cubicBezTo>
                    <a:cubicBezTo>
                      <a:pt x="0" y="101292"/>
                      <a:pt x="90976" y="0"/>
                      <a:pt x="203200" y="0"/>
                    </a:cubicBezTo>
                    <a:close/>
                  </a:path>
                </a:pathLst>
              </a:custGeom>
              <a:solidFill>
                <a:srgbClr val="EFF1E8"/>
              </a:solidFill>
              <a:ln w="66675" cap="sq">
                <a:solidFill>
                  <a:srgbClr val="EFF1E9"/>
                </a:solidFill>
                <a:prstDash val="solid"/>
                <a:miter/>
              </a:ln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38100"/>
                <a:ext cx="1467458" cy="49058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756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0">
              <a:off x="13127354" y="5959710"/>
              <a:ext cx="1589124" cy="1369975"/>
              <a:chOff x="0" y="0"/>
              <a:chExt cx="1290485" cy="111252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1290485" cy="1113790"/>
              </a:xfrm>
              <a:custGeom>
                <a:avLst/>
                <a:gdLst/>
                <a:ahLst/>
                <a:cxnLst/>
                <a:rect r="r" b="b" t="t" l="l"/>
                <a:pathLst>
                  <a:path h="1113790" w="1290485">
                    <a:moveTo>
                      <a:pt x="738035" y="0"/>
                    </a:moveTo>
                    <a:lnTo>
                      <a:pt x="553720" y="0"/>
                    </a:lnTo>
                    <a:cubicBezTo>
                      <a:pt x="247650" y="0"/>
                      <a:pt x="0" y="247650"/>
                      <a:pt x="0" y="553720"/>
                    </a:cubicBezTo>
                    <a:cubicBezTo>
                      <a:pt x="0" y="859790"/>
                      <a:pt x="247650" y="1107440"/>
                      <a:pt x="553720" y="1107440"/>
                    </a:cubicBezTo>
                    <a:lnTo>
                      <a:pt x="738035" y="1113790"/>
                    </a:lnTo>
                    <a:lnTo>
                      <a:pt x="1290485" y="558800"/>
                    </a:lnTo>
                    <a:lnTo>
                      <a:pt x="738035" y="0"/>
                    </a:lnTo>
                    <a:close/>
                  </a:path>
                </a:pathLst>
              </a:custGeom>
              <a:solidFill>
                <a:srgbClr val="E6BE6F"/>
              </a:solidFill>
            </p:spPr>
          </p:sp>
        </p:grpSp>
        <p:sp>
          <p:nvSpPr>
            <p:cNvPr name="Freeform 40" id="40"/>
            <p:cNvSpPr/>
            <p:nvPr/>
          </p:nvSpPr>
          <p:spPr>
            <a:xfrm flipH="false" flipV="false" rot="0">
              <a:off x="6073160" y="531769"/>
              <a:ext cx="855167" cy="1030322"/>
            </a:xfrm>
            <a:custGeom>
              <a:avLst/>
              <a:gdLst/>
              <a:ahLst/>
              <a:cxnLst/>
              <a:rect r="r" b="b" t="t" l="l"/>
              <a:pathLst>
                <a:path h="1030322" w="855167">
                  <a:moveTo>
                    <a:pt x="0" y="0"/>
                  </a:moveTo>
                  <a:lnTo>
                    <a:pt x="855167" y="0"/>
                  </a:lnTo>
                  <a:lnTo>
                    <a:pt x="855167" y="1030322"/>
                  </a:lnTo>
                  <a:lnTo>
                    <a:pt x="0" y="10303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13231889" y="605543"/>
              <a:ext cx="1083565" cy="1018552"/>
            </a:xfrm>
            <a:custGeom>
              <a:avLst/>
              <a:gdLst/>
              <a:ahLst/>
              <a:cxnLst/>
              <a:rect r="r" b="b" t="t" l="l"/>
              <a:pathLst>
                <a:path h="1018552" w="1083565">
                  <a:moveTo>
                    <a:pt x="0" y="0"/>
                  </a:moveTo>
                  <a:lnTo>
                    <a:pt x="1083565" y="0"/>
                  </a:lnTo>
                  <a:lnTo>
                    <a:pt x="1083565" y="1018552"/>
                  </a:lnTo>
                  <a:lnTo>
                    <a:pt x="0" y="1018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2" id="42"/>
            <p:cNvSpPr/>
            <p:nvPr/>
          </p:nvSpPr>
          <p:spPr>
            <a:xfrm flipH="false" flipV="false" rot="0">
              <a:off x="5978520" y="6299731"/>
              <a:ext cx="1013426" cy="623257"/>
            </a:xfrm>
            <a:custGeom>
              <a:avLst/>
              <a:gdLst/>
              <a:ahLst/>
              <a:cxnLst/>
              <a:rect r="r" b="b" t="t" l="l"/>
              <a:pathLst>
                <a:path h="623257" w="1013426">
                  <a:moveTo>
                    <a:pt x="0" y="0"/>
                  </a:moveTo>
                  <a:lnTo>
                    <a:pt x="1013426" y="0"/>
                  </a:lnTo>
                  <a:lnTo>
                    <a:pt x="1013426" y="623257"/>
                  </a:lnTo>
                  <a:lnTo>
                    <a:pt x="0" y="6232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13391405" y="6210746"/>
              <a:ext cx="800472" cy="884499"/>
            </a:xfrm>
            <a:custGeom>
              <a:avLst/>
              <a:gdLst/>
              <a:ahLst/>
              <a:cxnLst/>
              <a:rect r="r" b="b" t="t" l="l"/>
              <a:pathLst>
                <a:path h="884499" w="800472">
                  <a:moveTo>
                    <a:pt x="0" y="0"/>
                  </a:moveTo>
                  <a:lnTo>
                    <a:pt x="800472" y="0"/>
                  </a:lnTo>
                  <a:lnTo>
                    <a:pt x="800472" y="884499"/>
                  </a:lnTo>
                  <a:lnTo>
                    <a:pt x="0" y="8844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 rot="0">
              <a:off x="733637" y="601374"/>
              <a:ext cx="4548049" cy="13589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98"/>
                </a:lnSpc>
              </a:pPr>
              <a:r>
                <a:rPr lang="en-US" sz="1499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Payment processing</a:t>
              </a:r>
            </a:p>
            <a:p>
              <a:pPr algn="l" marL="0" indent="0" lvl="0">
                <a:lnSpc>
                  <a:spcPts val="2098"/>
                </a:lnSpc>
                <a:spcBef>
                  <a:spcPct val="0"/>
                </a:spcBef>
              </a:pP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Bank statements</a:t>
              </a:r>
            </a:p>
            <a:p>
              <a:pPr algn="l" marL="0" indent="0" lvl="0">
                <a:lnSpc>
                  <a:spcPts val="2098"/>
                </a:lnSpc>
                <a:spcBef>
                  <a:spcPct val="0"/>
                </a:spcBef>
              </a:pP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Reconciliations</a:t>
              </a:r>
            </a:p>
            <a:p>
              <a:pPr algn="l" marL="0" indent="0" lvl="0">
                <a:lnSpc>
                  <a:spcPts val="2098"/>
                </a:lnSpc>
                <a:spcBef>
                  <a:spcPct val="0"/>
                </a:spcBef>
              </a:pP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733637" y="26689"/>
              <a:ext cx="3994336" cy="4592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798"/>
                </a:lnSpc>
                <a:spcBef>
                  <a:spcPct val="0"/>
                </a:spcBef>
              </a:pPr>
              <a:r>
                <a:rPr lang="en-US" b="true" sz="1998" strike="noStrike" u="none">
                  <a:solidFill>
                    <a:srgbClr val="70A1BD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Bank</a:t>
              </a:r>
              <a:r>
                <a:rPr lang="en-US" b="true" sz="1998" strike="noStrike" u="none">
                  <a:solidFill>
                    <a:srgbClr val="70A1BD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ing &amp; Payment</a:t>
              </a:r>
              <a:r>
                <a:rPr lang="en-US" b="true" sz="1998" strike="noStrike" u="none">
                  <a:solidFill>
                    <a:srgbClr val="70A1BD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653396" y="6383331"/>
              <a:ext cx="4548049" cy="13589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098"/>
                </a:lnSpc>
                <a:spcBef>
                  <a:spcPct val="0"/>
                </a:spcBef>
              </a:pP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Trading platforms</a:t>
              </a:r>
            </a:p>
            <a:p>
              <a:pPr algn="l" marL="0" indent="0" lvl="0">
                <a:lnSpc>
                  <a:spcPts val="2098"/>
                </a:lnSpc>
                <a:spcBef>
                  <a:spcPct val="0"/>
                </a:spcBef>
              </a:pP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Trade capture</a:t>
              </a:r>
            </a:p>
            <a:p>
              <a:pPr algn="l" marL="0" indent="0" lvl="0">
                <a:lnSpc>
                  <a:spcPts val="2098"/>
                </a:lnSpc>
                <a:spcBef>
                  <a:spcPct val="0"/>
                </a:spcBef>
              </a:pP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Custodian bank connectivity</a:t>
              </a:r>
            </a:p>
            <a:p>
              <a:pPr algn="l" marL="0" indent="0" lvl="0">
                <a:lnSpc>
                  <a:spcPts val="2098"/>
                </a:lnSpc>
                <a:spcBef>
                  <a:spcPct val="0"/>
                </a:spcBef>
              </a:pP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653396" y="5748729"/>
              <a:ext cx="3602784" cy="4628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798"/>
                </a:lnSpc>
                <a:spcBef>
                  <a:spcPct val="0"/>
                </a:spcBef>
              </a:pPr>
              <a:r>
                <a:rPr lang="en-US" b="true" sz="1998">
                  <a:solidFill>
                    <a:srgbClr val="70A1BD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Trade Management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0">
              <a:off x="14906978" y="666285"/>
              <a:ext cx="4548049" cy="10160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98"/>
                </a:lnSpc>
              </a:pPr>
              <a:r>
                <a:rPr lang="en-US" sz="1499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Cash Accounting</a:t>
              </a:r>
            </a:p>
            <a:p>
              <a:pPr algn="l" marL="0" indent="0" lvl="0">
                <a:lnSpc>
                  <a:spcPts val="2098"/>
                </a:lnSpc>
                <a:spcBef>
                  <a:spcPct val="0"/>
                </a:spcBef>
              </a:pPr>
              <a:r>
                <a:rPr lang="en-US" sz="1499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Financial Accounting</a:t>
              </a:r>
            </a:p>
            <a:p>
              <a:pPr algn="l" marL="0" indent="0" lvl="0">
                <a:lnSpc>
                  <a:spcPts val="2098"/>
                </a:lnSpc>
                <a:spcBef>
                  <a:spcPct val="0"/>
                </a:spcBef>
              </a:pP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ERP i</a:t>
              </a: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nt</a:t>
              </a: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egrat</a:t>
              </a: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i</a:t>
              </a: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o</a:t>
              </a: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n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14906978" y="227771"/>
              <a:ext cx="4107512" cy="4628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798"/>
                </a:lnSpc>
                <a:spcBef>
                  <a:spcPct val="0"/>
                </a:spcBef>
              </a:pPr>
              <a:r>
                <a:rPr lang="en-US" b="true" sz="1998">
                  <a:solidFill>
                    <a:srgbClr val="70A1BD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ERP / </a:t>
              </a:r>
              <a:r>
                <a:rPr lang="en-US" b="true" sz="1998" strike="noStrike" u="none">
                  <a:solidFill>
                    <a:srgbClr val="70A1BD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Accounting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14932378" y="6238359"/>
              <a:ext cx="4548049" cy="10159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098"/>
                </a:lnSpc>
                <a:spcBef>
                  <a:spcPct val="0"/>
                </a:spcBef>
              </a:pP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API</a:t>
              </a: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co</a:t>
              </a: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n</a:t>
              </a: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n</a:t>
              </a: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ecti</a:t>
              </a: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vity</a:t>
              </a:r>
            </a:p>
            <a:p>
              <a:pPr algn="l" marL="0" indent="0" lvl="0">
                <a:lnSpc>
                  <a:spcPts val="2098"/>
                </a:lnSpc>
                <a:spcBef>
                  <a:spcPct val="0"/>
                </a:spcBef>
              </a:pP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Open API</a:t>
              </a:r>
            </a:p>
            <a:p>
              <a:pPr algn="l" marL="0" indent="0" lvl="0">
                <a:lnSpc>
                  <a:spcPts val="2098"/>
                </a:lnSpc>
                <a:spcBef>
                  <a:spcPct val="0"/>
                </a:spcBef>
              </a:pPr>
              <a:r>
                <a:rPr lang="en-US" sz="14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Market data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0">
              <a:off x="14932378" y="5799845"/>
              <a:ext cx="2812236" cy="4628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798"/>
                </a:lnSpc>
                <a:spcBef>
                  <a:spcPct val="0"/>
                </a:spcBef>
              </a:pPr>
              <a:r>
                <a:rPr lang="en-US" b="true" sz="1998" strike="noStrike" u="none">
                  <a:solidFill>
                    <a:srgbClr val="70A1BD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Data / API Layer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8300463" y="3880969"/>
              <a:ext cx="3675271" cy="15743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2378"/>
                </a:lnSpc>
                <a:spcBef>
                  <a:spcPct val="0"/>
                </a:spcBef>
              </a:pPr>
              <a:r>
                <a:rPr lang="en-US" sz="1699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C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en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tr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al t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r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e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asury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pla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tf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orm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 connecting 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ope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ra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t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i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on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a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l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f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ina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n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cia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l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 and 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market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eco</a:t>
              </a:r>
              <a:r>
                <a:rPr lang="en-US" sz="1699" strike="noStrike" u="none">
                  <a:solidFill>
                    <a:srgbClr val="343734"/>
                  </a:solidFill>
                  <a:latin typeface="Poppins"/>
                  <a:ea typeface="Poppins"/>
                  <a:cs typeface="Poppins"/>
                  <a:sym typeface="Poppins"/>
                </a:rPr>
                <a:t>systems</a:t>
              </a:r>
            </a:p>
          </p:txBody>
        </p:sp>
        <p:sp>
          <p:nvSpPr>
            <p:cNvPr name="TextBox 53" id="53"/>
            <p:cNvSpPr txBox="true"/>
            <p:nvPr/>
          </p:nvSpPr>
          <p:spPr>
            <a:xfrm rot="0">
              <a:off x="8250337" y="2401541"/>
              <a:ext cx="3775521" cy="9845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6019"/>
                </a:lnSpc>
                <a:spcBef>
                  <a:spcPct val="0"/>
                </a:spcBef>
              </a:pPr>
              <a:r>
                <a:rPr lang="en-US" b="true" sz="4298" strike="noStrike" u="none">
                  <a:solidFill>
                    <a:srgbClr val="70A1BD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Kyriba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028700" y="2438400"/>
            <a:ext cx="16230600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8"/>
              </a:lnSpc>
              <a:spcBef>
                <a:spcPct val="0"/>
              </a:spcBef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De</a:t>
            </a:r>
            <a:r>
              <a:rPr lang="en-US" sz="1998" strike="noStrike" u="non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signed a</a:t>
            </a:r>
            <a:r>
              <a:rPr lang="en-US" sz="1998" strike="noStrike" u="non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nd</a:t>
            </a:r>
            <a:r>
              <a:rPr lang="en-US" sz="1998" strike="noStrike" u="non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validated </a:t>
            </a:r>
            <a:r>
              <a:rPr lang="en-US" sz="1998" strike="noStrike" u="non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interf</a:t>
            </a:r>
            <a:r>
              <a:rPr lang="en-US" sz="1998" strike="noStrike" u="non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aces connecting Kyriba with ban</a:t>
            </a:r>
            <a:r>
              <a:rPr lang="en-US" sz="1998" strike="noStrike" u="non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ks, tr</a:t>
            </a:r>
            <a:r>
              <a:rPr lang="en-US" sz="1998" strike="noStrike" u="non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n-US" sz="1998" strike="noStrike" u="non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</a:t>
            </a:r>
            <a:r>
              <a:rPr lang="en-US" sz="1998" strike="noStrike" u="non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ing platforms, custodian</a:t>
            </a:r>
            <a:r>
              <a:rPr lang="en-US" sz="1998" strike="noStrike" u="non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</a:t>
            </a:r>
            <a:r>
              <a:rPr lang="en-US" sz="1998" strike="noStrike" u="non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and ERP system</a:t>
            </a:r>
            <a:r>
              <a:rPr lang="en-US" sz="1998" strike="noStrike" u="none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219200"/>
            <a:ext cx="13146306" cy="1245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Banking &amp; Payments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600325"/>
            <a:ext cx="11590121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Connecting bank data and payments to Kyriba for cash visibility and reconciliation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486150"/>
            <a:ext cx="4762500" cy="30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Flow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00800" y="3486150"/>
            <a:ext cx="10572750" cy="30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My Role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4248150"/>
            <a:ext cx="4762500" cy="1143000"/>
            <a:chOff x="0" y="0"/>
            <a:chExt cx="1957426" cy="46978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957426" cy="469782"/>
            </a:xfrm>
            <a:custGeom>
              <a:avLst/>
              <a:gdLst/>
              <a:ahLst/>
              <a:cxnLst/>
              <a:rect r="r" b="b" t="t" l="l"/>
              <a:pathLst>
                <a:path h="469782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445398"/>
                  </a:lnTo>
                  <a:cubicBezTo>
                    <a:pt x="1957426" y="451865"/>
                    <a:pt x="1954857" y="458067"/>
                    <a:pt x="1950284" y="462640"/>
                  </a:cubicBezTo>
                  <a:cubicBezTo>
                    <a:pt x="1945711" y="467213"/>
                    <a:pt x="1939509" y="469782"/>
                    <a:pt x="1933042" y="469782"/>
                  </a:cubicBezTo>
                  <a:lnTo>
                    <a:pt x="24384" y="469782"/>
                  </a:lnTo>
                  <a:cubicBezTo>
                    <a:pt x="10917" y="469782"/>
                    <a:pt x="0" y="458865"/>
                    <a:pt x="0" y="445398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957426" cy="469782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066800" y="285750"/>
            <a:ext cx="505968" cy="609600"/>
          </a:xfrm>
          <a:custGeom>
            <a:avLst/>
            <a:gdLst/>
            <a:ahLst/>
            <a:cxnLst/>
            <a:rect r="r" b="b" t="t" l="l"/>
            <a:pathLst>
              <a:path h="609600" w="505968">
                <a:moveTo>
                  <a:pt x="0" y="0"/>
                </a:moveTo>
                <a:lnTo>
                  <a:pt x="505968" y="0"/>
                </a:lnTo>
                <a:lnTo>
                  <a:pt x="505968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314450" y="4619625"/>
            <a:ext cx="4191000" cy="342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Statements - camt.053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400800" y="4452938"/>
            <a:ext cx="1057275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Set up and validated bank connectivity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with banks and the implementation team; tested statement delivery, format and transaction information.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28700" y="5962650"/>
            <a:ext cx="4762500" cy="1143000"/>
            <a:chOff x="0" y="0"/>
            <a:chExt cx="1957426" cy="46978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57426" cy="469782"/>
            </a:xfrm>
            <a:custGeom>
              <a:avLst/>
              <a:gdLst/>
              <a:ahLst/>
              <a:cxnLst/>
              <a:rect r="r" b="b" t="t" l="l"/>
              <a:pathLst>
                <a:path h="469782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445398"/>
                  </a:lnTo>
                  <a:cubicBezTo>
                    <a:pt x="1957426" y="451865"/>
                    <a:pt x="1954857" y="458067"/>
                    <a:pt x="1950284" y="462640"/>
                  </a:cubicBezTo>
                  <a:cubicBezTo>
                    <a:pt x="1945711" y="467213"/>
                    <a:pt x="1939509" y="469782"/>
                    <a:pt x="1933042" y="469782"/>
                  </a:cubicBezTo>
                  <a:lnTo>
                    <a:pt x="24384" y="469782"/>
                  </a:lnTo>
                  <a:cubicBezTo>
                    <a:pt x="10917" y="469782"/>
                    <a:pt x="0" y="458865"/>
                    <a:pt x="0" y="445398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1957426" cy="469782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314450" y="6334125"/>
            <a:ext cx="4191000" cy="342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Payments - pain.001 / pain.002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00800" y="6167438"/>
            <a:ext cx="1057275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Supported payment connectivity setup and testing; executed test payments and validated bank transmission, responses and payment status.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028700" y="7677150"/>
            <a:ext cx="4762500" cy="1143000"/>
            <a:chOff x="0" y="0"/>
            <a:chExt cx="1957426" cy="46978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57426" cy="469782"/>
            </a:xfrm>
            <a:custGeom>
              <a:avLst/>
              <a:gdLst/>
              <a:ahLst/>
              <a:cxnLst/>
              <a:rect r="r" b="b" t="t" l="l"/>
              <a:pathLst>
                <a:path h="469782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445398"/>
                  </a:lnTo>
                  <a:cubicBezTo>
                    <a:pt x="1957426" y="451865"/>
                    <a:pt x="1954857" y="458067"/>
                    <a:pt x="1950284" y="462640"/>
                  </a:cubicBezTo>
                  <a:cubicBezTo>
                    <a:pt x="1945711" y="467213"/>
                    <a:pt x="1939509" y="469782"/>
                    <a:pt x="1933042" y="469782"/>
                  </a:cubicBezTo>
                  <a:lnTo>
                    <a:pt x="24384" y="469782"/>
                  </a:lnTo>
                  <a:cubicBezTo>
                    <a:pt x="10917" y="469782"/>
                    <a:pt x="0" y="458865"/>
                    <a:pt x="0" y="445398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1957426" cy="469782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314450" y="7881938"/>
            <a:ext cx="419100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Reconciliations - BTC Mapping &amp; Rules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400800" y="7881938"/>
            <a:ext cx="1057275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Configured BTC mappings and reconciliation rules; monitored the Bank Connectivity Cockpit, investigated breaks and tested matching behaviour.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28700" y="3981450"/>
            <a:ext cx="16230600" cy="28575"/>
            <a:chOff x="0" y="0"/>
            <a:chExt cx="21640800" cy="381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640800" cy="38100"/>
            </a:xfrm>
            <a:custGeom>
              <a:avLst/>
              <a:gdLst/>
              <a:ahLst/>
              <a:cxnLst/>
              <a:rect r="r" b="b" t="t" l="l"/>
              <a:pathLst>
                <a:path h="38100" w="21640800">
                  <a:moveTo>
                    <a:pt x="0" y="0"/>
                  </a:moveTo>
                  <a:lnTo>
                    <a:pt x="21640800" y="0"/>
                  </a:lnTo>
                  <a:lnTo>
                    <a:pt x="216408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FF1E8">
                <a:alpha val="69804"/>
              </a:srgbClr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16408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163800" y="914400"/>
            <a:ext cx="2095500" cy="1333500"/>
            <a:chOff x="0" y="0"/>
            <a:chExt cx="2794000" cy="1778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76200" y="76200"/>
              <a:ext cx="26416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2641600">
                  <a:moveTo>
                    <a:pt x="0" y="50800"/>
                  </a:move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ubicBezTo>
                    <a:pt x="22744" y="0"/>
                    <a:pt x="0" y="22744"/>
                    <a:pt x="0" y="50800"/>
                  </a:cubicBezTo>
                  <a:close/>
                  <a:moveTo>
                    <a:pt x="508000" y="50800"/>
                  </a:moveTo>
                  <a:cubicBezTo>
                    <a:pt x="508000" y="78856"/>
                    <a:pt x="530744" y="101600"/>
                    <a:pt x="558800" y="101600"/>
                  </a:cubicBezTo>
                  <a:cubicBezTo>
                    <a:pt x="586856" y="101600"/>
                    <a:pt x="609600" y="78856"/>
                    <a:pt x="609600" y="50800"/>
                  </a:cubicBezTo>
                  <a:cubicBezTo>
                    <a:pt x="609600" y="22744"/>
                    <a:pt x="586856" y="0"/>
                    <a:pt x="558800" y="0"/>
                  </a:cubicBezTo>
                  <a:cubicBezTo>
                    <a:pt x="530744" y="0"/>
                    <a:pt x="508000" y="22744"/>
                    <a:pt x="508000" y="50800"/>
                  </a:cubicBezTo>
                  <a:close/>
                  <a:moveTo>
                    <a:pt x="1016000" y="50800"/>
                  </a:moveTo>
                  <a:cubicBezTo>
                    <a:pt x="1016000" y="78856"/>
                    <a:pt x="1038744" y="101600"/>
                    <a:pt x="1066800" y="101600"/>
                  </a:cubicBezTo>
                  <a:cubicBezTo>
                    <a:pt x="1094856" y="101600"/>
                    <a:pt x="1117600" y="78856"/>
                    <a:pt x="1117600" y="50800"/>
                  </a:cubicBezTo>
                  <a:cubicBezTo>
                    <a:pt x="1117600" y="22744"/>
                    <a:pt x="1094856" y="0"/>
                    <a:pt x="1066800" y="0"/>
                  </a:cubicBezTo>
                  <a:cubicBezTo>
                    <a:pt x="1038744" y="0"/>
                    <a:pt x="1016000" y="22744"/>
                    <a:pt x="1016000" y="50800"/>
                  </a:cubicBezTo>
                  <a:close/>
                  <a:moveTo>
                    <a:pt x="1524000" y="50800"/>
                  </a:moveTo>
                  <a:cubicBezTo>
                    <a:pt x="1524000" y="78856"/>
                    <a:pt x="1546744" y="101600"/>
                    <a:pt x="1574800" y="101600"/>
                  </a:cubicBezTo>
                  <a:cubicBezTo>
                    <a:pt x="1602856" y="101600"/>
                    <a:pt x="1625600" y="78856"/>
                    <a:pt x="1625600" y="50800"/>
                  </a:cubicBezTo>
                  <a:cubicBezTo>
                    <a:pt x="1625600" y="22744"/>
                    <a:pt x="1602856" y="0"/>
                    <a:pt x="1574800" y="0"/>
                  </a:cubicBezTo>
                  <a:cubicBezTo>
                    <a:pt x="1546744" y="0"/>
                    <a:pt x="1524000" y="22744"/>
                    <a:pt x="1524000" y="50800"/>
                  </a:cubicBezTo>
                  <a:close/>
                  <a:moveTo>
                    <a:pt x="2032000" y="50800"/>
                  </a:moveTo>
                  <a:cubicBezTo>
                    <a:pt x="2032000" y="78856"/>
                    <a:pt x="2054744" y="101600"/>
                    <a:pt x="2082800" y="101600"/>
                  </a:cubicBezTo>
                  <a:cubicBezTo>
                    <a:pt x="2110856" y="101600"/>
                    <a:pt x="2133600" y="78856"/>
                    <a:pt x="2133600" y="50800"/>
                  </a:cubicBezTo>
                  <a:cubicBezTo>
                    <a:pt x="2133600" y="22744"/>
                    <a:pt x="2110856" y="0"/>
                    <a:pt x="2082800" y="0"/>
                  </a:cubicBezTo>
                  <a:cubicBezTo>
                    <a:pt x="2054744" y="0"/>
                    <a:pt x="2032000" y="22744"/>
                    <a:pt x="2032000" y="50800"/>
                  </a:cubicBezTo>
                  <a:close/>
                  <a:moveTo>
                    <a:pt x="2540000" y="50800"/>
                  </a:moveTo>
                  <a:cubicBezTo>
                    <a:pt x="2540000" y="78856"/>
                    <a:pt x="2562744" y="101600"/>
                    <a:pt x="2590800" y="101600"/>
                  </a:cubicBezTo>
                  <a:cubicBezTo>
                    <a:pt x="2618856" y="101600"/>
                    <a:pt x="2641600" y="78856"/>
                    <a:pt x="2641600" y="50800"/>
                  </a:cubicBezTo>
                  <a:cubicBezTo>
                    <a:pt x="2641600" y="22744"/>
                    <a:pt x="2618856" y="0"/>
                    <a:pt x="2590800" y="0"/>
                  </a:cubicBezTo>
                  <a:cubicBezTo>
                    <a:pt x="2562744" y="0"/>
                    <a:pt x="2540000" y="22744"/>
                    <a:pt x="2540000" y="50800"/>
                  </a:cubicBezTo>
                  <a:close/>
                  <a:moveTo>
                    <a:pt x="0" y="558800"/>
                  </a:moveTo>
                  <a:cubicBezTo>
                    <a:pt x="0" y="586856"/>
                    <a:pt x="22744" y="609600"/>
                    <a:pt x="50800" y="609600"/>
                  </a:cubicBezTo>
                  <a:cubicBezTo>
                    <a:pt x="78856" y="609600"/>
                    <a:pt x="101600" y="586856"/>
                    <a:pt x="101600" y="558800"/>
                  </a:cubicBezTo>
                  <a:cubicBezTo>
                    <a:pt x="101600" y="530744"/>
                    <a:pt x="78856" y="508000"/>
                    <a:pt x="50800" y="508000"/>
                  </a:cubicBezTo>
                  <a:cubicBezTo>
                    <a:pt x="22744" y="508000"/>
                    <a:pt x="0" y="530744"/>
                    <a:pt x="0" y="558800"/>
                  </a:cubicBezTo>
                  <a:close/>
                  <a:moveTo>
                    <a:pt x="508000" y="558800"/>
                  </a:moveTo>
                  <a:cubicBezTo>
                    <a:pt x="508000" y="586856"/>
                    <a:pt x="530744" y="609600"/>
                    <a:pt x="558800" y="609600"/>
                  </a:cubicBezTo>
                  <a:cubicBezTo>
                    <a:pt x="586856" y="609600"/>
                    <a:pt x="609600" y="586856"/>
                    <a:pt x="609600" y="558800"/>
                  </a:cubicBezTo>
                  <a:cubicBezTo>
                    <a:pt x="609600" y="530744"/>
                    <a:pt x="586856" y="508000"/>
                    <a:pt x="558800" y="508000"/>
                  </a:cubicBezTo>
                  <a:cubicBezTo>
                    <a:pt x="530744" y="508000"/>
                    <a:pt x="508000" y="530744"/>
                    <a:pt x="508000" y="558800"/>
                  </a:cubicBezTo>
                  <a:close/>
                  <a:moveTo>
                    <a:pt x="1016000" y="558800"/>
                  </a:moveTo>
                  <a:cubicBezTo>
                    <a:pt x="1016000" y="586856"/>
                    <a:pt x="1038744" y="609600"/>
                    <a:pt x="1066800" y="609600"/>
                  </a:cubicBezTo>
                  <a:cubicBezTo>
                    <a:pt x="1094856" y="609600"/>
                    <a:pt x="1117600" y="586856"/>
                    <a:pt x="1117600" y="558800"/>
                  </a:cubicBezTo>
                  <a:cubicBezTo>
                    <a:pt x="1117600" y="530744"/>
                    <a:pt x="1094856" y="508000"/>
                    <a:pt x="1066800" y="508000"/>
                  </a:cubicBezTo>
                  <a:cubicBezTo>
                    <a:pt x="1038744" y="508000"/>
                    <a:pt x="1016000" y="530744"/>
                    <a:pt x="1016000" y="558800"/>
                  </a:cubicBezTo>
                  <a:close/>
                  <a:moveTo>
                    <a:pt x="1524000" y="558800"/>
                  </a:moveTo>
                  <a:cubicBezTo>
                    <a:pt x="1524000" y="586856"/>
                    <a:pt x="1546744" y="609600"/>
                    <a:pt x="1574800" y="609600"/>
                  </a:cubicBezTo>
                  <a:cubicBezTo>
                    <a:pt x="1602856" y="609600"/>
                    <a:pt x="1625600" y="586856"/>
                    <a:pt x="1625600" y="558800"/>
                  </a:cubicBezTo>
                  <a:cubicBezTo>
                    <a:pt x="1625600" y="530744"/>
                    <a:pt x="1602856" y="508000"/>
                    <a:pt x="1574800" y="508000"/>
                  </a:cubicBezTo>
                  <a:cubicBezTo>
                    <a:pt x="1546744" y="508000"/>
                    <a:pt x="1524000" y="530744"/>
                    <a:pt x="1524000" y="558800"/>
                  </a:cubicBezTo>
                  <a:close/>
                  <a:moveTo>
                    <a:pt x="2032000" y="558800"/>
                  </a:moveTo>
                  <a:cubicBezTo>
                    <a:pt x="2032000" y="586856"/>
                    <a:pt x="2054744" y="609600"/>
                    <a:pt x="2082800" y="609600"/>
                  </a:cubicBezTo>
                  <a:cubicBezTo>
                    <a:pt x="2110856" y="609600"/>
                    <a:pt x="2133600" y="586856"/>
                    <a:pt x="2133600" y="558800"/>
                  </a:cubicBezTo>
                  <a:cubicBezTo>
                    <a:pt x="2133600" y="530744"/>
                    <a:pt x="2110856" y="508000"/>
                    <a:pt x="2082800" y="508000"/>
                  </a:cubicBezTo>
                  <a:cubicBezTo>
                    <a:pt x="2054744" y="508000"/>
                    <a:pt x="2032000" y="530744"/>
                    <a:pt x="2032000" y="558800"/>
                  </a:cubicBezTo>
                  <a:close/>
                  <a:moveTo>
                    <a:pt x="2540000" y="558800"/>
                  </a:moveTo>
                  <a:cubicBezTo>
                    <a:pt x="2540000" y="586856"/>
                    <a:pt x="2562744" y="609600"/>
                    <a:pt x="2590800" y="609600"/>
                  </a:cubicBezTo>
                  <a:cubicBezTo>
                    <a:pt x="2618856" y="609600"/>
                    <a:pt x="2641600" y="586856"/>
                    <a:pt x="2641600" y="558800"/>
                  </a:cubicBezTo>
                  <a:cubicBezTo>
                    <a:pt x="2641600" y="530744"/>
                    <a:pt x="2618856" y="508000"/>
                    <a:pt x="2590800" y="508000"/>
                  </a:cubicBezTo>
                  <a:cubicBezTo>
                    <a:pt x="2562744" y="508000"/>
                    <a:pt x="2540000" y="530744"/>
                    <a:pt x="2540000" y="558800"/>
                  </a:cubicBezTo>
                  <a:close/>
                  <a:moveTo>
                    <a:pt x="0" y="1066800"/>
                  </a:moveTo>
                  <a:cubicBezTo>
                    <a:pt x="0" y="1094856"/>
                    <a:pt x="22744" y="1117600"/>
                    <a:pt x="50800" y="1117600"/>
                  </a:cubicBezTo>
                  <a:cubicBezTo>
                    <a:pt x="78856" y="1117600"/>
                    <a:pt x="101600" y="1094856"/>
                    <a:pt x="101600" y="1066800"/>
                  </a:cubicBezTo>
                  <a:cubicBezTo>
                    <a:pt x="101600" y="1038744"/>
                    <a:pt x="78856" y="1016000"/>
                    <a:pt x="50800" y="1016000"/>
                  </a:cubicBezTo>
                  <a:cubicBezTo>
                    <a:pt x="22744" y="1016000"/>
                    <a:pt x="0" y="1038744"/>
                    <a:pt x="0" y="1066800"/>
                  </a:cubicBezTo>
                  <a:close/>
                  <a:moveTo>
                    <a:pt x="508000" y="1066800"/>
                  </a:moveTo>
                  <a:cubicBezTo>
                    <a:pt x="508000" y="1094856"/>
                    <a:pt x="530744" y="1117600"/>
                    <a:pt x="558800" y="1117600"/>
                  </a:cubicBezTo>
                  <a:cubicBezTo>
                    <a:pt x="586856" y="1117600"/>
                    <a:pt x="609600" y="1094856"/>
                    <a:pt x="609600" y="1066800"/>
                  </a:cubicBezTo>
                  <a:cubicBezTo>
                    <a:pt x="609600" y="1038744"/>
                    <a:pt x="586856" y="1016000"/>
                    <a:pt x="558800" y="1016000"/>
                  </a:cubicBezTo>
                  <a:cubicBezTo>
                    <a:pt x="530744" y="1016000"/>
                    <a:pt x="508000" y="1038744"/>
                    <a:pt x="508000" y="1066800"/>
                  </a:cubicBezTo>
                  <a:close/>
                  <a:moveTo>
                    <a:pt x="1016000" y="1066800"/>
                  </a:moveTo>
                  <a:cubicBezTo>
                    <a:pt x="1016000" y="1094856"/>
                    <a:pt x="1038744" y="1117600"/>
                    <a:pt x="1066800" y="1117600"/>
                  </a:cubicBezTo>
                  <a:cubicBezTo>
                    <a:pt x="1094856" y="1117600"/>
                    <a:pt x="1117600" y="1094856"/>
                    <a:pt x="1117600" y="1066800"/>
                  </a:cubicBezTo>
                  <a:cubicBezTo>
                    <a:pt x="1117600" y="1038744"/>
                    <a:pt x="1094856" y="1016000"/>
                    <a:pt x="1066800" y="1016000"/>
                  </a:cubicBezTo>
                  <a:cubicBezTo>
                    <a:pt x="1038744" y="1016000"/>
                    <a:pt x="1016000" y="1038744"/>
                    <a:pt x="1016000" y="1066800"/>
                  </a:cubicBezTo>
                  <a:close/>
                  <a:moveTo>
                    <a:pt x="1524000" y="1066800"/>
                  </a:moveTo>
                  <a:cubicBezTo>
                    <a:pt x="1524000" y="1094856"/>
                    <a:pt x="1546744" y="1117600"/>
                    <a:pt x="1574800" y="1117600"/>
                  </a:cubicBezTo>
                  <a:cubicBezTo>
                    <a:pt x="1602856" y="1117600"/>
                    <a:pt x="1625600" y="1094856"/>
                    <a:pt x="1625600" y="1066800"/>
                  </a:cubicBezTo>
                  <a:cubicBezTo>
                    <a:pt x="1625600" y="1038744"/>
                    <a:pt x="1602856" y="1016000"/>
                    <a:pt x="1574800" y="1016000"/>
                  </a:cubicBezTo>
                  <a:cubicBezTo>
                    <a:pt x="1546744" y="1016000"/>
                    <a:pt x="1524000" y="1038744"/>
                    <a:pt x="1524000" y="1066800"/>
                  </a:cubicBezTo>
                  <a:close/>
                  <a:moveTo>
                    <a:pt x="2032000" y="1066800"/>
                  </a:moveTo>
                  <a:cubicBezTo>
                    <a:pt x="2032000" y="1094856"/>
                    <a:pt x="2054744" y="1117600"/>
                    <a:pt x="2082800" y="1117600"/>
                  </a:cubicBezTo>
                  <a:cubicBezTo>
                    <a:pt x="2110856" y="1117600"/>
                    <a:pt x="2133600" y="1094856"/>
                    <a:pt x="2133600" y="1066800"/>
                  </a:cubicBezTo>
                  <a:cubicBezTo>
                    <a:pt x="2133600" y="1038744"/>
                    <a:pt x="2110856" y="1016000"/>
                    <a:pt x="2082800" y="1016000"/>
                  </a:cubicBezTo>
                  <a:cubicBezTo>
                    <a:pt x="2054744" y="1016000"/>
                    <a:pt x="2032000" y="1038744"/>
                    <a:pt x="2032000" y="1066800"/>
                  </a:cubicBezTo>
                  <a:close/>
                  <a:moveTo>
                    <a:pt x="2540000" y="1066800"/>
                  </a:moveTo>
                  <a:cubicBezTo>
                    <a:pt x="2540000" y="1094856"/>
                    <a:pt x="2562744" y="1117600"/>
                    <a:pt x="2590800" y="1117600"/>
                  </a:cubicBezTo>
                  <a:cubicBezTo>
                    <a:pt x="2618856" y="1117600"/>
                    <a:pt x="2641600" y="1094856"/>
                    <a:pt x="2641600" y="1066800"/>
                  </a:cubicBezTo>
                  <a:cubicBezTo>
                    <a:pt x="2641600" y="1038744"/>
                    <a:pt x="2618856" y="1016000"/>
                    <a:pt x="2590800" y="1016000"/>
                  </a:cubicBezTo>
                  <a:cubicBezTo>
                    <a:pt x="2562744" y="1016000"/>
                    <a:pt x="2540000" y="1038744"/>
                    <a:pt x="2540000" y="1066800"/>
                  </a:cubicBezTo>
                  <a:close/>
                  <a:moveTo>
                    <a:pt x="0" y="1574800"/>
                  </a:moveTo>
                  <a:cubicBezTo>
                    <a:pt x="0" y="1602856"/>
                    <a:pt x="22744" y="1625600"/>
                    <a:pt x="50800" y="1625600"/>
                  </a:cubicBezTo>
                  <a:cubicBezTo>
                    <a:pt x="78856" y="1625600"/>
                    <a:pt x="101600" y="1602856"/>
                    <a:pt x="101600" y="1574800"/>
                  </a:cubicBezTo>
                  <a:cubicBezTo>
                    <a:pt x="101600" y="1546744"/>
                    <a:pt x="78856" y="1524000"/>
                    <a:pt x="50800" y="1524000"/>
                  </a:cubicBezTo>
                  <a:cubicBezTo>
                    <a:pt x="22744" y="1524000"/>
                    <a:pt x="0" y="1546744"/>
                    <a:pt x="0" y="1574800"/>
                  </a:cubicBezTo>
                  <a:close/>
                  <a:moveTo>
                    <a:pt x="508000" y="1574800"/>
                  </a:moveTo>
                  <a:cubicBezTo>
                    <a:pt x="508000" y="1602856"/>
                    <a:pt x="530744" y="1625600"/>
                    <a:pt x="558800" y="1625600"/>
                  </a:cubicBezTo>
                  <a:cubicBezTo>
                    <a:pt x="586856" y="1625600"/>
                    <a:pt x="609600" y="1602856"/>
                    <a:pt x="609600" y="1574800"/>
                  </a:cubicBezTo>
                  <a:cubicBezTo>
                    <a:pt x="609600" y="1546744"/>
                    <a:pt x="586856" y="1524000"/>
                    <a:pt x="558800" y="1524000"/>
                  </a:cubicBezTo>
                  <a:cubicBezTo>
                    <a:pt x="530744" y="1524000"/>
                    <a:pt x="508000" y="1546744"/>
                    <a:pt x="508000" y="1574800"/>
                  </a:cubicBezTo>
                  <a:close/>
                  <a:moveTo>
                    <a:pt x="1016000" y="1574800"/>
                  </a:moveTo>
                  <a:cubicBezTo>
                    <a:pt x="1016000" y="1602856"/>
                    <a:pt x="1038744" y="1625600"/>
                    <a:pt x="1066800" y="1625600"/>
                  </a:cubicBezTo>
                  <a:cubicBezTo>
                    <a:pt x="1094856" y="1625600"/>
                    <a:pt x="1117600" y="1602856"/>
                    <a:pt x="1117600" y="1574800"/>
                  </a:cubicBezTo>
                  <a:cubicBezTo>
                    <a:pt x="1117600" y="1546744"/>
                    <a:pt x="1094856" y="1524000"/>
                    <a:pt x="1066800" y="1524000"/>
                  </a:cubicBezTo>
                  <a:cubicBezTo>
                    <a:pt x="1038744" y="1524000"/>
                    <a:pt x="1016000" y="1546744"/>
                    <a:pt x="1016000" y="1574800"/>
                  </a:cubicBezTo>
                  <a:close/>
                  <a:moveTo>
                    <a:pt x="1524000" y="1574800"/>
                  </a:moveTo>
                  <a:cubicBezTo>
                    <a:pt x="1524000" y="1602856"/>
                    <a:pt x="1546744" y="1625600"/>
                    <a:pt x="1574800" y="1625600"/>
                  </a:cubicBezTo>
                  <a:cubicBezTo>
                    <a:pt x="1602856" y="1625600"/>
                    <a:pt x="1625600" y="1602856"/>
                    <a:pt x="1625600" y="1574800"/>
                  </a:cubicBezTo>
                  <a:cubicBezTo>
                    <a:pt x="1625600" y="1546744"/>
                    <a:pt x="1602856" y="1524000"/>
                    <a:pt x="1574800" y="1524000"/>
                  </a:cubicBezTo>
                  <a:cubicBezTo>
                    <a:pt x="1546744" y="1524000"/>
                    <a:pt x="1524000" y="1546744"/>
                    <a:pt x="1524000" y="1574800"/>
                  </a:cubicBezTo>
                  <a:close/>
                  <a:moveTo>
                    <a:pt x="2032000" y="1574800"/>
                  </a:moveTo>
                  <a:cubicBezTo>
                    <a:pt x="2032000" y="1602856"/>
                    <a:pt x="2054744" y="1625600"/>
                    <a:pt x="2082800" y="1625600"/>
                  </a:cubicBezTo>
                  <a:cubicBezTo>
                    <a:pt x="2110856" y="1625600"/>
                    <a:pt x="2133600" y="1602856"/>
                    <a:pt x="2133600" y="1574800"/>
                  </a:cubicBezTo>
                  <a:cubicBezTo>
                    <a:pt x="2133600" y="1546744"/>
                    <a:pt x="2110856" y="1524000"/>
                    <a:pt x="2082800" y="1524000"/>
                  </a:cubicBezTo>
                  <a:cubicBezTo>
                    <a:pt x="2054744" y="1524000"/>
                    <a:pt x="2032000" y="1546744"/>
                    <a:pt x="2032000" y="1574800"/>
                  </a:cubicBezTo>
                  <a:close/>
                  <a:moveTo>
                    <a:pt x="2540000" y="1574800"/>
                  </a:moveTo>
                  <a:cubicBezTo>
                    <a:pt x="2540000" y="1602856"/>
                    <a:pt x="2562744" y="1625600"/>
                    <a:pt x="2590800" y="1625600"/>
                  </a:cubicBezTo>
                  <a:cubicBezTo>
                    <a:pt x="2618856" y="1625600"/>
                    <a:pt x="2641600" y="1602856"/>
                    <a:pt x="2641600" y="1574800"/>
                  </a:cubicBezTo>
                  <a:cubicBezTo>
                    <a:pt x="2641600" y="1546744"/>
                    <a:pt x="2618856" y="1524000"/>
                    <a:pt x="2590800" y="1524000"/>
                  </a:cubicBezTo>
                  <a:cubicBezTo>
                    <a:pt x="2562744" y="1524000"/>
                    <a:pt x="2540000" y="1546744"/>
                    <a:pt x="2540000" y="1574800"/>
                  </a:cubicBezTo>
                  <a:close/>
                </a:path>
              </a:pathLst>
            </a:custGeom>
            <a:solidFill>
              <a:srgbClr val="EFF1E8">
                <a:alpha val="49804"/>
              </a:srgbClr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794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6400800" y="5667375"/>
            <a:ext cx="10858500" cy="19050"/>
            <a:chOff x="0" y="0"/>
            <a:chExt cx="14478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400800" y="7381875"/>
            <a:ext cx="10858500" cy="19050"/>
            <a:chOff x="0" y="0"/>
            <a:chExt cx="14478000" cy="254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219200"/>
            <a:ext cx="13146306" cy="1245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Trade Management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600325"/>
            <a:ext cx="11590121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Connecting trade execution, Kyriba trade capture and post-trade processing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486150"/>
            <a:ext cx="4762500" cy="30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Flow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00800" y="3486150"/>
            <a:ext cx="10572750" cy="30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My Role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5581650"/>
            <a:ext cx="4762500" cy="1066800"/>
            <a:chOff x="0" y="0"/>
            <a:chExt cx="1957426" cy="43846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957426" cy="438463"/>
            </a:xfrm>
            <a:custGeom>
              <a:avLst/>
              <a:gdLst/>
              <a:ahLst/>
              <a:cxnLst/>
              <a:rect r="r" b="b" t="t" l="l"/>
              <a:pathLst>
                <a:path h="438463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414079"/>
                  </a:lnTo>
                  <a:cubicBezTo>
                    <a:pt x="1957426" y="427546"/>
                    <a:pt x="1946509" y="438463"/>
                    <a:pt x="1933042" y="438463"/>
                  </a:cubicBezTo>
                  <a:lnTo>
                    <a:pt x="24384" y="438463"/>
                  </a:lnTo>
                  <a:cubicBezTo>
                    <a:pt x="17917" y="438463"/>
                    <a:pt x="11715" y="435894"/>
                    <a:pt x="7142" y="431321"/>
                  </a:cubicBezTo>
                  <a:cubicBezTo>
                    <a:pt x="2569" y="426749"/>
                    <a:pt x="0" y="420546"/>
                    <a:pt x="0" y="414079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957426" cy="438463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314450" y="5915025"/>
            <a:ext cx="4191000" cy="342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Money Market Funds Platform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400800" y="5748338"/>
            <a:ext cx="1057275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Coordinated with Kyriba and the Money Market Funds platform provider to 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validate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the connectivity, tested trades and confirmed the 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end-to-end processing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8700" y="6915150"/>
            <a:ext cx="4762500" cy="1066800"/>
            <a:chOff x="0" y="0"/>
            <a:chExt cx="1957426" cy="43846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57426" cy="438463"/>
            </a:xfrm>
            <a:custGeom>
              <a:avLst/>
              <a:gdLst/>
              <a:ahLst/>
              <a:cxnLst/>
              <a:rect r="r" b="b" t="t" l="l"/>
              <a:pathLst>
                <a:path h="438463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414079"/>
                  </a:lnTo>
                  <a:cubicBezTo>
                    <a:pt x="1957426" y="427546"/>
                    <a:pt x="1946509" y="438463"/>
                    <a:pt x="1933042" y="438463"/>
                  </a:cubicBezTo>
                  <a:lnTo>
                    <a:pt x="24384" y="438463"/>
                  </a:lnTo>
                  <a:cubicBezTo>
                    <a:pt x="17917" y="438463"/>
                    <a:pt x="11715" y="435894"/>
                    <a:pt x="7142" y="431321"/>
                  </a:cubicBezTo>
                  <a:cubicBezTo>
                    <a:pt x="2569" y="426749"/>
                    <a:pt x="0" y="420546"/>
                    <a:pt x="0" y="414079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957426" cy="438463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14450" y="7081838"/>
            <a:ext cx="419100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Manual Trade Entry - Internal Clients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400800" y="7081838"/>
            <a:ext cx="1057275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Defined and validated manual trade-entry requirements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for transactions initiated by internal Treasury users; tested capture, processing and downstream behaviour.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28700" y="8248650"/>
            <a:ext cx="4762500" cy="1066800"/>
            <a:chOff x="0" y="0"/>
            <a:chExt cx="1957426" cy="43846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7426" cy="438463"/>
            </a:xfrm>
            <a:custGeom>
              <a:avLst/>
              <a:gdLst/>
              <a:ahLst/>
              <a:cxnLst/>
              <a:rect r="r" b="b" t="t" l="l"/>
              <a:pathLst>
                <a:path h="438463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414079"/>
                  </a:lnTo>
                  <a:cubicBezTo>
                    <a:pt x="1957426" y="427546"/>
                    <a:pt x="1946509" y="438463"/>
                    <a:pt x="1933042" y="438463"/>
                  </a:cubicBezTo>
                  <a:lnTo>
                    <a:pt x="24384" y="438463"/>
                  </a:lnTo>
                  <a:cubicBezTo>
                    <a:pt x="17917" y="438463"/>
                    <a:pt x="11715" y="435894"/>
                    <a:pt x="7142" y="431321"/>
                  </a:cubicBezTo>
                  <a:cubicBezTo>
                    <a:pt x="2569" y="426749"/>
                    <a:pt x="0" y="420546"/>
                    <a:pt x="0" y="414079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1957426" cy="438463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314450" y="8415338"/>
            <a:ext cx="419100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Custodian Bank - Post-Trade Processing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400800" y="8248650"/>
            <a:ext cx="10572750" cy="1008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Established transaction-specific requirements 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through custodian templates, engaged with the custodian and implementation team, tested transaction flows and exceptions, and 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validated the final solution.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28700" y="4248150"/>
            <a:ext cx="4762500" cy="1066800"/>
            <a:chOff x="0" y="0"/>
            <a:chExt cx="1957426" cy="43846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57426" cy="438463"/>
            </a:xfrm>
            <a:custGeom>
              <a:avLst/>
              <a:gdLst/>
              <a:ahLst/>
              <a:cxnLst/>
              <a:rect r="r" b="b" t="t" l="l"/>
              <a:pathLst>
                <a:path h="438463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414079"/>
                  </a:lnTo>
                  <a:cubicBezTo>
                    <a:pt x="1957426" y="427546"/>
                    <a:pt x="1946509" y="438463"/>
                    <a:pt x="1933042" y="438463"/>
                  </a:cubicBezTo>
                  <a:lnTo>
                    <a:pt x="24384" y="438463"/>
                  </a:lnTo>
                  <a:cubicBezTo>
                    <a:pt x="17917" y="438463"/>
                    <a:pt x="11715" y="435894"/>
                    <a:pt x="7142" y="431321"/>
                  </a:cubicBezTo>
                  <a:cubicBezTo>
                    <a:pt x="2569" y="426749"/>
                    <a:pt x="0" y="420546"/>
                    <a:pt x="0" y="414079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1957426" cy="438463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314450" y="4581525"/>
            <a:ext cx="4191000" cy="342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 FX Platform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400800" y="4248150"/>
            <a:ext cx="10572750" cy="1008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Worked with the implementation team to 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configure Kyriba templates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, engaged with the FX Platform provider, analysed executed trades and iterated through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 testing until final validation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066800" y="419100"/>
            <a:ext cx="760070" cy="467443"/>
          </a:xfrm>
          <a:custGeom>
            <a:avLst/>
            <a:gdLst/>
            <a:ahLst/>
            <a:cxnLst/>
            <a:rect r="r" b="b" t="t" l="l"/>
            <a:pathLst>
              <a:path h="467443" w="760070">
                <a:moveTo>
                  <a:pt x="0" y="0"/>
                </a:moveTo>
                <a:lnTo>
                  <a:pt x="760070" y="0"/>
                </a:lnTo>
                <a:lnTo>
                  <a:pt x="760070" y="467443"/>
                </a:lnTo>
                <a:lnTo>
                  <a:pt x="0" y="46744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27" id="27"/>
          <p:cNvGrpSpPr/>
          <p:nvPr/>
        </p:nvGrpSpPr>
        <p:grpSpPr>
          <a:xfrm rot="0">
            <a:off x="1028700" y="3981450"/>
            <a:ext cx="16230600" cy="28575"/>
            <a:chOff x="0" y="0"/>
            <a:chExt cx="21640800" cy="381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1640800" cy="38100"/>
            </a:xfrm>
            <a:custGeom>
              <a:avLst/>
              <a:gdLst/>
              <a:ahLst/>
              <a:cxnLst/>
              <a:rect r="r" b="b" t="t" l="l"/>
              <a:pathLst>
                <a:path h="38100" w="21640800">
                  <a:moveTo>
                    <a:pt x="0" y="0"/>
                  </a:moveTo>
                  <a:lnTo>
                    <a:pt x="21640800" y="0"/>
                  </a:lnTo>
                  <a:lnTo>
                    <a:pt x="216408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FF1E8">
                <a:alpha val="69804"/>
              </a:srgbClr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216408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5163800" y="914400"/>
            <a:ext cx="2095500" cy="1333500"/>
            <a:chOff x="0" y="0"/>
            <a:chExt cx="2794000" cy="1778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76200" y="76200"/>
              <a:ext cx="26416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2641600">
                  <a:moveTo>
                    <a:pt x="0" y="50800"/>
                  </a:move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ubicBezTo>
                    <a:pt x="22744" y="0"/>
                    <a:pt x="0" y="22744"/>
                    <a:pt x="0" y="50800"/>
                  </a:cubicBezTo>
                  <a:close/>
                  <a:moveTo>
                    <a:pt x="508000" y="50800"/>
                  </a:moveTo>
                  <a:cubicBezTo>
                    <a:pt x="508000" y="78856"/>
                    <a:pt x="530744" y="101600"/>
                    <a:pt x="558800" y="101600"/>
                  </a:cubicBezTo>
                  <a:cubicBezTo>
                    <a:pt x="586856" y="101600"/>
                    <a:pt x="609600" y="78856"/>
                    <a:pt x="609600" y="50800"/>
                  </a:cubicBezTo>
                  <a:cubicBezTo>
                    <a:pt x="609600" y="22744"/>
                    <a:pt x="586856" y="0"/>
                    <a:pt x="558800" y="0"/>
                  </a:cubicBezTo>
                  <a:cubicBezTo>
                    <a:pt x="530744" y="0"/>
                    <a:pt x="508000" y="22744"/>
                    <a:pt x="508000" y="50800"/>
                  </a:cubicBezTo>
                  <a:close/>
                  <a:moveTo>
                    <a:pt x="1016000" y="50800"/>
                  </a:moveTo>
                  <a:cubicBezTo>
                    <a:pt x="1016000" y="78856"/>
                    <a:pt x="1038744" y="101600"/>
                    <a:pt x="1066800" y="101600"/>
                  </a:cubicBezTo>
                  <a:cubicBezTo>
                    <a:pt x="1094856" y="101600"/>
                    <a:pt x="1117600" y="78856"/>
                    <a:pt x="1117600" y="50800"/>
                  </a:cubicBezTo>
                  <a:cubicBezTo>
                    <a:pt x="1117600" y="22744"/>
                    <a:pt x="1094856" y="0"/>
                    <a:pt x="1066800" y="0"/>
                  </a:cubicBezTo>
                  <a:cubicBezTo>
                    <a:pt x="1038744" y="0"/>
                    <a:pt x="1016000" y="22744"/>
                    <a:pt x="1016000" y="50800"/>
                  </a:cubicBezTo>
                  <a:close/>
                  <a:moveTo>
                    <a:pt x="1524000" y="50800"/>
                  </a:moveTo>
                  <a:cubicBezTo>
                    <a:pt x="1524000" y="78856"/>
                    <a:pt x="1546744" y="101600"/>
                    <a:pt x="1574800" y="101600"/>
                  </a:cubicBezTo>
                  <a:cubicBezTo>
                    <a:pt x="1602856" y="101600"/>
                    <a:pt x="1625600" y="78856"/>
                    <a:pt x="1625600" y="50800"/>
                  </a:cubicBezTo>
                  <a:cubicBezTo>
                    <a:pt x="1625600" y="22744"/>
                    <a:pt x="1602856" y="0"/>
                    <a:pt x="1574800" y="0"/>
                  </a:cubicBezTo>
                  <a:cubicBezTo>
                    <a:pt x="1546744" y="0"/>
                    <a:pt x="1524000" y="22744"/>
                    <a:pt x="1524000" y="50800"/>
                  </a:cubicBezTo>
                  <a:close/>
                  <a:moveTo>
                    <a:pt x="2032000" y="50800"/>
                  </a:moveTo>
                  <a:cubicBezTo>
                    <a:pt x="2032000" y="78856"/>
                    <a:pt x="2054744" y="101600"/>
                    <a:pt x="2082800" y="101600"/>
                  </a:cubicBezTo>
                  <a:cubicBezTo>
                    <a:pt x="2110856" y="101600"/>
                    <a:pt x="2133600" y="78856"/>
                    <a:pt x="2133600" y="50800"/>
                  </a:cubicBezTo>
                  <a:cubicBezTo>
                    <a:pt x="2133600" y="22744"/>
                    <a:pt x="2110856" y="0"/>
                    <a:pt x="2082800" y="0"/>
                  </a:cubicBezTo>
                  <a:cubicBezTo>
                    <a:pt x="2054744" y="0"/>
                    <a:pt x="2032000" y="22744"/>
                    <a:pt x="2032000" y="50800"/>
                  </a:cubicBezTo>
                  <a:close/>
                  <a:moveTo>
                    <a:pt x="2540000" y="50800"/>
                  </a:moveTo>
                  <a:cubicBezTo>
                    <a:pt x="2540000" y="78856"/>
                    <a:pt x="2562744" y="101600"/>
                    <a:pt x="2590800" y="101600"/>
                  </a:cubicBezTo>
                  <a:cubicBezTo>
                    <a:pt x="2618856" y="101600"/>
                    <a:pt x="2641600" y="78856"/>
                    <a:pt x="2641600" y="50800"/>
                  </a:cubicBezTo>
                  <a:cubicBezTo>
                    <a:pt x="2641600" y="22744"/>
                    <a:pt x="2618856" y="0"/>
                    <a:pt x="2590800" y="0"/>
                  </a:cubicBezTo>
                  <a:cubicBezTo>
                    <a:pt x="2562744" y="0"/>
                    <a:pt x="2540000" y="22744"/>
                    <a:pt x="2540000" y="50800"/>
                  </a:cubicBezTo>
                  <a:close/>
                  <a:moveTo>
                    <a:pt x="0" y="558800"/>
                  </a:moveTo>
                  <a:cubicBezTo>
                    <a:pt x="0" y="586856"/>
                    <a:pt x="22744" y="609600"/>
                    <a:pt x="50800" y="609600"/>
                  </a:cubicBezTo>
                  <a:cubicBezTo>
                    <a:pt x="78856" y="609600"/>
                    <a:pt x="101600" y="586856"/>
                    <a:pt x="101600" y="558800"/>
                  </a:cubicBezTo>
                  <a:cubicBezTo>
                    <a:pt x="101600" y="530744"/>
                    <a:pt x="78856" y="508000"/>
                    <a:pt x="50800" y="508000"/>
                  </a:cubicBezTo>
                  <a:cubicBezTo>
                    <a:pt x="22744" y="508000"/>
                    <a:pt x="0" y="530744"/>
                    <a:pt x="0" y="558800"/>
                  </a:cubicBezTo>
                  <a:close/>
                  <a:moveTo>
                    <a:pt x="508000" y="558800"/>
                  </a:moveTo>
                  <a:cubicBezTo>
                    <a:pt x="508000" y="586856"/>
                    <a:pt x="530744" y="609600"/>
                    <a:pt x="558800" y="609600"/>
                  </a:cubicBezTo>
                  <a:cubicBezTo>
                    <a:pt x="586856" y="609600"/>
                    <a:pt x="609600" y="586856"/>
                    <a:pt x="609600" y="558800"/>
                  </a:cubicBezTo>
                  <a:cubicBezTo>
                    <a:pt x="609600" y="530744"/>
                    <a:pt x="586856" y="508000"/>
                    <a:pt x="558800" y="508000"/>
                  </a:cubicBezTo>
                  <a:cubicBezTo>
                    <a:pt x="530744" y="508000"/>
                    <a:pt x="508000" y="530744"/>
                    <a:pt x="508000" y="558800"/>
                  </a:cubicBezTo>
                  <a:close/>
                  <a:moveTo>
                    <a:pt x="1016000" y="558800"/>
                  </a:moveTo>
                  <a:cubicBezTo>
                    <a:pt x="1016000" y="586856"/>
                    <a:pt x="1038744" y="609600"/>
                    <a:pt x="1066800" y="609600"/>
                  </a:cubicBezTo>
                  <a:cubicBezTo>
                    <a:pt x="1094856" y="609600"/>
                    <a:pt x="1117600" y="586856"/>
                    <a:pt x="1117600" y="558800"/>
                  </a:cubicBezTo>
                  <a:cubicBezTo>
                    <a:pt x="1117600" y="530744"/>
                    <a:pt x="1094856" y="508000"/>
                    <a:pt x="1066800" y="508000"/>
                  </a:cubicBezTo>
                  <a:cubicBezTo>
                    <a:pt x="1038744" y="508000"/>
                    <a:pt x="1016000" y="530744"/>
                    <a:pt x="1016000" y="558800"/>
                  </a:cubicBezTo>
                  <a:close/>
                  <a:moveTo>
                    <a:pt x="1524000" y="558800"/>
                  </a:moveTo>
                  <a:cubicBezTo>
                    <a:pt x="1524000" y="586856"/>
                    <a:pt x="1546744" y="609600"/>
                    <a:pt x="1574800" y="609600"/>
                  </a:cubicBezTo>
                  <a:cubicBezTo>
                    <a:pt x="1602856" y="609600"/>
                    <a:pt x="1625600" y="586856"/>
                    <a:pt x="1625600" y="558800"/>
                  </a:cubicBezTo>
                  <a:cubicBezTo>
                    <a:pt x="1625600" y="530744"/>
                    <a:pt x="1602856" y="508000"/>
                    <a:pt x="1574800" y="508000"/>
                  </a:cubicBezTo>
                  <a:cubicBezTo>
                    <a:pt x="1546744" y="508000"/>
                    <a:pt x="1524000" y="530744"/>
                    <a:pt x="1524000" y="558800"/>
                  </a:cubicBezTo>
                  <a:close/>
                  <a:moveTo>
                    <a:pt x="2032000" y="558800"/>
                  </a:moveTo>
                  <a:cubicBezTo>
                    <a:pt x="2032000" y="586856"/>
                    <a:pt x="2054744" y="609600"/>
                    <a:pt x="2082800" y="609600"/>
                  </a:cubicBezTo>
                  <a:cubicBezTo>
                    <a:pt x="2110856" y="609600"/>
                    <a:pt x="2133600" y="586856"/>
                    <a:pt x="2133600" y="558800"/>
                  </a:cubicBezTo>
                  <a:cubicBezTo>
                    <a:pt x="2133600" y="530744"/>
                    <a:pt x="2110856" y="508000"/>
                    <a:pt x="2082800" y="508000"/>
                  </a:cubicBezTo>
                  <a:cubicBezTo>
                    <a:pt x="2054744" y="508000"/>
                    <a:pt x="2032000" y="530744"/>
                    <a:pt x="2032000" y="558800"/>
                  </a:cubicBezTo>
                  <a:close/>
                  <a:moveTo>
                    <a:pt x="2540000" y="558800"/>
                  </a:moveTo>
                  <a:cubicBezTo>
                    <a:pt x="2540000" y="586856"/>
                    <a:pt x="2562744" y="609600"/>
                    <a:pt x="2590800" y="609600"/>
                  </a:cubicBezTo>
                  <a:cubicBezTo>
                    <a:pt x="2618856" y="609600"/>
                    <a:pt x="2641600" y="586856"/>
                    <a:pt x="2641600" y="558800"/>
                  </a:cubicBezTo>
                  <a:cubicBezTo>
                    <a:pt x="2641600" y="530744"/>
                    <a:pt x="2618856" y="508000"/>
                    <a:pt x="2590800" y="508000"/>
                  </a:cubicBezTo>
                  <a:cubicBezTo>
                    <a:pt x="2562744" y="508000"/>
                    <a:pt x="2540000" y="530744"/>
                    <a:pt x="2540000" y="558800"/>
                  </a:cubicBezTo>
                  <a:close/>
                  <a:moveTo>
                    <a:pt x="0" y="1066800"/>
                  </a:moveTo>
                  <a:cubicBezTo>
                    <a:pt x="0" y="1094856"/>
                    <a:pt x="22744" y="1117600"/>
                    <a:pt x="50800" y="1117600"/>
                  </a:cubicBezTo>
                  <a:cubicBezTo>
                    <a:pt x="78856" y="1117600"/>
                    <a:pt x="101600" y="1094856"/>
                    <a:pt x="101600" y="1066800"/>
                  </a:cubicBezTo>
                  <a:cubicBezTo>
                    <a:pt x="101600" y="1038744"/>
                    <a:pt x="78856" y="1016000"/>
                    <a:pt x="50800" y="1016000"/>
                  </a:cubicBezTo>
                  <a:cubicBezTo>
                    <a:pt x="22744" y="1016000"/>
                    <a:pt x="0" y="1038744"/>
                    <a:pt x="0" y="1066800"/>
                  </a:cubicBezTo>
                  <a:close/>
                  <a:moveTo>
                    <a:pt x="508000" y="1066800"/>
                  </a:moveTo>
                  <a:cubicBezTo>
                    <a:pt x="508000" y="1094856"/>
                    <a:pt x="530744" y="1117600"/>
                    <a:pt x="558800" y="1117600"/>
                  </a:cubicBezTo>
                  <a:cubicBezTo>
                    <a:pt x="586856" y="1117600"/>
                    <a:pt x="609600" y="1094856"/>
                    <a:pt x="609600" y="1066800"/>
                  </a:cubicBezTo>
                  <a:cubicBezTo>
                    <a:pt x="609600" y="1038744"/>
                    <a:pt x="586856" y="1016000"/>
                    <a:pt x="558800" y="1016000"/>
                  </a:cubicBezTo>
                  <a:cubicBezTo>
                    <a:pt x="530744" y="1016000"/>
                    <a:pt x="508000" y="1038744"/>
                    <a:pt x="508000" y="1066800"/>
                  </a:cubicBezTo>
                  <a:close/>
                  <a:moveTo>
                    <a:pt x="1016000" y="1066800"/>
                  </a:moveTo>
                  <a:cubicBezTo>
                    <a:pt x="1016000" y="1094856"/>
                    <a:pt x="1038744" y="1117600"/>
                    <a:pt x="1066800" y="1117600"/>
                  </a:cubicBezTo>
                  <a:cubicBezTo>
                    <a:pt x="1094856" y="1117600"/>
                    <a:pt x="1117600" y="1094856"/>
                    <a:pt x="1117600" y="1066800"/>
                  </a:cubicBezTo>
                  <a:cubicBezTo>
                    <a:pt x="1117600" y="1038744"/>
                    <a:pt x="1094856" y="1016000"/>
                    <a:pt x="1066800" y="1016000"/>
                  </a:cubicBezTo>
                  <a:cubicBezTo>
                    <a:pt x="1038744" y="1016000"/>
                    <a:pt x="1016000" y="1038744"/>
                    <a:pt x="1016000" y="1066800"/>
                  </a:cubicBezTo>
                  <a:close/>
                  <a:moveTo>
                    <a:pt x="1524000" y="1066800"/>
                  </a:moveTo>
                  <a:cubicBezTo>
                    <a:pt x="1524000" y="1094856"/>
                    <a:pt x="1546744" y="1117600"/>
                    <a:pt x="1574800" y="1117600"/>
                  </a:cubicBezTo>
                  <a:cubicBezTo>
                    <a:pt x="1602856" y="1117600"/>
                    <a:pt x="1625600" y="1094856"/>
                    <a:pt x="1625600" y="1066800"/>
                  </a:cubicBezTo>
                  <a:cubicBezTo>
                    <a:pt x="1625600" y="1038744"/>
                    <a:pt x="1602856" y="1016000"/>
                    <a:pt x="1574800" y="1016000"/>
                  </a:cubicBezTo>
                  <a:cubicBezTo>
                    <a:pt x="1546744" y="1016000"/>
                    <a:pt x="1524000" y="1038744"/>
                    <a:pt x="1524000" y="1066800"/>
                  </a:cubicBezTo>
                  <a:close/>
                  <a:moveTo>
                    <a:pt x="2032000" y="1066800"/>
                  </a:moveTo>
                  <a:cubicBezTo>
                    <a:pt x="2032000" y="1094856"/>
                    <a:pt x="2054744" y="1117600"/>
                    <a:pt x="2082800" y="1117600"/>
                  </a:cubicBezTo>
                  <a:cubicBezTo>
                    <a:pt x="2110856" y="1117600"/>
                    <a:pt x="2133600" y="1094856"/>
                    <a:pt x="2133600" y="1066800"/>
                  </a:cubicBezTo>
                  <a:cubicBezTo>
                    <a:pt x="2133600" y="1038744"/>
                    <a:pt x="2110856" y="1016000"/>
                    <a:pt x="2082800" y="1016000"/>
                  </a:cubicBezTo>
                  <a:cubicBezTo>
                    <a:pt x="2054744" y="1016000"/>
                    <a:pt x="2032000" y="1038744"/>
                    <a:pt x="2032000" y="1066800"/>
                  </a:cubicBezTo>
                  <a:close/>
                  <a:moveTo>
                    <a:pt x="2540000" y="1066800"/>
                  </a:moveTo>
                  <a:cubicBezTo>
                    <a:pt x="2540000" y="1094856"/>
                    <a:pt x="2562744" y="1117600"/>
                    <a:pt x="2590800" y="1117600"/>
                  </a:cubicBezTo>
                  <a:cubicBezTo>
                    <a:pt x="2618856" y="1117600"/>
                    <a:pt x="2641600" y="1094856"/>
                    <a:pt x="2641600" y="1066800"/>
                  </a:cubicBezTo>
                  <a:cubicBezTo>
                    <a:pt x="2641600" y="1038744"/>
                    <a:pt x="2618856" y="1016000"/>
                    <a:pt x="2590800" y="1016000"/>
                  </a:cubicBezTo>
                  <a:cubicBezTo>
                    <a:pt x="2562744" y="1016000"/>
                    <a:pt x="2540000" y="1038744"/>
                    <a:pt x="2540000" y="1066800"/>
                  </a:cubicBezTo>
                  <a:close/>
                  <a:moveTo>
                    <a:pt x="0" y="1574800"/>
                  </a:moveTo>
                  <a:cubicBezTo>
                    <a:pt x="0" y="1602856"/>
                    <a:pt x="22744" y="1625600"/>
                    <a:pt x="50800" y="1625600"/>
                  </a:cubicBezTo>
                  <a:cubicBezTo>
                    <a:pt x="78856" y="1625600"/>
                    <a:pt x="101600" y="1602856"/>
                    <a:pt x="101600" y="1574800"/>
                  </a:cubicBezTo>
                  <a:cubicBezTo>
                    <a:pt x="101600" y="1546744"/>
                    <a:pt x="78856" y="1524000"/>
                    <a:pt x="50800" y="1524000"/>
                  </a:cubicBezTo>
                  <a:cubicBezTo>
                    <a:pt x="22744" y="1524000"/>
                    <a:pt x="0" y="1546744"/>
                    <a:pt x="0" y="1574800"/>
                  </a:cubicBezTo>
                  <a:close/>
                  <a:moveTo>
                    <a:pt x="508000" y="1574800"/>
                  </a:moveTo>
                  <a:cubicBezTo>
                    <a:pt x="508000" y="1602856"/>
                    <a:pt x="530744" y="1625600"/>
                    <a:pt x="558800" y="1625600"/>
                  </a:cubicBezTo>
                  <a:cubicBezTo>
                    <a:pt x="586856" y="1625600"/>
                    <a:pt x="609600" y="1602856"/>
                    <a:pt x="609600" y="1574800"/>
                  </a:cubicBezTo>
                  <a:cubicBezTo>
                    <a:pt x="609600" y="1546744"/>
                    <a:pt x="586856" y="1524000"/>
                    <a:pt x="558800" y="1524000"/>
                  </a:cubicBezTo>
                  <a:cubicBezTo>
                    <a:pt x="530744" y="1524000"/>
                    <a:pt x="508000" y="1546744"/>
                    <a:pt x="508000" y="1574800"/>
                  </a:cubicBezTo>
                  <a:close/>
                  <a:moveTo>
                    <a:pt x="1016000" y="1574800"/>
                  </a:moveTo>
                  <a:cubicBezTo>
                    <a:pt x="1016000" y="1602856"/>
                    <a:pt x="1038744" y="1625600"/>
                    <a:pt x="1066800" y="1625600"/>
                  </a:cubicBezTo>
                  <a:cubicBezTo>
                    <a:pt x="1094856" y="1625600"/>
                    <a:pt x="1117600" y="1602856"/>
                    <a:pt x="1117600" y="1574800"/>
                  </a:cubicBezTo>
                  <a:cubicBezTo>
                    <a:pt x="1117600" y="1546744"/>
                    <a:pt x="1094856" y="1524000"/>
                    <a:pt x="1066800" y="1524000"/>
                  </a:cubicBezTo>
                  <a:cubicBezTo>
                    <a:pt x="1038744" y="1524000"/>
                    <a:pt x="1016000" y="1546744"/>
                    <a:pt x="1016000" y="1574800"/>
                  </a:cubicBezTo>
                  <a:close/>
                  <a:moveTo>
                    <a:pt x="1524000" y="1574800"/>
                  </a:moveTo>
                  <a:cubicBezTo>
                    <a:pt x="1524000" y="1602856"/>
                    <a:pt x="1546744" y="1625600"/>
                    <a:pt x="1574800" y="1625600"/>
                  </a:cubicBezTo>
                  <a:cubicBezTo>
                    <a:pt x="1602856" y="1625600"/>
                    <a:pt x="1625600" y="1602856"/>
                    <a:pt x="1625600" y="1574800"/>
                  </a:cubicBezTo>
                  <a:cubicBezTo>
                    <a:pt x="1625600" y="1546744"/>
                    <a:pt x="1602856" y="1524000"/>
                    <a:pt x="1574800" y="1524000"/>
                  </a:cubicBezTo>
                  <a:cubicBezTo>
                    <a:pt x="1546744" y="1524000"/>
                    <a:pt x="1524000" y="1546744"/>
                    <a:pt x="1524000" y="1574800"/>
                  </a:cubicBezTo>
                  <a:close/>
                  <a:moveTo>
                    <a:pt x="2032000" y="1574800"/>
                  </a:moveTo>
                  <a:cubicBezTo>
                    <a:pt x="2032000" y="1602856"/>
                    <a:pt x="2054744" y="1625600"/>
                    <a:pt x="2082800" y="1625600"/>
                  </a:cubicBezTo>
                  <a:cubicBezTo>
                    <a:pt x="2110856" y="1625600"/>
                    <a:pt x="2133600" y="1602856"/>
                    <a:pt x="2133600" y="1574800"/>
                  </a:cubicBezTo>
                  <a:cubicBezTo>
                    <a:pt x="2133600" y="1546744"/>
                    <a:pt x="2110856" y="1524000"/>
                    <a:pt x="2082800" y="1524000"/>
                  </a:cubicBezTo>
                  <a:cubicBezTo>
                    <a:pt x="2054744" y="1524000"/>
                    <a:pt x="2032000" y="1546744"/>
                    <a:pt x="2032000" y="1574800"/>
                  </a:cubicBezTo>
                  <a:close/>
                  <a:moveTo>
                    <a:pt x="2540000" y="1574800"/>
                  </a:moveTo>
                  <a:cubicBezTo>
                    <a:pt x="2540000" y="1602856"/>
                    <a:pt x="2562744" y="1625600"/>
                    <a:pt x="2590800" y="1625600"/>
                  </a:cubicBezTo>
                  <a:cubicBezTo>
                    <a:pt x="2618856" y="1625600"/>
                    <a:pt x="2641600" y="1602856"/>
                    <a:pt x="2641600" y="1574800"/>
                  </a:cubicBezTo>
                  <a:cubicBezTo>
                    <a:pt x="2641600" y="1546744"/>
                    <a:pt x="2618856" y="1524000"/>
                    <a:pt x="2590800" y="1524000"/>
                  </a:cubicBezTo>
                  <a:cubicBezTo>
                    <a:pt x="2562744" y="1524000"/>
                    <a:pt x="2540000" y="1546744"/>
                    <a:pt x="2540000" y="1574800"/>
                  </a:cubicBezTo>
                  <a:close/>
                </a:path>
              </a:pathLst>
            </a:custGeom>
            <a:solidFill>
              <a:srgbClr val="EFF1E8">
                <a:alpha val="49804"/>
              </a:srgbClr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2794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6400800" y="5438775"/>
            <a:ext cx="10858500" cy="19050"/>
            <a:chOff x="0" y="0"/>
            <a:chExt cx="14478000" cy="25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400800" y="6772275"/>
            <a:ext cx="10858500" cy="19050"/>
            <a:chOff x="0" y="0"/>
            <a:chExt cx="14478000" cy="254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6400800" y="8105775"/>
            <a:ext cx="10858500" cy="19050"/>
            <a:chOff x="0" y="0"/>
            <a:chExt cx="14478000" cy="254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219200"/>
            <a:ext cx="13146306" cy="1245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ERP / Accounting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600325"/>
            <a:ext cx="11590121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Translating Treasury activity into controlled accounting processes and ERP data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486150"/>
            <a:ext cx="4762500" cy="30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Flow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00800" y="3486150"/>
            <a:ext cx="10572750" cy="30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My Role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6000750"/>
            <a:ext cx="4762500" cy="1371600"/>
            <a:chOff x="0" y="0"/>
            <a:chExt cx="1957426" cy="56373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957426" cy="563739"/>
            </a:xfrm>
            <a:custGeom>
              <a:avLst/>
              <a:gdLst/>
              <a:ahLst/>
              <a:cxnLst/>
              <a:rect r="r" b="b" t="t" l="l"/>
              <a:pathLst>
                <a:path h="563739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539355"/>
                  </a:lnTo>
                  <a:cubicBezTo>
                    <a:pt x="1957426" y="552822"/>
                    <a:pt x="1946509" y="563739"/>
                    <a:pt x="1933042" y="563739"/>
                  </a:cubicBezTo>
                  <a:lnTo>
                    <a:pt x="24384" y="563739"/>
                  </a:lnTo>
                  <a:cubicBezTo>
                    <a:pt x="17917" y="563739"/>
                    <a:pt x="11715" y="561170"/>
                    <a:pt x="7142" y="556597"/>
                  </a:cubicBezTo>
                  <a:cubicBezTo>
                    <a:pt x="2569" y="552024"/>
                    <a:pt x="0" y="545822"/>
                    <a:pt x="0" y="539355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957426" cy="563739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314450" y="6153150"/>
            <a:ext cx="4191000" cy="1008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Financial Accounting - setup, Accruals, MTM, GL generation &amp; approval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400800" y="5986462"/>
            <a:ext cx="10572750" cy="1342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Refined financial transaction templates and configuration with Finance and the Kyriba team; reviewed, mapped and 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improved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the setup, created procedures 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and documented the end-to-end process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from accruals and MTM through GL entries and approval.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8700" y="7753350"/>
            <a:ext cx="4762500" cy="1371600"/>
            <a:chOff x="0" y="0"/>
            <a:chExt cx="1957426" cy="56373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57426" cy="563739"/>
            </a:xfrm>
            <a:custGeom>
              <a:avLst/>
              <a:gdLst/>
              <a:ahLst/>
              <a:cxnLst/>
              <a:rect r="r" b="b" t="t" l="l"/>
              <a:pathLst>
                <a:path h="563739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539355"/>
                  </a:lnTo>
                  <a:cubicBezTo>
                    <a:pt x="1957426" y="552822"/>
                    <a:pt x="1946509" y="563739"/>
                    <a:pt x="1933042" y="563739"/>
                  </a:cubicBezTo>
                  <a:lnTo>
                    <a:pt x="24384" y="563739"/>
                  </a:lnTo>
                  <a:cubicBezTo>
                    <a:pt x="17917" y="563739"/>
                    <a:pt x="11715" y="561170"/>
                    <a:pt x="7142" y="556597"/>
                  </a:cubicBezTo>
                  <a:cubicBezTo>
                    <a:pt x="2569" y="552024"/>
                    <a:pt x="0" y="545822"/>
                    <a:pt x="0" y="539355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957426" cy="563739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14450" y="8072438"/>
            <a:ext cx="419100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ERP Connectivity  - Open API &amp; Data Platform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400800" y="8072438"/>
            <a:ext cx="1057275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Established the Kyriba data template required for Open API extraction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with IT; checked the output and tested the data through the data platform.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28700" y="4248150"/>
            <a:ext cx="4762500" cy="1371600"/>
            <a:chOff x="0" y="0"/>
            <a:chExt cx="1957426" cy="56373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7426" cy="563739"/>
            </a:xfrm>
            <a:custGeom>
              <a:avLst/>
              <a:gdLst/>
              <a:ahLst/>
              <a:cxnLst/>
              <a:rect r="r" b="b" t="t" l="l"/>
              <a:pathLst>
                <a:path h="563739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539355"/>
                  </a:lnTo>
                  <a:cubicBezTo>
                    <a:pt x="1957426" y="552822"/>
                    <a:pt x="1946509" y="563739"/>
                    <a:pt x="1933042" y="563739"/>
                  </a:cubicBezTo>
                  <a:lnTo>
                    <a:pt x="24384" y="563739"/>
                  </a:lnTo>
                  <a:cubicBezTo>
                    <a:pt x="17917" y="563739"/>
                    <a:pt x="11715" y="561170"/>
                    <a:pt x="7142" y="556597"/>
                  </a:cubicBezTo>
                  <a:cubicBezTo>
                    <a:pt x="2569" y="552024"/>
                    <a:pt x="0" y="545822"/>
                    <a:pt x="0" y="539355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1957426" cy="563739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314450" y="4567238"/>
            <a:ext cx="419100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Cash Accounting - setup, GL generation &amp; approval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400800" y="4233862"/>
            <a:ext cx="10572750" cy="1342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Worked with Finance to 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define cash accounting requirements and transaction mappings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; reviewed 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and improved configuration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, documented the process from GL generation through review and approval, improved robustness and reduced ongoing maintenance.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066800" y="285750"/>
            <a:ext cx="648511" cy="609600"/>
          </a:xfrm>
          <a:custGeom>
            <a:avLst/>
            <a:gdLst/>
            <a:ahLst/>
            <a:cxnLst/>
            <a:rect r="r" b="b" t="t" l="l"/>
            <a:pathLst>
              <a:path h="609600" w="648511">
                <a:moveTo>
                  <a:pt x="0" y="0"/>
                </a:moveTo>
                <a:lnTo>
                  <a:pt x="648511" y="0"/>
                </a:lnTo>
                <a:lnTo>
                  <a:pt x="648511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2" id="22"/>
          <p:cNvGrpSpPr/>
          <p:nvPr/>
        </p:nvGrpSpPr>
        <p:grpSpPr>
          <a:xfrm rot="0">
            <a:off x="1028700" y="3981450"/>
            <a:ext cx="16230600" cy="28575"/>
            <a:chOff x="0" y="0"/>
            <a:chExt cx="21640800" cy="381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640800" cy="38100"/>
            </a:xfrm>
            <a:custGeom>
              <a:avLst/>
              <a:gdLst/>
              <a:ahLst/>
              <a:cxnLst/>
              <a:rect r="r" b="b" t="t" l="l"/>
              <a:pathLst>
                <a:path h="38100" w="21640800">
                  <a:moveTo>
                    <a:pt x="0" y="0"/>
                  </a:moveTo>
                  <a:lnTo>
                    <a:pt x="21640800" y="0"/>
                  </a:lnTo>
                  <a:lnTo>
                    <a:pt x="216408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FF1E8">
                <a:alpha val="69804"/>
              </a:srgbClr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16408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163800" y="914400"/>
            <a:ext cx="2095500" cy="1333500"/>
            <a:chOff x="0" y="0"/>
            <a:chExt cx="2794000" cy="1778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76200" y="76200"/>
              <a:ext cx="26416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2641600">
                  <a:moveTo>
                    <a:pt x="0" y="50800"/>
                  </a:move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ubicBezTo>
                    <a:pt x="22744" y="0"/>
                    <a:pt x="0" y="22744"/>
                    <a:pt x="0" y="50800"/>
                  </a:cubicBezTo>
                  <a:close/>
                  <a:moveTo>
                    <a:pt x="508000" y="50800"/>
                  </a:moveTo>
                  <a:cubicBezTo>
                    <a:pt x="508000" y="78856"/>
                    <a:pt x="530744" y="101600"/>
                    <a:pt x="558800" y="101600"/>
                  </a:cubicBezTo>
                  <a:cubicBezTo>
                    <a:pt x="586856" y="101600"/>
                    <a:pt x="609600" y="78856"/>
                    <a:pt x="609600" y="50800"/>
                  </a:cubicBezTo>
                  <a:cubicBezTo>
                    <a:pt x="609600" y="22744"/>
                    <a:pt x="586856" y="0"/>
                    <a:pt x="558800" y="0"/>
                  </a:cubicBezTo>
                  <a:cubicBezTo>
                    <a:pt x="530744" y="0"/>
                    <a:pt x="508000" y="22744"/>
                    <a:pt x="508000" y="50800"/>
                  </a:cubicBezTo>
                  <a:close/>
                  <a:moveTo>
                    <a:pt x="1016000" y="50800"/>
                  </a:moveTo>
                  <a:cubicBezTo>
                    <a:pt x="1016000" y="78856"/>
                    <a:pt x="1038744" y="101600"/>
                    <a:pt x="1066800" y="101600"/>
                  </a:cubicBezTo>
                  <a:cubicBezTo>
                    <a:pt x="1094856" y="101600"/>
                    <a:pt x="1117600" y="78856"/>
                    <a:pt x="1117600" y="50800"/>
                  </a:cubicBezTo>
                  <a:cubicBezTo>
                    <a:pt x="1117600" y="22744"/>
                    <a:pt x="1094856" y="0"/>
                    <a:pt x="1066800" y="0"/>
                  </a:cubicBezTo>
                  <a:cubicBezTo>
                    <a:pt x="1038744" y="0"/>
                    <a:pt x="1016000" y="22744"/>
                    <a:pt x="1016000" y="50800"/>
                  </a:cubicBezTo>
                  <a:close/>
                  <a:moveTo>
                    <a:pt x="1524000" y="50800"/>
                  </a:moveTo>
                  <a:cubicBezTo>
                    <a:pt x="1524000" y="78856"/>
                    <a:pt x="1546744" y="101600"/>
                    <a:pt x="1574800" y="101600"/>
                  </a:cubicBezTo>
                  <a:cubicBezTo>
                    <a:pt x="1602856" y="101600"/>
                    <a:pt x="1625600" y="78856"/>
                    <a:pt x="1625600" y="50800"/>
                  </a:cubicBezTo>
                  <a:cubicBezTo>
                    <a:pt x="1625600" y="22744"/>
                    <a:pt x="1602856" y="0"/>
                    <a:pt x="1574800" y="0"/>
                  </a:cubicBezTo>
                  <a:cubicBezTo>
                    <a:pt x="1546744" y="0"/>
                    <a:pt x="1524000" y="22744"/>
                    <a:pt x="1524000" y="50800"/>
                  </a:cubicBezTo>
                  <a:close/>
                  <a:moveTo>
                    <a:pt x="2032000" y="50800"/>
                  </a:moveTo>
                  <a:cubicBezTo>
                    <a:pt x="2032000" y="78856"/>
                    <a:pt x="2054744" y="101600"/>
                    <a:pt x="2082800" y="101600"/>
                  </a:cubicBezTo>
                  <a:cubicBezTo>
                    <a:pt x="2110856" y="101600"/>
                    <a:pt x="2133600" y="78856"/>
                    <a:pt x="2133600" y="50800"/>
                  </a:cubicBezTo>
                  <a:cubicBezTo>
                    <a:pt x="2133600" y="22744"/>
                    <a:pt x="2110856" y="0"/>
                    <a:pt x="2082800" y="0"/>
                  </a:cubicBezTo>
                  <a:cubicBezTo>
                    <a:pt x="2054744" y="0"/>
                    <a:pt x="2032000" y="22744"/>
                    <a:pt x="2032000" y="50800"/>
                  </a:cubicBezTo>
                  <a:close/>
                  <a:moveTo>
                    <a:pt x="2540000" y="50800"/>
                  </a:moveTo>
                  <a:cubicBezTo>
                    <a:pt x="2540000" y="78856"/>
                    <a:pt x="2562744" y="101600"/>
                    <a:pt x="2590800" y="101600"/>
                  </a:cubicBezTo>
                  <a:cubicBezTo>
                    <a:pt x="2618856" y="101600"/>
                    <a:pt x="2641600" y="78856"/>
                    <a:pt x="2641600" y="50800"/>
                  </a:cubicBezTo>
                  <a:cubicBezTo>
                    <a:pt x="2641600" y="22744"/>
                    <a:pt x="2618856" y="0"/>
                    <a:pt x="2590800" y="0"/>
                  </a:cubicBezTo>
                  <a:cubicBezTo>
                    <a:pt x="2562744" y="0"/>
                    <a:pt x="2540000" y="22744"/>
                    <a:pt x="2540000" y="50800"/>
                  </a:cubicBezTo>
                  <a:close/>
                  <a:moveTo>
                    <a:pt x="0" y="558800"/>
                  </a:moveTo>
                  <a:cubicBezTo>
                    <a:pt x="0" y="586856"/>
                    <a:pt x="22744" y="609600"/>
                    <a:pt x="50800" y="609600"/>
                  </a:cubicBezTo>
                  <a:cubicBezTo>
                    <a:pt x="78856" y="609600"/>
                    <a:pt x="101600" y="586856"/>
                    <a:pt x="101600" y="558800"/>
                  </a:cubicBezTo>
                  <a:cubicBezTo>
                    <a:pt x="101600" y="530744"/>
                    <a:pt x="78856" y="508000"/>
                    <a:pt x="50800" y="508000"/>
                  </a:cubicBezTo>
                  <a:cubicBezTo>
                    <a:pt x="22744" y="508000"/>
                    <a:pt x="0" y="530744"/>
                    <a:pt x="0" y="558800"/>
                  </a:cubicBezTo>
                  <a:close/>
                  <a:moveTo>
                    <a:pt x="508000" y="558800"/>
                  </a:moveTo>
                  <a:cubicBezTo>
                    <a:pt x="508000" y="586856"/>
                    <a:pt x="530744" y="609600"/>
                    <a:pt x="558800" y="609600"/>
                  </a:cubicBezTo>
                  <a:cubicBezTo>
                    <a:pt x="586856" y="609600"/>
                    <a:pt x="609600" y="586856"/>
                    <a:pt x="609600" y="558800"/>
                  </a:cubicBezTo>
                  <a:cubicBezTo>
                    <a:pt x="609600" y="530744"/>
                    <a:pt x="586856" y="508000"/>
                    <a:pt x="558800" y="508000"/>
                  </a:cubicBezTo>
                  <a:cubicBezTo>
                    <a:pt x="530744" y="508000"/>
                    <a:pt x="508000" y="530744"/>
                    <a:pt x="508000" y="558800"/>
                  </a:cubicBezTo>
                  <a:close/>
                  <a:moveTo>
                    <a:pt x="1016000" y="558800"/>
                  </a:moveTo>
                  <a:cubicBezTo>
                    <a:pt x="1016000" y="586856"/>
                    <a:pt x="1038744" y="609600"/>
                    <a:pt x="1066800" y="609600"/>
                  </a:cubicBezTo>
                  <a:cubicBezTo>
                    <a:pt x="1094856" y="609600"/>
                    <a:pt x="1117600" y="586856"/>
                    <a:pt x="1117600" y="558800"/>
                  </a:cubicBezTo>
                  <a:cubicBezTo>
                    <a:pt x="1117600" y="530744"/>
                    <a:pt x="1094856" y="508000"/>
                    <a:pt x="1066800" y="508000"/>
                  </a:cubicBezTo>
                  <a:cubicBezTo>
                    <a:pt x="1038744" y="508000"/>
                    <a:pt x="1016000" y="530744"/>
                    <a:pt x="1016000" y="558800"/>
                  </a:cubicBezTo>
                  <a:close/>
                  <a:moveTo>
                    <a:pt x="1524000" y="558800"/>
                  </a:moveTo>
                  <a:cubicBezTo>
                    <a:pt x="1524000" y="586856"/>
                    <a:pt x="1546744" y="609600"/>
                    <a:pt x="1574800" y="609600"/>
                  </a:cubicBezTo>
                  <a:cubicBezTo>
                    <a:pt x="1602856" y="609600"/>
                    <a:pt x="1625600" y="586856"/>
                    <a:pt x="1625600" y="558800"/>
                  </a:cubicBezTo>
                  <a:cubicBezTo>
                    <a:pt x="1625600" y="530744"/>
                    <a:pt x="1602856" y="508000"/>
                    <a:pt x="1574800" y="508000"/>
                  </a:cubicBezTo>
                  <a:cubicBezTo>
                    <a:pt x="1546744" y="508000"/>
                    <a:pt x="1524000" y="530744"/>
                    <a:pt x="1524000" y="558800"/>
                  </a:cubicBezTo>
                  <a:close/>
                  <a:moveTo>
                    <a:pt x="2032000" y="558800"/>
                  </a:moveTo>
                  <a:cubicBezTo>
                    <a:pt x="2032000" y="586856"/>
                    <a:pt x="2054744" y="609600"/>
                    <a:pt x="2082800" y="609600"/>
                  </a:cubicBezTo>
                  <a:cubicBezTo>
                    <a:pt x="2110856" y="609600"/>
                    <a:pt x="2133600" y="586856"/>
                    <a:pt x="2133600" y="558800"/>
                  </a:cubicBezTo>
                  <a:cubicBezTo>
                    <a:pt x="2133600" y="530744"/>
                    <a:pt x="2110856" y="508000"/>
                    <a:pt x="2082800" y="508000"/>
                  </a:cubicBezTo>
                  <a:cubicBezTo>
                    <a:pt x="2054744" y="508000"/>
                    <a:pt x="2032000" y="530744"/>
                    <a:pt x="2032000" y="558800"/>
                  </a:cubicBezTo>
                  <a:close/>
                  <a:moveTo>
                    <a:pt x="2540000" y="558800"/>
                  </a:moveTo>
                  <a:cubicBezTo>
                    <a:pt x="2540000" y="586856"/>
                    <a:pt x="2562744" y="609600"/>
                    <a:pt x="2590800" y="609600"/>
                  </a:cubicBezTo>
                  <a:cubicBezTo>
                    <a:pt x="2618856" y="609600"/>
                    <a:pt x="2641600" y="586856"/>
                    <a:pt x="2641600" y="558800"/>
                  </a:cubicBezTo>
                  <a:cubicBezTo>
                    <a:pt x="2641600" y="530744"/>
                    <a:pt x="2618856" y="508000"/>
                    <a:pt x="2590800" y="508000"/>
                  </a:cubicBezTo>
                  <a:cubicBezTo>
                    <a:pt x="2562744" y="508000"/>
                    <a:pt x="2540000" y="530744"/>
                    <a:pt x="2540000" y="558800"/>
                  </a:cubicBezTo>
                  <a:close/>
                  <a:moveTo>
                    <a:pt x="0" y="1066800"/>
                  </a:moveTo>
                  <a:cubicBezTo>
                    <a:pt x="0" y="1094856"/>
                    <a:pt x="22744" y="1117600"/>
                    <a:pt x="50800" y="1117600"/>
                  </a:cubicBezTo>
                  <a:cubicBezTo>
                    <a:pt x="78856" y="1117600"/>
                    <a:pt x="101600" y="1094856"/>
                    <a:pt x="101600" y="1066800"/>
                  </a:cubicBezTo>
                  <a:cubicBezTo>
                    <a:pt x="101600" y="1038744"/>
                    <a:pt x="78856" y="1016000"/>
                    <a:pt x="50800" y="1016000"/>
                  </a:cubicBezTo>
                  <a:cubicBezTo>
                    <a:pt x="22744" y="1016000"/>
                    <a:pt x="0" y="1038744"/>
                    <a:pt x="0" y="1066800"/>
                  </a:cubicBezTo>
                  <a:close/>
                  <a:moveTo>
                    <a:pt x="508000" y="1066800"/>
                  </a:moveTo>
                  <a:cubicBezTo>
                    <a:pt x="508000" y="1094856"/>
                    <a:pt x="530744" y="1117600"/>
                    <a:pt x="558800" y="1117600"/>
                  </a:cubicBezTo>
                  <a:cubicBezTo>
                    <a:pt x="586856" y="1117600"/>
                    <a:pt x="609600" y="1094856"/>
                    <a:pt x="609600" y="1066800"/>
                  </a:cubicBezTo>
                  <a:cubicBezTo>
                    <a:pt x="609600" y="1038744"/>
                    <a:pt x="586856" y="1016000"/>
                    <a:pt x="558800" y="1016000"/>
                  </a:cubicBezTo>
                  <a:cubicBezTo>
                    <a:pt x="530744" y="1016000"/>
                    <a:pt x="508000" y="1038744"/>
                    <a:pt x="508000" y="1066800"/>
                  </a:cubicBezTo>
                  <a:close/>
                  <a:moveTo>
                    <a:pt x="1016000" y="1066800"/>
                  </a:moveTo>
                  <a:cubicBezTo>
                    <a:pt x="1016000" y="1094856"/>
                    <a:pt x="1038744" y="1117600"/>
                    <a:pt x="1066800" y="1117600"/>
                  </a:cubicBezTo>
                  <a:cubicBezTo>
                    <a:pt x="1094856" y="1117600"/>
                    <a:pt x="1117600" y="1094856"/>
                    <a:pt x="1117600" y="1066800"/>
                  </a:cubicBezTo>
                  <a:cubicBezTo>
                    <a:pt x="1117600" y="1038744"/>
                    <a:pt x="1094856" y="1016000"/>
                    <a:pt x="1066800" y="1016000"/>
                  </a:cubicBezTo>
                  <a:cubicBezTo>
                    <a:pt x="1038744" y="1016000"/>
                    <a:pt x="1016000" y="1038744"/>
                    <a:pt x="1016000" y="1066800"/>
                  </a:cubicBezTo>
                  <a:close/>
                  <a:moveTo>
                    <a:pt x="1524000" y="1066800"/>
                  </a:moveTo>
                  <a:cubicBezTo>
                    <a:pt x="1524000" y="1094856"/>
                    <a:pt x="1546744" y="1117600"/>
                    <a:pt x="1574800" y="1117600"/>
                  </a:cubicBezTo>
                  <a:cubicBezTo>
                    <a:pt x="1602856" y="1117600"/>
                    <a:pt x="1625600" y="1094856"/>
                    <a:pt x="1625600" y="1066800"/>
                  </a:cubicBezTo>
                  <a:cubicBezTo>
                    <a:pt x="1625600" y="1038744"/>
                    <a:pt x="1602856" y="1016000"/>
                    <a:pt x="1574800" y="1016000"/>
                  </a:cubicBezTo>
                  <a:cubicBezTo>
                    <a:pt x="1546744" y="1016000"/>
                    <a:pt x="1524000" y="1038744"/>
                    <a:pt x="1524000" y="1066800"/>
                  </a:cubicBezTo>
                  <a:close/>
                  <a:moveTo>
                    <a:pt x="2032000" y="1066800"/>
                  </a:moveTo>
                  <a:cubicBezTo>
                    <a:pt x="2032000" y="1094856"/>
                    <a:pt x="2054744" y="1117600"/>
                    <a:pt x="2082800" y="1117600"/>
                  </a:cubicBezTo>
                  <a:cubicBezTo>
                    <a:pt x="2110856" y="1117600"/>
                    <a:pt x="2133600" y="1094856"/>
                    <a:pt x="2133600" y="1066800"/>
                  </a:cubicBezTo>
                  <a:cubicBezTo>
                    <a:pt x="2133600" y="1038744"/>
                    <a:pt x="2110856" y="1016000"/>
                    <a:pt x="2082800" y="1016000"/>
                  </a:cubicBezTo>
                  <a:cubicBezTo>
                    <a:pt x="2054744" y="1016000"/>
                    <a:pt x="2032000" y="1038744"/>
                    <a:pt x="2032000" y="1066800"/>
                  </a:cubicBezTo>
                  <a:close/>
                  <a:moveTo>
                    <a:pt x="2540000" y="1066800"/>
                  </a:moveTo>
                  <a:cubicBezTo>
                    <a:pt x="2540000" y="1094856"/>
                    <a:pt x="2562744" y="1117600"/>
                    <a:pt x="2590800" y="1117600"/>
                  </a:cubicBezTo>
                  <a:cubicBezTo>
                    <a:pt x="2618856" y="1117600"/>
                    <a:pt x="2641600" y="1094856"/>
                    <a:pt x="2641600" y="1066800"/>
                  </a:cubicBezTo>
                  <a:cubicBezTo>
                    <a:pt x="2641600" y="1038744"/>
                    <a:pt x="2618856" y="1016000"/>
                    <a:pt x="2590800" y="1016000"/>
                  </a:cubicBezTo>
                  <a:cubicBezTo>
                    <a:pt x="2562744" y="1016000"/>
                    <a:pt x="2540000" y="1038744"/>
                    <a:pt x="2540000" y="1066800"/>
                  </a:cubicBezTo>
                  <a:close/>
                  <a:moveTo>
                    <a:pt x="0" y="1574800"/>
                  </a:moveTo>
                  <a:cubicBezTo>
                    <a:pt x="0" y="1602856"/>
                    <a:pt x="22744" y="1625600"/>
                    <a:pt x="50800" y="1625600"/>
                  </a:cubicBezTo>
                  <a:cubicBezTo>
                    <a:pt x="78856" y="1625600"/>
                    <a:pt x="101600" y="1602856"/>
                    <a:pt x="101600" y="1574800"/>
                  </a:cubicBezTo>
                  <a:cubicBezTo>
                    <a:pt x="101600" y="1546744"/>
                    <a:pt x="78856" y="1524000"/>
                    <a:pt x="50800" y="1524000"/>
                  </a:cubicBezTo>
                  <a:cubicBezTo>
                    <a:pt x="22744" y="1524000"/>
                    <a:pt x="0" y="1546744"/>
                    <a:pt x="0" y="1574800"/>
                  </a:cubicBezTo>
                  <a:close/>
                  <a:moveTo>
                    <a:pt x="508000" y="1574800"/>
                  </a:moveTo>
                  <a:cubicBezTo>
                    <a:pt x="508000" y="1602856"/>
                    <a:pt x="530744" y="1625600"/>
                    <a:pt x="558800" y="1625600"/>
                  </a:cubicBezTo>
                  <a:cubicBezTo>
                    <a:pt x="586856" y="1625600"/>
                    <a:pt x="609600" y="1602856"/>
                    <a:pt x="609600" y="1574800"/>
                  </a:cubicBezTo>
                  <a:cubicBezTo>
                    <a:pt x="609600" y="1546744"/>
                    <a:pt x="586856" y="1524000"/>
                    <a:pt x="558800" y="1524000"/>
                  </a:cubicBezTo>
                  <a:cubicBezTo>
                    <a:pt x="530744" y="1524000"/>
                    <a:pt x="508000" y="1546744"/>
                    <a:pt x="508000" y="1574800"/>
                  </a:cubicBezTo>
                  <a:close/>
                  <a:moveTo>
                    <a:pt x="1016000" y="1574800"/>
                  </a:moveTo>
                  <a:cubicBezTo>
                    <a:pt x="1016000" y="1602856"/>
                    <a:pt x="1038744" y="1625600"/>
                    <a:pt x="1066800" y="1625600"/>
                  </a:cubicBezTo>
                  <a:cubicBezTo>
                    <a:pt x="1094856" y="1625600"/>
                    <a:pt x="1117600" y="1602856"/>
                    <a:pt x="1117600" y="1574800"/>
                  </a:cubicBezTo>
                  <a:cubicBezTo>
                    <a:pt x="1117600" y="1546744"/>
                    <a:pt x="1094856" y="1524000"/>
                    <a:pt x="1066800" y="1524000"/>
                  </a:cubicBezTo>
                  <a:cubicBezTo>
                    <a:pt x="1038744" y="1524000"/>
                    <a:pt x="1016000" y="1546744"/>
                    <a:pt x="1016000" y="1574800"/>
                  </a:cubicBezTo>
                  <a:close/>
                  <a:moveTo>
                    <a:pt x="1524000" y="1574800"/>
                  </a:moveTo>
                  <a:cubicBezTo>
                    <a:pt x="1524000" y="1602856"/>
                    <a:pt x="1546744" y="1625600"/>
                    <a:pt x="1574800" y="1625600"/>
                  </a:cubicBezTo>
                  <a:cubicBezTo>
                    <a:pt x="1602856" y="1625600"/>
                    <a:pt x="1625600" y="1602856"/>
                    <a:pt x="1625600" y="1574800"/>
                  </a:cubicBezTo>
                  <a:cubicBezTo>
                    <a:pt x="1625600" y="1546744"/>
                    <a:pt x="1602856" y="1524000"/>
                    <a:pt x="1574800" y="1524000"/>
                  </a:cubicBezTo>
                  <a:cubicBezTo>
                    <a:pt x="1546744" y="1524000"/>
                    <a:pt x="1524000" y="1546744"/>
                    <a:pt x="1524000" y="1574800"/>
                  </a:cubicBezTo>
                  <a:close/>
                  <a:moveTo>
                    <a:pt x="2032000" y="1574800"/>
                  </a:moveTo>
                  <a:cubicBezTo>
                    <a:pt x="2032000" y="1602856"/>
                    <a:pt x="2054744" y="1625600"/>
                    <a:pt x="2082800" y="1625600"/>
                  </a:cubicBezTo>
                  <a:cubicBezTo>
                    <a:pt x="2110856" y="1625600"/>
                    <a:pt x="2133600" y="1602856"/>
                    <a:pt x="2133600" y="1574800"/>
                  </a:cubicBezTo>
                  <a:cubicBezTo>
                    <a:pt x="2133600" y="1546744"/>
                    <a:pt x="2110856" y="1524000"/>
                    <a:pt x="2082800" y="1524000"/>
                  </a:cubicBezTo>
                  <a:cubicBezTo>
                    <a:pt x="2054744" y="1524000"/>
                    <a:pt x="2032000" y="1546744"/>
                    <a:pt x="2032000" y="1574800"/>
                  </a:cubicBezTo>
                  <a:close/>
                  <a:moveTo>
                    <a:pt x="2540000" y="1574800"/>
                  </a:moveTo>
                  <a:cubicBezTo>
                    <a:pt x="2540000" y="1602856"/>
                    <a:pt x="2562744" y="1625600"/>
                    <a:pt x="2590800" y="1625600"/>
                  </a:cubicBezTo>
                  <a:cubicBezTo>
                    <a:pt x="2618856" y="1625600"/>
                    <a:pt x="2641600" y="1602856"/>
                    <a:pt x="2641600" y="1574800"/>
                  </a:cubicBezTo>
                  <a:cubicBezTo>
                    <a:pt x="2641600" y="1546744"/>
                    <a:pt x="2618856" y="1524000"/>
                    <a:pt x="2590800" y="1524000"/>
                  </a:cubicBezTo>
                  <a:cubicBezTo>
                    <a:pt x="2562744" y="1524000"/>
                    <a:pt x="2540000" y="1546744"/>
                    <a:pt x="2540000" y="1574800"/>
                  </a:cubicBezTo>
                  <a:close/>
                </a:path>
              </a:pathLst>
            </a:custGeom>
            <a:solidFill>
              <a:srgbClr val="EFF1E8">
                <a:alpha val="49804"/>
              </a:srgbClr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794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6400800" y="5800725"/>
            <a:ext cx="10858500" cy="19050"/>
            <a:chOff x="0" y="0"/>
            <a:chExt cx="14478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400800" y="7553325"/>
            <a:ext cx="10858500" cy="19050"/>
            <a:chOff x="0" y="0"/>
            <a:chExt cx="14478000" cy="254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219200"/>
            <a:ext cx="13146306" cy="1245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 / API Layer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600325"/>
            <a:ext cx="11590121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Ensuring reliable financial and market data for downstream Treasury use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486150"/>
            <a:ext cx="4762500" cy="30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Flow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00800" y="3486150"/>
            <a:ext cx="10572750" cy="30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My Role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5962650"/>
            <a:ext cx="4762500" cy="1238250"/>
            <a:chOff x="0" y="0"/>
            <a:chExt cx="1957426" cy="50893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957426" cy="508931"/>
            </a:xfrm>
            <a:custGeom>
              <a:avLst/>
              <a:gdLst/>
              <a:ahLst/>
              <a:cxnLst/>
              <a:rect r="r" b="b" t="t" l="l"/>
              <a:pathLst>
                <a:path h="508931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484547"/>
                  </a:lnTo>
                  <a:cubicBezTo>
                    <a:pt x="1957426" y="498014"/>
                    <a:pt x="1946509" y="508931"/>
                    <a:pt x="1933042" y="508931"/>
                  </a:cubicBezTo>
                  <a:lnTo>
                    <a:pt x="24384" y="508931"/>
                  </a:lnTo>
                  <a:cubicBezTo>
                    <a:pt x="17917" y="508931"/>
                    <a:pt x="11715" y="506362"/>
                    <a:pt x="7142" y="501789"/>
                  </a:cubicBezTo>
                  <a:cubicBezTo>
                    <a:pt x="2569" y="497216"/>
                    <a:pt x="0" y="491014"/>
                    <a:pt x="0" y="484547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957426" cy="508931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314450" y="6381750"/>
            <a:ext cx="4191000" cy="342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Open API - Financial Transactions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400800" y="6215062"/>
            <a:ext cx="1057275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Identified additional financial transaction data requirements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, created the data template, tested the output and confirmed the enhanced data set.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8700" y="7677150"/>
            <a:ext cx="4762500" cy="1238250"/>
            <a:chOff x="0" y="0"/>
            <a:chExt cx="1957426" cy="50893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57426" cy="508931"/>
            </a:xfrm>
            <a:custGeom>
              <a:avLst/>
              <a:gdLst/>
              <a:ahLst/>
              <a:cxnLst/>
              <a:rect r="r" b="b" t="t" l="l"/>
              <a:pathLst>
                <a:path h="508931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484547"/>
                  </a:lnTo>
                  <a:cubicBezTo>
                    <a:pt x="1957426" y="498014"/>
                    <a:pt x="1946509" y="508931"/>
                    <a:pt x="1933042" y="508931"/>
                  </a:cubicBezTo>
                  <a:lnTo>
                    <a:pt x="24384" y="508931"/>
                  </a:lnTo>
                  <a:cubicBezTo>
                    <a:pt x="17917" y="508931"/>
                    <a:pt x="11715" y="506362"/>
                    <a:pt x="7142" y="501789"/>
                  </a:cubicBezTo>
                  <a:cubicBezTo>
                    <a:pt x="2569" y="497216"/>
                    <a:pt x="0" y="491014"/>
                    <a:pt x="0" y="484547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957426" cy="508931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14450" y="7762875"/>
            <a:ext cx="4191000" cy="10090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Market data - FX rates &amp; forwards and</a:t>
            </a:r>
          </a:p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Interest rate curves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400800" y="7762875"/>
            <a:ext cx="10572750" cy="1008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Specified required market data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, assessed sources and outputs,  documented data requirements, and 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maintained new data requirements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such as Money Market Funds rates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28700" y="4248150"/>
            <a:ext cx="4762500" cy="1238250"/>
            <a:chOff x="0" y="0"/>
            <a:chExt cx="1957426" cy="50893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7426" cy="508931"/>
            </a:xfrm>
            <a:custGeom>
              <a:avLst/>
              <a:gdLst/>
              <a:ahLst/>
              <a:cxnLst/>
              <a:rect r="r" b="b" t="t" l="l"/>
              <a:pathLst>
                <a:path h="508931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484547"/>
                  </a:lnTo>
                  <a:cubicBezTo>
                    <a:pt x="1957426" y="498014"/>
                    <a:pt x="1946509" y="508931"/>
                    <a:pt x="1933042" y="508931"/>
                  </a:cubicBezTo>
                  <a:lnTo>
                    <a:pt x="24384" y="508931"/>
                  </a:lnTo>
                  <a:cubicBezTo>
                    <a:pt x="17917" y="508931"/>
                    <a:pt x="11715" y="506362"/>
                    <a:pt x="7142" y="501789"/>
                  </a:cubicBezTo>
                  <a:cubicBezTo>
                    <a:pt x="2569" y="497216"/>
                    <a:pt x="0" y="491014"/>
                    <a:pt x="0" y="484547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1957426" cy="508931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314450" y="4500562"/>
            <a:ext cx="419100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API connectivity - Standard Kyriba Data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400800" y="4500562"/>
            <a:ext cx="1057275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Validated available API data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t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ested outputs and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 identified gaps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against Treasury requirements.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066800" y="285750"/>
            <a:ext cx="551688" cy="609600"/>
          </a:xfrm>
          <a:custGeom>
            <a:avLst/>
            <a:gdLst/>
            <a:ahLst/>
            <a:cxnLst/>
            <a:rect r="r" b="b" t="t" l="l"/>
            <a:pathLst>
              <a:path h="609600" w="551688">
                <a:moveTo>
                  <a:pt x="0" y="0"/>
                </a:moveTo>
                <a:lnTo>
                  <a:pt x="551688" y="0"/>
                </a:lnTo>
                <a:lnTo>
                  <a:pt x="551688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2" id="22"/>
          <p:cNvGrpSpPr/>
          <p:nvPr/>
        </p:nvGrpSpPr>
        <p:grpSpPr>
          <a:xfrm rot="0">
            <a:off x="1028700" y="3981450"/>
            <a:ext cx="16230600" cy="28575"/>
            <a:chOff x="0" y="0"/>
            <a:chExt cx="21640800" cy="381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640800" cy="38100"/>
            </a:xfrm>
            <a:custGeom>
              <a:avLst/>
              <a:gdLst/>
              <a:ahLst/>
              <a:cxnLst/>
              <a:rect r="r" b="b" t="t" l="l"/>
              <a:pathLst>
                <a:path h="38100" w="21640800">
                  <a:moveTo>
                    <a:pt x="0" y="0"/>
                  </a:moveTo>
                  <a:lnTo>
                    <a:pt x="21640800" y="0"/>
                  </a:lnTo>
                  <a:lnTo>
                    <a:pt x="216408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FF1E8">
                <a:alpha val="69804"/>
              </a:srgbClr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16408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163800" y="914400"/>
            <a:ext cx="2095500" cy="1333500"/>
            <a:chOff x="0" y="0"/>
            <a:chExt cx="2794000" cy="1778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76200" y="76200"/>
              <a:ext cx="26416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2641600">
                  <a:moveTo>
                    <a:pt x="0" y="50800"/>
                  </a:move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ubicBezTo>
                    <a:pt x="22744" y="0"/>
                    <a:pt x="0" y="22744"/>
                    <a:pt x="0" y="50800"/>
                  </a:cubicBezTo>
                  <a:close/>
                  <a:moveTo>
                    <a:pt x="508000" y="50800"/>
                  </a:moveTo>
                  <a:cubicBezTo>
                    <a:pt x="508000" y="78856"/>
                    <a:pt x="530744" y="101600"/>
                    <a:pt x="558800" y="101600"/>
                  </a:cubicBezTo>
                  <a:cubicBezTo>
                    <a:pt x="586856" y="101600"/>
                    <a:pt x="609600" y="78856"/>
                    <a:pt x="609600" y="50800"/>
                  </a:cubicBezTo>
                  <a:cubicBezTo>
                    <a:pt x="609600" y="22744"/>
                    <a:pt x="586856" y="0"/>
                    <a:pt x="558800" y="0"/>
                  </a:cubicBezTo>
                  <a:cubicBezTo>
                    <a:pt x="530744" y="0"/>
                    <a:pt x="508000" y="22744"/>
                    <a:pt x="508000" y="50800"/>
                  </a:cubicBezTo>
                  <a:close/>
                  <a:moveTo>
                    <a:pt x="1016000" y="50800"/>
                  </a:moveTo>
                  <a:cubicBezTo>
                    <a:pt x="1016000" y="78856"/>
                    <a:pt x="1038744" y="101600"/>
                    <a:pt x="1066800" y="101600"/>
                  </a:cubicBezTo>
                  <a:cubicBezTo>
                    <a:pt x="1094856" y="101600"/>
                    <a:pt x="1117600" y="78856"/>
                    <a:pt x="1117600" y="50800"/>
                  </a:cubicBezTo>
                  <a:cubicBezTo>
                    <a:pt x="1117600" y="22744"/>
                    <a:pt x="1094856" y="0"/>
                    <a:pt x="1066800" y="0"/>
                  </a:cubicBezTo>
                  <a:cubicBezTo>
                    <a:pt x="1038744" y="0"/>
                    <a:pt x="1016000" y="22744"/>
                    <a:pt x="1016000" y="50800"/>
                  </a:cubicBezTo>
                  <a:close/>
                  <a:moveTo>
                    <a:pt x="1524000" y="50800"/>
                  </a:moveTo>
                  <a:cubicBezTo>
                    <a:pt x="1524000" y="78856"/>
                    <a:pt x="1546744" y="101600"/>
                    <a:pt x="1574800" y="101600"/>
                  </a:cubicBezTo>
                  <a:cubicBezTo>
                    <a:pt x="1602856" y="101600"/>
                    <a:pt x="1625600" y="78856"/>
                    <a:pt x="1625600" y="50800"/>
                  </a:cubicBezTo>
                  <a:cubicBezTo>
                    <a:pt x="1625600" y="22744"/>
                    <a:pt x="1602856" y="0"/>
                    <a:pt x="1574800" y="0"/>
                  </a:cubicBezTo>
                  <a:cubicBezTo>
                    <a:pt x="1546744" y="0"/>
                    <a:pt x="1524000" y="22744"/>
                    <a:pt x="1524000" y="50800"/>
                  </a:cubicBezTo>
                  <a:close/>
                  <a:moveTo>
                    <a:pt x="2032000" y="50800"/>
                  </a:moveTo>
                  <a:cubicBezTo>
                    <a:pt x="2032000" y="78856"/>
                    <a:pt x="2054744" y="101600"/>
                    <a:pt x="2082800" y="101600"/>
                  </a:cubicBezTo>
                  <a:cubicBezTo>
                    <a:pt x="2110856" y="101600"/>
                    <a:pt x="2133600" y="78856"/>
                    <a:pt x="2133600" y="50800"/>
                  </a:cubicBezTo>
                  <a:cubicBezTo>
                    <a:pt x="2133600" y="22744"/>
                    <a:pt x="2110856" y="0"/>
                    <a:pt x="2082800" y="0"/>
                  </a:cubicBezTo>
                  <a:cubicBezTo>
                    <a:pt x="2054744" y="0"/>
                    <a:pt x="2032000" y="22744"/>
                    <a:pt x="2032000" y="50800"/>
                  </a:cubicBezTo>
                  <a:close/>
                  <a:moveTo>
                    <a:pt x="2540000" y="50800"/>
                  </a:moveTo>
                  <a:cubicBezTo>
                    <a:pt x="2540000" y="78856"/>
                    <a:pt x="2562744" y="101600"/>
                    <a:pt x="2590800" y="101600"/>
                  </a:cubicBezTo>
                  <a:cubicBezTo>
                    <a:pt x="2618856" y="101600"/>
                    <a:pt x="2641600" y="78856"/>
                    <a:pt x="2641600" y="50800"/>
                  </a:cubicBezTo>
                  <a:cubicBezTo>
                    <a:pt x="2641600" y="22744"/>
                    <a:pt x="2618856" y="0"/>
                    <a:pt x="2590800" y="0"/>
                  </a:cubicBezTo>
                  <a:cubicBezTo>
                    <a:pt x="2562744" y="0"/>
                    <a:pt x="2540000" y="22744"/>
                    <a:pt x="2540000" y="50800"/>
                  </a:cubicBezTo>
                  <a:close/>
                  <a:moveTo>
                    <a:pt x="0" y="558800"/>
                  </a:moveTo>
                  <a:cubicBezTo>
                    <a:pt x="0" y="586856"/>
                    <a:pt x="22744" y="609600"/>
                    <a:pt x="50800" y="609600"/>
                  </a:cubicBezTo>
                  <a:cubicBezTo>
                    <a:pt x="78856" y="609600"/>
                    <a:pt x="101600" y="586856"/>
                    <a:pt x="101600" y="558800"/>
                  </a:cubicBezTo>
                  <a:cubicBezTo>
                    <a:pt x="101600" y="530744"/>
                    <a:pt x="78856" y="508000"/>
                    <a:pt x="50800" y="508000"/>
                  </a:cubicBezTo>
                  <a:cubicBezTo>
                    <a:pt x="22744" y="508000"/>
                    <a:pt x="0" y="530744"/>
                    <a:pt x="0" y="558800"/>
                  </a:cubicBezTo>
                  <a:close/>
                  <a:moveTo>
                    <a:pt x="508000" y="558800"/>
                  </a:moveTo>
                  <a:cubicBezTo>
                    <a:pt x="508000" y="586856"/>
                    <a:pt x="530744" y="609600"/>
                    <a:pt x="558800" y="609600"/>
                  </a:cubicBezTo>
                  <a:cubicBezTo>
                    <a:pt x="586856" y="609600"/>
                    <a:pt x="609600" y="586856"/>
                    <a:pt x="609600" y="558800"/>
                  </a:cubicBezTo>
                  <a:cubicBezTo>
                    <a:pt x="609600" y="530744"/>
                    <a:pt x="586856" y="508000"/>
                    <a:pt x="558800" y="508000"/>
                  </a:cubicBezTo>
                  <a:cubicBezTo>
                    <a:pt x="530744" y="508000"/>
                    <a:pt x="508000" y="530744"/>
                    <a:pt x="508000" y="558800"/>
                  </a:cubicBezTo>
                  <a:close/>
                  <a:moveTo>
                    <a:pt x="1016000" y="558800"/>
                  </a:moveTo>
                  <a:cubicBezTo>
                    <a:pt x="1016000" y="586856"/>
                    <a:pt x="1038744" y="609600"/>
                    <a:pt x="1066800" y="609600"/>
                  </a:cubicBezTo>
                  <a:cubicBezTo>
                    <a:pt x="1094856" y="609600"/>
                    <a:pt x="1117600" y="586856"/>
                    <a:pt x="1117600" y="558800"/>
                  </a:cubicBezTo>
                  <a:cubicBezTo>
                    <a:pt x="1117600" y="530744"/>
                    <a:pt x="1094856" y="508000"/>
                    <a:pt x="1066800" y="508000"/>
                  </a:cubicBezTo>
                  <a:cubicBezTo>
                    <a:pt x="1038744" y="508000"/>
                    <a:pt x="1016000" y="530744"/>
                    <a:pt x="1016000" y="558800"/>
                  </a:cubicBezTo>
                  <a:close/>
                  <a:moveTo>
                    <a:pt x="1524000" y="558800"/>
                  </a:moveTo>
                  <a:cubicBezTo>
                    <a:pt x="1524000" y="586856"/>
                    <a:pt x="1546744" y="609600"/>
                    <a:pt x="1574800" y="609600"/>
                  </a:cubicBezTo>
                  <a:cubicBezTo>
                    <a:pt x="1602856" y="609600"/>
                    <a:pt x="1625600" y="586856"/>
                    <a:pt x="1625600" y="558800"/>
                  </a:cubicBezTo>
                  <a:cubicBezTo>
                    <a:pt x="1625600" y="530744"/>
                    <a:pt x="1602856" y="508000"/>
                    <a:pt x="1574800" y="508000"/>
                  </a:cubicBezTo>
                  <a:cubicBezTo>
                    <a:pt x="1546744" y="508000"/>
                    <a:pt x="1524000" y="530744"/>
                    <a:pt x="1524000" y="558800"/>
                  </a:cubicBezTo>
                  <a:close/>
                  <a:moveTo>
                    <a:pt x="2032000" y="558800"/>
                  </a:moveTo>
                  <a:cubicBezTo>
                    <a:pt x="2032000" y="586856"/>
                    <a:pt x="2054744" y="609600"/>
                    <a:pt x="2082800" y="609600"/>
                  </a:cubicBezTo>
                  <a:cubicBezTo>
                    <a:pt x="2110856" y="609600"/>
                    <a:pt x="2133600" y="586856"/>
                    <a:pt x="2133600" y="558800"/>
                  </a:cubicBezTo>
                  <a:cubicBezTo>
                    <a:pt x="2133600" y="530744"/>
                    <a:pt x="2110856" y="508000"/>
                    <a:pt x="2082800" y="508000"/>
                  </a:cubicBezTo>
                  <a:cubicBezTo>
                    <a:pt x="2054744" y="508000"/>
                    <a:pt x="2032000" y="530744"/>
                    <a:pt x="2032000" y="558800"/>
                  </a:cubicBezTo>
                  <a:close/>
                  <a:moveTo>
                    <a:pt x="2540000" y="558800"/>
                  </a:moveTo>
                  <a:cubicBezTo>
                    <a:pt x="2540000" y="586856"/>
                    <a:pt x="2562744" y="609600"/>
                    <a:pt x="2590800" y="609600"/>
                  </a:cubicBezTo>
                  <a:cubicBezTo>
                    <a:pt x="2618856" y="609600"/>
                    <a:pt x="2641600" y="586856"/>
                    <a:pt x="2641600" y="558800"/>
                  </a:cubicBezTo>
                  <a:cubicBezTo>
                    <a:pt x="2641600" y="530744"/>
                    <a:pt x="2618856" y="508000"/>
                    <a:pt x="2590800" y="508000"/>
                  </a:cubicBezTo>
                  <a:cubicBezTo>
                    <a:pt x="2562744" y="508000"/>
                    <a:pt x="2540000" y="530744"/>
                    <a:pt x="2540000" y="558800"/>
                  </a:cubicBezTo>
                  <a:close/>
                  <a:moveTo>
                    <a:pt x="0" y="1066800"/>
                  </a:moveTo>
                  <a:cubicBezTo>
                    <a:pt x="0" y="1094856"/>
                    <a:pt x="22744" y="1117600"/>
                    <a:pt x="50800" y="1117600"/>
                  </a:cubicBezTo>
                  <a:cubicBezTo>
                    <a:pt x="78856" y="1117600"/>
                    <a:pt x="101600" y="1094856"/>
                    <a:pt x="101600" y="1066800"/>
                  </a:cubicBezTo>
                  <a:cubicBezTo>
                    <a:pt x="101600" y="1038744"/>
                    <a:pt x="78856" y="1016000"/>
                    <a:pt x="50800" y="1016000"/>
                  </a:cubicBezTo>
                  <a:cubicBezTo>
                    <a:pt x="22744" y="1016000"/>
                    <a:pt x="0" y="1038744"/>
                    <a:pt x="0" y="1066800"/>
                  </a:cubicBezTo>
                  <a:close/>
                  <a:moveTo>
                    <a:pt x="508000" y="1066800"/>
                  </a:moveTo>
                  <a:cubicBezTo>
                    <a:pt x="508000" y="1094856"/>
                    <a:pt x="530744" y="1117600"/>
                    <a:pt x="558800" y="1117600"/>
                  </a:cubicBezTo>
                  <a:cubicBezTo>
                    <a:pt x="586856" y="1117600"/>
                    <a:pt x="609600" y="1094856"/>
                    <a:pt x="609600" y="1066800"/>
                  </a:cubicBezTo>
                  <a:cubicBezTo>
                    <a:pt x="609600" y="1038744"/>
                    <a:pt x="586856" y="1016000"/>
                    <a:pt x="558800" y="1016000"/>
                  </a:cubicBezTo>
                  <a:cubicBezTo>
                    <a:pt x="530744" y="1016000"/>
                    <a:pt x="508000" y="1038744"/>
                    <a:pt x="508000" y="1066800"/>
                  </a:cubicBezTo>
                  <a:close/>
                  <a:moveTo>
                    <a:pt x="1016000" y="1066800"/>
                  </a:moveTo>
                  <a:cubicBezTo>
                    <a:pt x="1016000" y="1094856"/>
                    <a:pt x="1038744" y="1117600"/>
                    <a:pt x="1066800" y="1117600"/>
                  </a:cubicBezTo>
                  <a:cubicBezTo>
                    <a:pt x="1094856" y="1117600"/>
                    <a:pt x="1117600" y="1094856"/>
                    <a:pt x="1117600" y="1066800"/>
                  </a:cubicBezTo>
                  <a:cubicBezTo>
                    <a:pt x="1117600" y="1038744"/>
                    <a:pt x="1094856" y="1016000"/>
                    <a:pt x="1066800" y="1016000"/>
                  </a:cubicBezTo>
                  <a:cubicBezTo>
                    <a:pt x="1038744" y="1016000"/>
                    <a:pt x="1016000" y="1038744"/>
                    <a:pt x="1016000" y="1066800"/>
                  </a:cubicBezTo>
                  <a:close/>
                  <a:moveTo>
                    <a:pt x="1524000" y="1066800"/>
                  </a:moveTo>
                  <a:cubicBezTo>
                    <a:pt x="1524000" y="1094856"/>
                    <a:pt x="1546744" y="1117600"/>
                    <a:pt x="1574800" y="1117600"/>
                  </a:cubicBezTo>
                  <a:cubicBezTo>
                    <a:pt x="1602856" y="1117600"/>
                    <a:pt x="1625600" y="1094856"/>
                    <a:pt x="1625600" y="1066800"/>
                  </a:cubicBezTo>
                  <a:cubicBezTo>
                    <a:pt x="1625600" y="1038744"/>
                    <a:pt x="1602856" y="1016000"/>
                    <a:pt x="1574800" y="1016000"/>
                  </a:cubicBezTo>
                  <a:cubicBezTo>
                    <a:pt x="1546744" y="1016000"/>
                    <a:pt x="1524000" y="1038744"/>
                    <a:pt x="1524000" y="1066800"/>
                  </a:cubicBezTo>
                  <a:close/>
                  <a:moveTo>
                    <a:pt x="2032000" y="1066800"/>
                  </a:moveTo>
                  <a:cubicBezTo>
                    <a:pt x="2032000" y="1094856"/>
                    <a:pt x="2054744" y="1117600"/>
                    <a:pt x="2082800" y="1117600"/>
                  </a:cubicBezTo>
                  <a:cubicBezTo>
                    <a:pt x="2110856" y="1117600"/>
                    <a:pt x="2133600" y="1094856"/>
                    <a:pt x="2133600" y="1066800"/>
                  </a:cubicBezTo>
                  <a:cubicBezTo>
                    <a:pt x="2133600" y="1038744"/>
                    <a:pt x="2110856" y="1016000"/>
                    <a:pt x="2082800" y="1016000"/>
                  </a:cubicBezTo>
                  <a:cubicBezTo>
                    <a:pt x="2054744" y="1016000"/>
                    <a:pt x="2032000" y="1038744"/>
                    <a:pt x="2032000" y="1066800"/>
                  </a:cubicBezTo>
                  <a:close/>
                  <a:moveTo>
                    <a:pt x="2540000" y="1066800"/>
                  </a:moveTo>
                  <a:cubicBezTo>
                    <a:pt x="2540000" y="1094856"/>
                    <a:pt x="2562744" y="1117600"/>
                    <a:pt x="2590800" y="1117600"/>
                  </a:cubicBezTo>
                  <a:cubicBezTo>
                    <a:pt x="2618856" y="1117600"/>
                    <a:pt x="2641600" y="1094856"/>
                    <a:pt x="2641600" y="1066800"/>
                  </a:cubicBezTo>
                  <a:cubicBezTo>
                    <a:pt x="2641600" y="1038744"/>
                    <a:pt x="2618856" y="1016000"/>
                    <a:pt x="2590800" y="1016000"/>
                  </a:cubicBezTo>
                  <a:cubicBezTo>
                    <a:pt x="2562744" y="1016000"/>
                    <a:pt x="2540000" y="1038744"/>
                    <a:pt x="2540000" y="1066800"/>
                  </a:cubicBezTo>
                  <a:close/>
                  <a:moveTo>
                    <a:pt x="0" y="1574800"/>
                  </a:moveTo>
                  <a:cubicBezTo>
                    <a:pt x="0" y="1602856"/>
                    <a:pt x="22744" y="1625600"/>
                    <a:pt x="50800" y="1625600"/>
                  </a:cubicBezTo>
                  <a:cubicBezTo>
                    <a:pt x="78856" y="1625600"/>
                    <a:pt x="101600" y="1602856"/>
                    <a:pt x="101600" y="1574800"/>
                  </a:cubicBezTo>
                  <a:cubicBezTo>
                    <a:pt x="101600" y="1546744"/>
                    <a:pt x="78856" y="1524000"/>
                    <a:pt x="50800" y="1524000"/>
                  </a:cubicBezTo>
                  <a:cubicBezTo>
                    <a:pt x="22744" y="1524000"/>
                    <a:pt x="0" y="1546744"/>
                    <a:pt x="0" y="1574800"/>
                  </a:cubicBezTo>
                  <a:close/>
                  <a:moveTo>
                    <a:pt x="508000" y="1574800"/>
                  </a:moveTo>
                  <a:cubicBezTo>
                    <a:pt x="508000" y="1602856"/>
                    <a:pt x="530744" y="1625600"/>
                    <a:pt x="558800" y="1625600"/>
                  </a:cubicBezTo>
                  <a:cubicBezTo>
                    <a:pt x="586856" y="1625600"/>
                    <a:pt x="609600" y="1602856"/>
                    <a:pt x="609600" y="1574800"/>
                  </a:cubicBezTo>
                  <a:cubicBezTo>
                    <a:pt x="609600" y="1546744"/>
                    <a:pt x="586856" y="1524000"/>
                    <a:pt x="558800" y="1524000"/>
                  </a:cubicBezTo>
                  <a:cubicBezTo>
                    <a:pt x="530744" y="1524000"/>
                    <a:pt x="508000" y="1546744"/>
                    <a:pt x="508000" y="1574800"/>
                  </a:cubicBezTo>
                  <a:close/>
                  <a:moveTo>
                    <a:pt x="1016000" y="1574800"/>
                  </a:moveTo>
                  <a:cubicBezTo>
                    <a:pt x="1016000" y="1602856"/>
                    <a:pt x="1038744" y="1625600"/>
                    <a:pt x="1066800" y="1625600"/>
                  </a:cubicBezTo>
                  <a:cubicBezTo>
                    <a:pt x="1094856" y="1625600"/>
                    <a:pt x="1117600" y="1602856"/>
                    <a:pt x="1117600" y="1574800"/>
                  </a:cubicBezTo>
                  <a:cubicBezTo>
                    <a:pt x="1117600" y="1546744"/>
                    <a:pt x="1094856" y="1524000"/>
                    <a:pt x="1066800" y="1524000"/>
                  </a:cubicBezTo>
                  <a:cubicBezTo>
                    <a:pt x="1038744" y="1524000"/>
                    <a:pt x="1016000" y="1546744"/>
                    <a:pt x="1016000" y="1574800"/>
                  </a:cubicBezTo>
                  <a:close/>
                  <a:moveTo>
                    <a:pt x="1524000" y="1574800"/>
                  </a:moveTo>
                  <a:cubicBezTo>
                    <a:pt x="1524000" y="1602856"/>
                    <a:pt x="1546744" y="1625600"/>
                    <a:pt x="1574800" y="1625600"/>
                  </a:cubicBezTo>
                  <a:cubicBezTo>
                    <a:pt x="1602856" y="1625600"/>
                    <a:pt x="1625600" y="1602856"/>
                    <a:pt x="1625600" y="1574800"/>
                  </a:cubicBezTo>
                  <a:cubicBezTo>
                    <a:pt x="1625600" y="1546744"/>
                    <a:pt x="1602856" y="1524000"/>
                    <a:pt x="1574800" y="1524000"/>
                  </a:cubicBezTo>
                  <a:cubicBezTo>
                    <a:pt x="1546744" y="1524000"/>
                    <a:pt x="1524000" y="1546744"/>
                    <a:pt x="1524000" y="1574800"/>
                  </a:cubicBezTo>
                  <a:close/>
                  <a:moveTo>
                    <a:pt x="2032000" y="1574800"/>
                  </a:moveTo>
                  <a:cubicBezTo>
                    <a:pt x="2032000" y="1602856"/>
                    <a:pt x="2054744" y="1625600"/>
                    <a:pt x="2082800" y="1625600"/>
                  </a:cubicBezTo>
                  <a:cubicBezTo>
                    <a:pt x="2110856" y="1625600"/>
                    <a:pt x="2133600" y="1602856"/>
                    <a:pt x="2133600" y="1574800"/>
                  </a:cubicBezTo>
                  <a:cubicBezTo>
                    <a:pt x="2133600" y="1546744"/>
                    <a:pt x="2110856" y="1524000"/>
                    <a:pt x="2082800" y="1524000"/>
                  </a:cubicBezTo>
                  <a:cubicBezTo>
                    <a:pt x="2054744" y="1524000"/>
                    <a:pt x="2032000" y="1546744"/>
                    <a:pt x="2032000" y="1574800"/>
                  </a:cubicBezTo>
                  <a:close/>
                  <a:moveTo>
                    <a:pt x="2540000" y="1574800"/>
                  </a:moveTo>
                  <a:cubicBezTo>
                    <a:pt x="2540000" y="1602856"/>
                    <a:pt x="2562744" y="1625600"/>
                    <a:pt x="2590800" y="1625600"/>
                  </a:cubicBezTo>
                  <a:cubicBezTo>
                    <a:pt x="2618856" y="1625600"/>
                    <a:pt x="2641600" y="1602856"/>
                    <a:pt x="2641600" y="1574800"/>
                  </a:cubicBezTo>
                  <a:cubicBezTo>
                    <a:pt x="2641600" y="1546744"/>
                    <a:pt x="2618856" y="1524000"/>
                    <a:pt x="2590800" y="1524000"/>
                  </a:cubicBezTo>
                  <a:cubicBezTo>
                    <a:pt x="2562744" y="1524000"/>
                    <a:pt x="2540000" y="1546744"/>
                    <a:pt x="2540000" y="1574800"/>
                  </a:cubicBezTo>
                  <a:close/>
                </a:path>
              </a:pathLst>
            </a:custGeom>
            <a:solidFill>
              <a:srgbClr val="EFF1E8">
                <a:alpha val="49804"/>
              </a:srgbClr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794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6400800" y="5715000"/>
            <a:ext cx="10858500" cy="19050"/>
            <a:chOff x="0" y="0"/>
            <a:chExt cx="14478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6400800" y="7429500"/>
            <a:ext cx="10858500" cy="19050"/>
            <a:chOff x="0" y="0"/>
            <a:chExt cx="14478000" cy="254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493290" y="4865056"/>
            <a:ext cx="3804514" cy="5594880"/>
          </a:xfrm>
          <a:custGeom>
            <a:avLst/>
            <a:gdLst/>
            <a:ahLst/>
            <a:cxnLst/>
            <a:rect r="r" b="b" t="t" l="l"/>
            <a:pathLst>
              <a:path h="5594880" w="3804514">
                <a:moveTo>
                  <a:pt x="3804513" y="0"/>
                </a:moveTo>
                <a:lnTo>
                  <a:pt x="0" y="0"/>
                </a:lnTo>
                <a:lnTo>
                  <a:pt x="0" y="5594880"/>
                </a:lnTo>
                <a:lnTo>
                  <a:pt x="3804513" y="5594880"/>
                </a:lnTo>
                <a:lnTo>
                  <a:pt x="380451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65" r="0" b="-64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190625"/>
            <a:ext cx="13716000" cy="2124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50"/>
              </a:lnSpc>
            </a:pPr>
            <a:r>
              <a:rPr lang="en-US" sz="7500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Part 4 — Optimisation &amp; Continuous Improvement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895725"/>
            <a:ext cx="123825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Turning the implemented Kyriba solution into a more efficient, user-friendly and scalable Treasury platform.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5180179" y="0"/>
            <a:ext cx="4513686" cy="11241465"/>
          </a:xfrm>
          <a:custGeom>
            <a:avLst/>
            <a:gdLst/>
            <a:ahLst/>
            <a:cxnLst/>
            <a:rect r="r" b="b" t="t" l="l"/>
            <a:pathLst>
              <a:path h="11241465" w="4513686">
                <a:moveTo>
                  <a:pt x="0" y="0"/>
                </a:moveTo>
                <a:lnTo>
                  <a:pt x="4513685" y="0"/>
                </a:lnTo>
                <a:lnTo>
                  <a:pt x="4513685" y="11241465"/>
                </a:lnTo>
                <a:lnTo>
                  <a:pt x="0" y="112414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08491" t="0" r="-164621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66800" y="3619500"/>
            <a:ext cx="1333500" cy="57150"/>
            <a:chOff x="0" y="0"/>
            <a:chExt cx="1778000" cy="762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778000" cy="76200"/>
            </a:xfrm>
            <a:custGeom>
              <a:avLst/>
              <a:gdLst/>
              <a:ahLst/>
              <a:cxnLst/>
              <a:rect r="r" b="b" t="t" l="l"/>
              <a:pathLst>
                <a:path h="76200" w="1778000">
                  <a:moveTo>
                    <a:pt x="0" y="0"/>
                  </a:moveTo>
                  <a:lnTo>
                    <a:pt x="1778000" y="0"/>
                  </a:lnTo>
                  <a:lnTo>
                    <a:pt x="177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0A1B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778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219200"/>
            <a:ext cx="16516015" cy="1245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Optimising User Experience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600325"/>
            <a:ext cx="11590121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Improving navigation, visibility and usability across Treasury workflows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486150"/>
            <a:ext cx="4762500" cy="30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Improvement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00800" y="3486150"/>
            <a:ext cx="10572750" cy="30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My Role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6915150"/>
            <a:ext cx="4762500" cy="952500"/>
            <a:chOff x="0" y="0"/>
            <a:chExt cx="1957426" cy="39148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957426" cy="391485"/>
            </a:xfrm>
            <a:custGeom>
              <a:avLst/>
              <a:gdLst/>
              <a:ahLst/>
              <a:cxnLst/>
              <a:rect r="r" b="b" t="t" l="l"/>
              <a:pathLst>
                <a:path h="391485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367101"/>
                  </a:lnTo>
                  <a:cubicBezTo>
                    <a:pt x="1957426" y="373568"/>
                    <a:pt x="1954857" y="379770"/>
                    <a:pt x="1950284" y="384343"/>
                  </a:cubicBezTo>
                  <a:cubicBezTo>
                    <a:pt x="1945711" y="388916"/>
                    <a:pt x="1939509" y="391485"/>
                    <a:pt x="1933042" y="391485"/>
                  </a:cubicBezTo>
                  <a:lnTo>
                    <a:pt x="24384" y="391485"/>
                  </a:lnTo>
                  <a:cubicBezTo>
                    <a:pt x="10917" y="391485"/>
                    <a:pt x="0" y="380568"/>
                    <a:pt x="0" y="367101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957426" cy="391485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314450" y="7191375"/>
            <a:ext cx="4191000" cy="342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User Dashboards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400800" y="7024688"/>
            <a:ext cx="1057275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Created 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personalised dashboards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giving clients a clear view of positions and key Treasury information.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8700" y="8248650"/>
            <a:ext cx="4762500" cy="952500"/>
            <a:chOff x="0" y="0"/>
            <a:chExt cx="1957426" cy="39148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57426" cy="391485"/>
            </a:xfrm>
            <a:custGeom>
              <a:avLst/>
              <a:gdLst/>
              <a:ahLst/>
              <a:cxnLst/>
              <a:rect r="r" b="b" t="t" l="l"/>
              <a:pathLst>
                <a:path h="391485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367101"/>
                  </a:lnTo>
                  <a:cubicBezTo>
                    <a:pt x="1957426" y="373568"/>
                    <a:pt x="1954857" y="379770"/>
                    <a:pt x="1950284" y="384343"/>
                  </a:cubicBezTo>
                  <a:cubicBezTo>
                    <a:pt x="1945711" y="388916"/>
                    <a:pt x="1939509" y="391485"/>
                    <a:pt x="1933042" y="391485"/>
                  </a:cubicBezTo>
                  <a:lnTo>
                    <a:pt x="24384" y="391485"/>
                  </a:lnTo>
                  <a:cubicBezTo>
                    <a:pt x="10917" y="391485"/>
                    <a:pt x="0" y="380568"/>
                    <a:pt x="0" y="367101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957426" cy="391485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14450" y="8524875"/>
            <a:ext cx="4191000" cy="342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Custom Views &amp; Templates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400800" y="8358188"/>
            <a:ext cx="1057275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Built tailored views and templates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for new, historical and outstanding trades, improving visibility and day-to-day monitoring.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28700" y="4248150"/>
            <a:ext cx="4762500" cy="952500"/>
            <a:chOff x="0" y="0"/>
            <a:chExt cx="1957426" cy="39148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7426" cy="391485"/>
            </a:xfrm>
            <a:custGeom>
              <a:avLst/>
              <a:gdLst/>
              <a:ahLst/>
              <a:cxnLst/>
              <a:rect r="r" b="b" t="t" l="l"/>
              <a:pathLst>
                <a:path h="391485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367101"/>
                  </a:lnTo>
                  <a:cubicBezTo>
                    <a:pt x="1957426" y="373568"/>
                    <a:pt x="1954857" y="379770"/>
                    <a:pt x="1950284" y="384343"/>
                  </a:cubicBezTo>
                  <a:cubicBezTo>
                    <a:pt x="1945711" y="388916"/>
                    <a:pt x="1939509" y="391485"/>
                    <a:pt x="1933042" y="391485"/>
                  </a:cubicBezTo>
                  <a:lnTo>
                    <a:pt x="24384" y="391485"/>
                  </a:lnTo>
                  <a:cubicBezTo>
                    <a:pt x="10917" y="391485"/>
                    <a:pt x="0" y="380568"/>
                    <a:pt x="0" y="367101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1957426" cy="391485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314450" y="4524375"/>
            <a:ext cx="4191000" cy="342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Navigation &amp; Menus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400800" y="4357688"/>
            <a:ext cx="1057275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Simplified menu structures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and created shortcuts to make frequently used functions easier to access.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28700" y="5581650"/>
            <a:ext cx="4762500" cy="952500"/>
            <a:chOff x="0" y="0"/>
            <a:chExt cx="1957426" cy="39148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957426" cy="391485"/>
            </a:xfrm>
            <a:custGeom>
              <a:avLst/>
              <a:gdLst/>
              <a:ahLst/>
              <a:cxnLst/>
              <a:rect r="r" b="b" t="t" l="l"/>
              <a:pathLst>
                <a:path h="391485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367101"/>
                  </a:lnTo>
                  <a:cubicBezTo>
                    <a:pt x="1957426" y="373568"/>
                    <a:pt x="1954857" y="379770"/>
                    <a:pt x="1950284" y="384343"/>
                  </a:cubicBezTo>
                  <a:cubicBezTo>
                    <a:pt x="1945711" y="388916"/>
                    <a:pt x="1939509" y="391485"/>
                    <a:pt x="1933042" y="391485"/>
                  </a:cubicBezTo>
                  <a:lnTo>
                    <a:pt x="24384" y="391485"/>
                  </a:lnTo>
                  <a:cubicBezTo>
                    <a:pt x="10917" y="391485"/>
                    <a:pt x="0" y="380568"/>
                    <a:pt x="0" y="367101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1957426" cy="391485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314450" y="5857875"/>
            <a:ext cx="4191000" cy="342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Transaction Input Screens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400800" y="5857875"/>
            <a:ext cx="10572750" cy="342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Tailored personalised input screens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based on transaction type and user requirements.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028700" y="3981450"/>
            <a:ext cx="16230600" cy="28575"/>
            <a:chOff x="0" y="0"/>
            <a:chExt cx="21640800" cy="381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640800" cy="38100"/>
            </a:xfrm>
            <a:custGeom>
              <a:avLst/>
              <a:gdLst/>
              <a:ahLst/>
              <a:cxnLst/>
              <a:rect r="r" b="b" t="t" l="l"/>
              <a:pathLst>
                <a:path h="38100" w="21640800">
                  <a:moveTo>
                    <a:pt x="0" y="0"/>
                  </a:moveTo>
                  <a:lnTo>
                    <a:pt x="21640800" y="0"/>
                  </a:lnTo>
                  <a:lnTo>
                    <a:pt x="216408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FF1E8">
                <a:alpha val="69804"/>
              </a:srgbClr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16408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6400800" y="5381625"/>
            <a:ext cx="10858500" cy="19050"/>
            <a:chOff x="0" y="0"/>
            <a:chExt cx="14478000" cy="254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400800" y="6715125"/>
            <a:ext cx="10858500" cy="19050"/>
            <a:chOff x="0" y="0"/>
            <a:chExt cx="14478000" cy="254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400800" y="8048625"/>
            <a:ext cx="10858500" cy="19050"/>
            <a:chOff x="0" y="0"/>
            <a:chExt cx="14478000" cy="254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5163800" y="381000"/>
            <a:ext cx="2095500" cy="571500"/>
            <a:chOff x="0" y="0"/>
            <a:chExt cx="2794000" cy="7620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76200" y="76200"/>
              <a:ext cx="2641600" cy="609600"/>
            </a:xfrm>
            <a:custGeom>
              <a:avLst/>
              <a:gdLst/>
              <a:ahLst/>
              <a:cxnLst/>
              <a:rect r="r" b="b" t="t" l="l"/>
              <a:pathLst>
                <a:path h="609600" w="2641600">
                  <a:moveTo>
                    <a:pt x="0" y="50800"/>
                  </a:move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ubicBezTo>
                    <a:pt x="22744" y="0"/>
                    <a:pt x="0" y="22744"/>
                    <a:pt x="0" y="50800"/>
                  </a:cubicBezTo>
                  <a:close/>
                  <a:moveTo>
                    <a:pt x="508000" y="50800"/>
                  </a:moveTo>
                  <a:cubicBezTo>
                    <a:pt x="508000" y="78856"/>
                    <a:pt x="530744" y="101600"/>
                    <a:pt x="558800" y="101600"/>
                  </a:cubicBezTo>
                  <a:cubicBezTo>
                    <a:pt x="586856" y="101600"/>
                    <a:pt x="609600" y="78856"/>
                    <a:pt x="609600" y="50800"/>
                  </a:cubicBezTo>
                  <a:cubicBezTo>
                    <a:pt x="609600" y="22744"/>
                    <a:pt x="586856" y="0"/>
                    <a:pt x="558800" y="0"/>
                  </a:cubicBezTo>
                  <a:cubicBezTo>
                    <a:pt x="530744" y="0"/>
                    <a:pt x="508000" y="22744"/>
                    <a:pt x="508000" y="50800"/>
                  </a:cubicBezTo>
                  <a:close/>
                  <a:moveTo>
                    <a:pt x="1016000" y="50800"/>
                  </a:moveTo>
                  <a:cubicBezTo>
                    <a:pt x="1016000" y="78856"/>
                    <a:pt x="1038744" y="101600"/>
                    <a:pt x="1066800" y="101600"/>
                  </a:cubicBezTo>
                  <a:cubicBezTo>
                    <a:pt x="1094856" y="101600"/>
                    <a:pt x="1117600" y="78856"/>
                    <a:pt x="1117600" y="50800"/>
                  </a:cubicBezTo>
                  <a:cubicBezTo>
                    <a:pt x="1117600" y="22744"/>
                    <a:pt x="1094856" y="0"/>
                    <a:pt x="1066800" y="0"/>
                  </a:cubicBezTo>
                  <a:cubicBezTo>
                    <a:pt x="1038744" y="0"/>
                    <a:pt x="1016000" y="22744"/>
                    <a:pt x="1016000" y="50800"/>
                  </a:cubicBezTo>
                  <a:close/>
                  <a:moveTo>
                    <a:pt x="1524000" y="50800"/>
                  </a:moveTo>
                  <a:cubicBezTo>
                    <a:pt x="1524000" y="78856"/>
                    <a:pt x="1546744" y="101600"/>
                    <a:pt x="1574800" y="101600"/>
                  </a:cubicBezTo>
                  <a:cubicBezTo>
                    <a:pt x="1602856" y="101600"/>
                    <a:pt x="1625600" y="78856"/>
                    <a:pt x="1625600" y="50800"/>
                  </a:cubicBezTo>
                  <a:cubicBezTo>
                    <a:pt x="1625600" y="22744"/>
                    <a:pt x="1602856" y="0"/>
                    <a:pt x="1574800" y="0"/>
                  </a:cubicBezTo>
                  <a:cubicBezTo>
                    <a:pt x="1546744" y="0"/>
                    <a:pt x="1524000" y="22744"/>
                    <a:pt x="1524000" y="50800"/>
                  </a:cubicBezTo>
                  <a:close/>
                  <a:moveTo>
                    <a:pt x="2032000" y="50800"/>
                  </a:moveTo>
                  <a:cubicBezTo>
                    <a:pt x="2032000" y="78856"/>
                    <a:pt x="2054744" y="101600"/>
                    <a:pt x="2082800" y="101600"/>
                  </a:cubicBezTo>
                  <a:cubicBezTo>
                    <a:pt x="2110856" y="101600"/>
                    <a:pt x="2133600" y="78856"/>
                    <a:pt x="2133600" y="50800"/>
                  </a:cubicBezTo>
                  <a:cubicBezTo>
                    <a:pt x="2133600" y="22744"/>
                    <a:pt x="2110856" y="0"/>
                    <a:pt x="2082800" y="0"/>
                  </a:cubicBezTo>
                  <a:cubicBezTo>
                    <a:pt x="2054744" y="0"/>
                    <a:pt x="2032000" y="22744"/>
                    <a:pt x="2032000" y="50800"/>
                  </a:cubicBezTo>
                  <a:close/>
                  <a:moveTo>
                    <a:pt x="2540000" y="50800"/>
                  </a:moveTo>
                  <a:cubicBezTo>
                    <a:pt x="2540000" y="78856"/>
                    <a:pt x="2562744" y="101600"/>
                    <a:pt x="2590800" y="101600"/>
                  </a:cubicBezTo>
                  <a:cubicBezTo>
                    <a:pt x="2618856" y="101600"/>
                    <a:pt x="2641600" y="78856"/>
                    <a:pt x="2641600" y="50800"/>
                  </a:cubicBezTo>
                  <a:cubicBezTo>
                    <a:pt x="2641600" y="22744"/>
                    <a:pt x="2618856" y="0"/>
                    <a:pt x="2590800" y="0"/>
                  </a:cubicBezTo>
                  <a:cubicBezTo>
                    <a:pt x="2562744" y="0"/>
                    <a:pt x="2540000" y="22744"/>
                    <a:pt x="2540000" y="50800"/>
                  </a:cubicBezTo>
                  <a:close/>
                  <a:moveTo>
                    <a:pt x="0" y="558800"/>
                  </a:moveTo>
                  <a:cubicBezTo>
                    <a:pt x="0" y="586856"/>
                    <a:pt x="22744" y="609600"/>
                    <a:pt x="50800" y="609600"/>
                  </a:cubicBezTo>
                  <a:cubicBezTo>
                    <a:pt x="78856" y="609600"/>
                    <a:pt x="101600" y="586856"/>
                    <a:pt x="101600" y="558800"/>
                  </a:cubicBezTo>
                  <a:cubicBezTo>
                    <a:pt x="101600" y="530744"/>
                    <a:pt x="78856" y="508000"/>
                    <a:pt x="50800" y="508000"/>
                  </a:cubicBezTo>
                  <a:cubicBezTo>
                    <a:pt x="22744" y="508000"/>
                    <a:pt x="0" y="530744"/>
                    <a:pt x="0" y="558800"/>
                  </a:cubicBezTo>
                  <a:close/>
                  <a:moveTo>
                    <a:pt x="508000" y="558800"/>
                  </a:moveTo>
                  <a:cubicBezTo>
                    <a:pt x="508000" y="586856"/>
                    <a:pt x="530744" y="609600"/>
                    <a:pt x="558800" y="609600"/>
                  </a:cubicBezTo>
                  <a:cubicBezTo>
                    <a:pt x="586856" y="609600"/>
                    <a:pt x="609600" y="586856"/>
                    <a:pt x="609600" y="558800"/>
                  </a:cubicBezTo>
                  <a:cubicBezTo>
                    <a:pt x="609600" y="530744"/>
                    <a:pt x="586856" y="508000"/>
                    <a:pt x="558800" y="508000"/>
                  </a:cubicBezTo>
                  <a:cubicBezTo>
                    <a:pt x="530744" y="508000"/>
                    <a:pt x="508000" y="530744"/>
                    <a:pt x="508000" y="558800"/>
                  </a:cubicBezTo>
                  <a:close/>
                  <a:moveTo>
                    <a:pt x="1016000" y="558800"/>
                  </a:moveTo>
                  <a:cubicBezTo>
                    <a:pt x="1016000" y="586856"/>
                    <a:pt x="1038744" y="609600"/>
                    <a:pt x="1066800" y="609600"/>
                  </a:cubicBezTo>
                  <a:cubicBezTo>
                    <a:pt x="1094856" y="609600"/>
                    <a:pt x="1117600" y="586856"/>
                    <a:pt x="1117600" y="558800"/>
                  </a:cubicBezTo>
                  <a:cubicBezTo>
                    <a:pt x="1117600" y="530744"/>
                    <a:pt x="1094856" y="508000"/>
                    <a:pt x="1066800" y="508000"/>
                  </a:cubicBezTo>
                  <a:cubicBezTo>
                    <a:pt x="1038744" y="508000"/>
                    <a:pt x="1016000" y="530744"/>
                    <a:pt x="1016000" y="558800"/>
                  </a:cubicBezTo>
                  <a:close/>
                  <a:moveTo>
                    <a:pt x="1524000" y="558800"/>
                  </a:moveTo>
                  <a:cubicBezTo>
                    <a:pt x="1524000" y="586856"/>
                    <a:pt x="1546744" y="609600"/>
                    <a:pt x="1574800" y="609600"/>
                  </a:cubicBezTo>
                  <a:cubicBezTo>
                    <a:pt x="1602856" y="609600"/>
                    <a:pt x="1625600" y="586856"/>
                    <a:pt x="1625600" y="558800"/>
                  </a:cubicBezTo>
                  <a:cubicBezTo>
                    <a:pt x="1625600" y="530744"/>
                    <a:pt x="1602856" y="508000"/>
                    <a:pt x="1574800" y="508000"/>
                  </a:cubicBezTo>
                  <a:cubicBezTo>
                    <a:pt x="1546744" y="508000"/>
                    <a:pt x="1524000" y="530744"/>
                    <a:pt x="1524000" y="558800"/>
                  </a:cubicBezTo>
                  <a:close/>
                  <a:moveTo>
                    <a:pt x="2032000" y="558800"/>
                  </a:moveTo>
                  <a:cubicBezTo>
                    <a:pt x="2032000" y="586856"/>
                    <a:pt x="2054744" y="609600"/>
                    <a:pt x="2082800" y="609600"/>
                  </a:cubicBezTo>
                  <a:cubicBezTo>
                    <a:pt x="2110856" y="609600"/>
                    <a:pt x="2133600" y="586856"/>
                    <a:pt x="2133600" y="558800"/>
                  </a:cubicBezTo>
                  <a:cubicBezTo>
                    <a:pt x="2133600" y="530744"/>
                    <a:pt x="2110856" y="508000"/>
                    <a:pt x="2082800" y="508000"/>
                  </a:cubicBezTo>
                  <a:cubicBezTo>
                    <a:pt x="2054744" y="508000"/>
                    <a:pt x="2032000" y="530744"/>
                    <a:pt x="2032000" y="558800"/>
                  </a:cubicBezTo>
                  <a:close/>
                  <a:moveTo>
                    <a:pt x="2540000" y="558800"/>
                  </a:moveTo>
                  <a:cubicBezTo>
                    <a:pt x="2540000" y="586856"/>
                    <a:pt x="2562744" y="609600"/>
                    <a:pt x="2590800" y="609600"/>
                  </a:cubicBezTo>
                  <a:cubicBezTo>
                    <a:pt x="2618856" y="609600"/>
                    <a:pt x="2641600" y="586856"/>
                    <a:pt x="2641600" y="558800"/>
                  </a:cubicBezTo>
                  <a:cubicBezTo>
                    <a:pt x="2641600" y="530744"/>
                    <a:pt x="2618856" y="508000"/>
                    <a:pt x="2590800" y="508000"/>
                  </a:cubicBezTo>
                  <a:cubicBezTo>
                    <a:pt x="2562744" y="508000"/>
                    <a:pt x="2540000" y="530744"/>
                    <a:pt x="2540000" y="558800"/>
                  </a:cubicBezTo>
                  <a:close/>
                </a:path>
              </a:pathLst>
            </a:custGeom>
            <a:solidFill>
              <a:srgbClr val="EFF1E8">
                <a:alpha val="49804"/>
              </a:srgbClr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2794000" cy="80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219200"/>
            <a:ext cx="16545661" cy="1245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Process Improvement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600325"/>
            <a:ext cx="11590121" cy="358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Turning repetitive Treasury activities into scalable, controlled workflows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486150"/>
            <a:ext cx="4762500" cy="30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Improvement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00800" y="3486150"/>
            <a:ext cx="10572750" cy="306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My Role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028700" y="6438900"/>
            <a:ext cx="4762500" cy="1428750"/>
            <a:chOff x="0" y="0"/>
            <a:chExt cx="1957426" cy="58722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957426" cy="587228"/>
            </a:xfrm>
            <a:custGeom>
              <a:avLst/>
              <a:gdLst/>
              <a:ahLst/>
              <a:cxnLst/>
              <a:rect r="r" b="b" t="t" l="l"/>
              <a:pathLst>
                <a:path h="587228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562844"/>
                  </a:lnTo>
                  <a:cubicBezTo>
                    <a:pt x="1957426" y="569311"/>
                    <a:pt x="1954857" y="575513"/>
                    <a:pt x="1950284" y="580086"/>
                  </a:cubicBezTo>
                  <a:cubicBezTo>
                    <a:pt x="1945711" y="584659"/>
                    <a:pt x="1939509" y="587228"/>
                    <a:pt x="1933042" y="587228"/>
                  </a:cubicBezTo>
                  <a:lnTo>
                    <a:pt x="24384" y="587228"/>
                  </a:lnTo>
                  <a:cubicBezTo>
                    <a:pt x="10917" y="587228"/>
                    <a:pt x="0" y="576311"/>
                    <a:pt x="0" y="562844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1957426" cy="587228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314450" y="6619875"/>
            <a:ext cx="4191000" cy="1008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Automated Trade Confirmations — CSV Distribution to Fund Administrators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400800" y="6619875"/>
            <a:ext cx="10572750" cy="1008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Designed and validated the trade-confirmation workflow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, including CSV output and email-only users, enabling automated distribution to fund administrators </a:t>
            </a: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without requiring full user licences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28700" y="4248150"/>
            <a:ext cx="4762500" cy="1428750"/>
            <a:chOff x="0" y="0"/>
            <a:chExt cx="1957426" cy="5872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957426" cy="587228"/>
            </a:xfrm>
            <a:custGeom>
              <a:avLst/>
              <a:gdLst/>
              <a:ahLst/>
              <a:cxnLst/>
              <a:rect r="r" b="b" t="t" l="l"/>
              <a:pathLst>
                <a:path h="587228" w="1957426">
                  <a:moveTo>
                    <a:pt x="24384" y="0"/>
                  </a:moveTo>
                  <a:lnTo>
                    <a:pt x="1933042" y="0"/>
                  </a:lnTo>
                  <a:cubicBezTo>
                    <a:pt x="1946509" y="0"/>
                    <a:pt x="1957426" y="10917"/>
                    <a:pt x="1957426" y="24384"/>
                  </a:cubicBezTo>
                  <a:lnTo>
                    <a:pt x="1957426" y="562844"/>
                  </a:lnTo>
                  <a:cubicBezTo>
                    <a:pt x="1957426" y="569311"/>
                    <a:pt x="1954857" y="575513"/>
                    <a:pt x="1950284" y="580086"/>
                  </a:cubicBezTo>
                  <a:cubicBezTo>
                    <a:pt x="1945711" y="584659"/>
                    <a:pt x="1939509" y="587228"/>
                    <a:pt x="1933042" y="587228"/>
                  </a:cubicBezTo>
                  <a:lnTo>
                    <a:pt x="24384" y="587228"/>
                  </a:lnTo>
                  <a:cubicBezTo>
                    <a:pt x="10917" y="587228"/>
                    <a:pt x="0" y="576311"/>
                    <a:pt x="0" y="562844"/>
                  </a:cubicBezTo>
                  <a:lnTo>
                    <a:pt x="0" y="24384"/>
                  </a:lnTo>
                  <a:cubicBezTo>
                    <a:pt x="0" y="10917"/>
                    <a:pt x="10917" y="0"/>
                    <a:pt x="24384" y="0"/>
                  </a:cubicBezTo>
                  <a:close/>
                </a:path>
              </a:pathLst>
            </a:custGeom>
            <a:solidFill>
              <a:srgbClr val="EFF1E8"/>
            </a:solidFill>
            <a:ln w="28575" cap="sq">
              <a:solidFill>
                <a:srgbClr val="EFF1E8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957426" cy="587228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2303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314450" y="4429125"/>
            <a:ext cx="4191000" cy="1008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8"/>
              </a:lnSpc>
            </a:pPr>
            <a:r>
              <a:rPr lang="en-US" sz="1899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Automated Client Reporting - Trades, Positions, Balances and Interest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400800" y="4595812"/>
            <a:ext cx="10572750" cy="6756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8"/>
              </a:lnSpc>
            </a:pPr>
            <a:r>
              <a:rPr lang="en-US" sz="1899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Designed reporting requirements and automated recurring delivery</a:t>
            </a:r>
            <a:r>
              <a:rPr lang="en-US" sz="18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, ensuring clients received the information they needed without manual intervention.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28700" y="3981450"/>
            <a:ext cx="16230600" cy="28575"/>
            <a:chOff x="0" y="0"/>
            <a:chExt cx="21640800" cy="381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640800" cy="38100"/>
            </a:xfrm>
            <a:custGeom>
              <a:avLst/>
              <a:gdLst/>
              <a:ahLst/>
              <a:cxnLst/>
              <a:rect r="r" b="b" t="t" l="l"/>
              <a:pathLst>
                <a:path h="38100" w="21640800">
                  <a:moveTo>
                    <a:pt x="0" y="0"/>
                  </a:moveTo>
                  <a:lnTo>
                    <a:pt x="21640800" y="0"/>
                  </a:lnTo>
                  <a:lnTo>
                    <a:pt x="216408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EFF1E8">
                <a:alpha val="69804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216408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5163800" y="914400"/>
            <a:ext cx="2095500" cy="1333500"/>
            <a:chOff x="0" y="0"/>
            <a:chExt cx="2794000" cy="1778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76200" y="76200"/>
              <a:ext cx="2641600" cy="1625600"/>
            </a:xfrm>
            <a:custGeom>
              <a:avLst/>
              <a:gdLst/>
              <a:ahLst/>
              <a:cxnLst/>
              <a:rect r="r" b="b" t="t" l="l"/>
              <a:pathLst>
                <a:path h="1625600" w="2641600">
                  <a:moveTo>
                    <a:pt x="0" y="50800"/>
                  </a:moveTo>
                  <a:cubicBezTo>
                    <a:pt x="0" y="78856"/>
                    <a:pt x="22744" y="101600"/>
                    <a:pt x="50800" y="101600"/>
                  </a:cubicBezTo>
                  <a:cubicBezTo>
                    <a:pt x="78856" y="101600"/>
                    <a:pt x="101600" y="78856"/>
                    <a:pt x="101600" y="50800"/>
                  </a:cubicBezTo>
                  <a:cubicBezTo>
                    <a:pt x="101600" y="22744"/>
                    <a:pt x="78856" y="0"/>
                    <a:pt x="50800" y="0"/>
                  </a:cubicBezTo>
                  <a:cubicBezTo>
                    <a:pt x="22744" y="0"/>
                    <a:pt x="0" y="22744"/>
                    <a:pt x="0" y="50800"/>
                  </a:cubicBezTo>
                  <a:close/>
                  <a:moveTo>
                    <a:pt x="508000" y="50800"/>
                  </a:moveTo>
                  <a:cubicBezTo>
                    <a:pt x="508000" y="78856"/>
                    <a:pt x="530744" y="101600"/>
                    <a:pt x="558800" y="101600"/>
                  </a:cubicBezTo>
                  <a:cubicBezTo>
                    <a:pt x="586856" y="101600"/>
                    <a:pt x="609600" y="78856"/>
                    <a:pt x="609600" y="50800"/>
                  </a:cubicBezTo>
                  <a:cubicBezTo>
                    <a:pt x="609600" y="22744"/>
                    <a:pt x="586856" y="0"/>
                    <a:pt x="558800" y="0"/>
                  </a:cubicBezTo>
                  <a:cubicBezTo>
                    <a:pt x="530744" y="0"/>
                    <a:pt x="508000" y="22744"/>
                    <a:pt x="508000" y="50800"/>
                  </a:cubicBezTo>
                  <a:close/>
                  <a:moveTo>
                    <a:pt x="1016000" y="50800"/>
                  </a:moveTo>
                  <a:cubicBezTo>
                    <a:pt x="1016000" y="78856"/>
                    <a:pt x="1038744" y="101600"/>
                    <a:pt x="1066800" y="101600"/>
                  </a:cubicBezTo>
                  <a:cubicBezTo>
                    <a:pt x="1094856" y="101600"/>
                    <a:pt x="1117600" y="78856"/>
                    <a:pt x="1117600" y="50800"/>
                  </a:cubicBezTo>
                  <a:cubicBezTo>
                    <a:pt x="1117600" y="22744"/>
                    <a:pt x="1094856" y="0"/>
                    <a:pt x="1066800" y="0"/>
                  </a:cubicBezTo>
                  <a:cubicBezTo>
                    <a:pt x="1038744" y="0"/>
                    <a:pt x="1016000" y="22744"/>
                    <a:pt x="1016000" y="50800"/>
                  </a:cubicBezTo>
                  <a:close/>
                  <a:moveTo>
                    <a:pt x="1524000" y="50800"/>
                  </a:moveTo>
                  <a:cubicBezTo>
                    <a:pt x="1524000" y="78856"/>
                    <a:pt x="1546744" y="101600"/>
                    <a:pt x="1574800" y="101600"/>
                  </a:cubicBezTo>
                  <a:cubicBezTo>
                    <a:pt x="1602856" y="101600"/>
                    <a:pt x="1625600" y="78856"/>
                    <a:pt x="1625600" y="50800"/>
                  </a:cubicBezTo>
                  <a:cubicBezTo>
                    <a:pt x="1625600" y="22744"/>
                    <a:pt x="1602856" y="0"/>
                    <a:pt x="1574800" y="0"/>
                  </a:cubicBezTo>
                  <a:cubicBezTo>
                    <a:pt x="1546744" y="0"/>
                    <a:pt x="1524000" y="22744"/>
                    <a:pt x="1524000" y="50800"/>
                  </a:cubicBezTo>
                  <a:close/>
                  <a:moveTo>
                    <a:pt x="2032000" y="50800"/>
                  </a:moveTo>
                  <a:cubicBezTo>
                    <a:pt x="2032000" y="78856"/>
                    <a:pt x="2054744" y="101600"/>
                    <a:pt x="2082800" y="101600"/>
                  </a:cubicBezTo>
                  <a:cubicBezTo>
                    <a:pt x="2110856" y="101600"/>
                    <a:pt x="2133600" y="78856"/>
                    <a:pt x="2133600" y="50800"/>
                  </a:cubicBezTo>
                  <a:cubicBezTo>
                    <a:pt x="2133600" y="22744"/>
                    <a:pt x="2110856" y="0"/>
                    <a:pt x="2082800" y="0"/>
                  </a:cubicBezTo>
                  <a:cubicBezTo>
                    <a:pt x="2054744" y="0"/>
                    <a:pt x="2032000" y="22744"/>
                    <a:pt x="2032000" y="50800"/>
                  </a:cubicBezTo>
                  <a:close/>
                  <a:moveTo>
                    <a:pt x="2540000" y="50800"/>
                  </a:moveTo>
                  <a:cubicBezTo>
                    <a:pt x="2540000" y="78856"/>
                    <a:pt x="2562744" y="101600"/>
                    <a:pt x="2590800" y="101600"/>
                  </a:cubicBezTo>
                  <a:cubicBezTo>
                    <a:pt x="2618856" y="101600"/>
                    <a:pt x="2641600" y="78856"/>
                    <a:pt x="2641600" y="50800"/>
                  </a:cubicBezTo>
                  <a:cubicBezTo>
                    <a:pt x="2641600" y="22744"/>
                    <a:pt x="2618856" y="0"/>
                    <a:pt x="2590800" y="0"/>
                  </a:cubicBezTo>
                  <a:cubicBezTo>
                    <a:pt x="2562744" y="0"/>
                    <a:pt x="2540000" y="22744"/>
                    <a:pt x="2540000" y="50800"/>
                  </a:cubicBezTo>
                  <a:close/>
                  <a:moveTo>
                    <a:pt x="0" y="558800"/>
                  </a:moveTo>
                  <a:cubicBezTo>
                    <a:pt x="0" y="586856"/>
                    <a:pt x="22744" y="609600"/>
                    <a:pt x="50800" y="609600"/>
                  </a:cubicBezTo>
                  <a:cubicBezTo>
                    <a:pt x="78856" y="609600"/>
                    <a:pt x="101600" y="586856"/>
                    <a:pt x="101600" y="558800"/>
                  </a:cubicBezTo>
                  <a:cubicBezTo>
                    <a:pt x="101600" y="530744"/>
                    <a:pt x="78856" y="508000"/>
                    <a:pt x="50800" y="508000"/>
                  </a:cubicBezTo>
                  <a:cubicBezTo>
                    <a:pt x="22744" y="508000"/>
                    <a:pt x="0" y="530744"/>
                    <a:pt x="0" y="558800"/>
                  </a:cubicBezTo>
                  <a:close/>
                  <a:moveTo>
                    <a:pt x="508000" y="558800"/>
                  </a:moveTo>
                  <a:cubicBezTo>
                    <a:pt x="508000" y="586856"/>
                    <a:pt x="530744" y="609600"/>
                    <a:pt x="558800" y="609600"/>
                  </a:cubicBezTo>
                  <a:cubicBezTo>
                    <a:pt x="586856" y="609600"/>
                    <a:pt x="609600" y="586856"/>
                    <a:pt x="609600" y="558800"/>
                  </a:cubicBezTo>
                  <a:cubicBezTo>
                    <a:pt x="609600" y="530744"/>
                    <a:pt x="586856" y="508000"/>
                    <a:pt x="558800" y="508000"/>
                  </a:cubicBezTo>
                  <a:cubicBezTo>
                    <a:pt x="530744" y="508000"/>
                    <a:pt x="508000" y="530744"/>
                    <a:pt x="508000" y="558800"/>
                  </a:cubicBezTo>
                  <a:close/>
                  <a:moveTo>
                    <a:pt x="1016000" y="558800"/>
                  </a:moveTo>
                  <a:cubicBezTo>
                    <a:pt x="1016000" y="586856"/>
                    <a:pt x="1038744" y="609600"/>
                    <a:pt x="1066800" y="609600"/>
                  </a:cubicBezTo>
                  <a:cubicBezTo>
                    <a:pt x="1094856" y="609600"/>
                    <a:pt x="1117600" y="586856"/>
                    <a:pt x="1117600" y="558800"/>
                  </a:cubicBezTo>
                  <a:cubicBezTo>
                    <a:pt x="1117600" y="530744"/>
                    <a:pt x="1094856" y="508000"/>
                    <a:pt x="1066800" y="508000"/>
                  </a:cubicBezTo>
                  <a:cubicBezTo>
                    <a:pt x="1038744" y="508000"/>
                    <a:pt x="1016000" y="530744"/>
                    <a:pt x="1016000" y="558800"/>
                  </a:cubicBezTo>
                  <a:close/>
                  <a:moveTo>
                    <a:pt x="1524000" y="558800"/>
                  </a:moveTo>
                  <a:cubicBezTo>
                    <a:pt x="1524000" y="586856"/>
                    <a:pt x="1546744" y="609600"/>
                    <a:pt x="1574800" y="609600"/>
                  </a:cubicBezTo>
                  <a:cubicBezTo>
                    <a:pt x="1602856" y="609600"/>
                    <a:pt x="1625600" y="586856"/>
                    <a:pt x="1625600" y="558800"/>
                  </a:cubicBezTo>
                  <a:cubicBezTo>
                    <a:pt x="1625600" y="530744"/>
                    <a:pt x="1602856" y="508000"/>
                    <a:pt x="1574800" y="508000"/>
                  </a:cubicBezTo>
                  <a:cubicBezTo>
                    <a:pt x="1546744" y="508000"/>
                    <a:pt x="1524000" y="530744"/>
                    <a:pt x="1524000" y="558800"/>
                  </a:cubicBezTo>
                  <a:close/>
                  <a:moveTo>
                    <a:pt x="2032000" y="558800"/>
                  </a:moveTo>
                  <a:cubicBezTo>
                    <a:pt x="2032000" y="586856"/>
                    <a:pt x="2054744" y="609600"/>
                    <a:pt x="2082800" y="609600"/>
                  </a:cubicBezTo>
                  <a:cubicBezTo>
                    <a:pt x="2110856" y="609600"/>
                    <a:pt x="2133600" y="586856"/>
                    <a:pt x="2133600" y="558800"/>
                  </a:cubicBezTo>
                  <a:cubicBezTo>
                    <a:pt x="2133600" y="530744"/>
                    <a:pt x="2110856" y="508000"/>
                    <a:pt x="2082800" y="508000"/>
                  </a:cubicBezTo>
                  <a:cubicBezTo>
                    <a:pt x="2054744" y="508000"/>
                    <a:pt x="2032000" y="530744"/>
                    <a:pt x="2032000" y="558800"/>
                  </a:cubicBezTo>
                  <a:close/>
                  <a:moveTo>
                    <a:pt x="2540000" y="558800"/>
                  </a:moveTo>
                  <a:cubicBezTo>
                    <a:pt x="2540000" y="586856"/>
                    <a:pt x="2562744" y="609600"/>
                    <a:pt x="2590800" y="609600"/>
                  </a:cubicBezTo>
                  <a:cubicBezTo>
                    <a:pt x="2618856" y="609600"/>
                    <a:pt x="2641600" y="586856"/>
                    <a:pt x="2641600" y="558800"/>
                  </a:cubicBezTo>
                  <a:cubicBezTo>
                    <a:pt x="2641600" y="530744"/>
                    <a:pt x="2618856" y="508000"/>
                    <a:pt x="2590800" y="508000"/>
                  </a:cubicBezTo>
                  <a:cubicBezTo>
                    <a:pt x="2562744" y="508000"/>
                    <a:pt x="2540000" y="530744"/>
                    <a:pt x="2540000" y="558800"/>
                  </a:cubicBezTo>
                  <a:close/>
                  <a:moveTo>
                    <a:pt x="0" y="1066800"/>
                  </a:moveTo>
                  <a:cubicBezTo>
                    <a:pt x="0" y="1094856"/>
                    <a:pt x="22744" y="1117600"/>
                    <a:pt x="50800" y="1117600"/>
                  </a:cubicBezTo>
                  <a:cubicBezTo>
                    <a:pt x="78856" y="1117600"/>
                    <a:pt x="101600" y="1094856"/>
                    <a:pt x="101600" y="1066800"/>
                  </a:cubicBezTo>
                  <a:cubicBezTo>
                    <a:pt x="101600" y="1038744"/>
                    <a:pt x="78856" y="1016000"/>
                    <a:pt x="50800" y="1016000"/>
                  </a:cubicBezTo>
                  <a:cubicBezTo>
                    <a:pt x="22744" y="1016000"/>
                    <a:pt x="0" y="1038744"/>
                    <a:pt x="0" y="1066800"/>
                  </a:cubicBezTo>
                  <a:close/>
                  <a:moveTo>
                    <a:pt x="508000" y="1066800"/>
                  </a:moveTo>
                  <a:cubicBezTo>
                    <a:pt x="508000" y="1094856"/>
                    <a:pt x="530744" y="1117600"/>
                    <a:pt x="558800" y="1117600"/>
                  </a:cubicBezTo>
                  <a:cubicBezTo>
                    <a:pt x="586856" y="1117600"/>
                    <a:pt x="609600" y="1094856"/>
                    <a:pt x="609600" y="1066800"/>
                  </a:cubicBezTo>
                  <a:cubicBezTo>
                    <a:pt x="609600" y="1038744"/>
                    <a:pt x="586856" y="1016000"/>
                    <a:pt x="558800" y="1016000"/>
                  </a:cubicBezTo>
                  <a:cubicBezTo>
                    <a:pt x="530744" y="1016000"/>
                    <a:pt x="508000" y="1038744"/>
                    <a:pt x="508000" y="1066800"/>
                  </a:cubicBezTo>
                  <a:close/>
                  <a:moveTo>
                    <a:pt x="1016000" y="1066800"/>
                  </a:moveTo>
                  <a:cubicBezTo>
                    <a:pt x="1016000" y="1094856"/>
                    <a:pt x="1038744" y="1117600"/>
                    <a:pt x="1066800" y="1117600"/>
                  </a:cubicBezTo>
                  <a:cubicBezTo>
                    <a:pt x="1094856" y="1117600"/>
                    <a:pt x="1117600" y="1094856"/>
                    <a:pt x="1117600" y="1066800"/>
                  </a:cubicBezTo>
                  <a:cubicBezTo>
                    <a:pt x="1117600" y="1038744"/>
                    <a:pt x="1094856" y="1016000"/>
                    <a:pt x="1066800" y="1016000"/>
                  </a:cubicBezTo>
                  <a:cubicBezTo>
                    <a:pt x="1038744" y="1016000"/>
                    <a:pt x="1016000" y="1038744"/>
                    <a:pt x="1016000" y="1066800"/>
                  </a:cubicBezTo>
                  <a:close/>
                  <a:moveTo>
                    <a:pt x="1524000" y="1066800"/>
                  </a:moveTo>
                  <a:cubicBezTo>
                    <a:pt x="1524000" y="1094856"/>
                    <a:pt x="1546744" y="1117600"/>
                    <a:pt x="1574800" y="1117600"/>
                  </a:cubicBezTo>
                  <a:cubicBezTo>
                    <a:pt x="1602856" y="1117600"/>
                    <a:pt x="1625600" y="1094856"/>
                    <a:pt x="1625600" y="1066800"/>
                  </a:cubicBezTo>
                  <a:cubicBezTo>
                    <a:pt x="1625600" y="1038744"/>
                    <a:pt x="1602856" y="1016000"/>
                    <a:pt x="1574800" y="1016000"/>
                  </a:cubicBezTo>
                  <a:cubicBezTo>
                    <a:pt x="1546744" y="1016000"/>
                    <a:pt x="1524000" y="1038744"/>
                    <a:pt x="1524000" y="1066800"/>
                  </a:cubicBezTo>
                  <a:close/>
                  <a:moveTo>
                    <a:pt x="2032000" y="1066800"/>
                  </a:moveTo>
                  <a:cubicBezTo>
                    <a:pt x="2032000" y="1094856"/>
                    <a:pt x="2054744" y="1117600"/>
                    <a:pt x="2082800" y="1117600"/>
                  </a:cubicBezTo>
                  <a:cubicBezTo>
                    <a:pt x="2110856" y="1117600"/>
                    <a:pt x="2133600" y="1094856"/>
                    <a:pt x="2133600" y="1066800"/>
                  </a:cubicBezTo>
                  <a:cubicBezTo>
                    <a:pt x="2133600" y="1038744"/>
                    <a:pt x="2110856" y="1016000"/>
                    <a:pt x="2082800" y="1016000"/>
                  </a:cubicBezTo>
                  <a:cubicBezTo>
                    <a:pt x="2054744" y="1016000"/>
                    <a:pt x="2032000" y="1038744"/>
                    <a:pt x="2032000" y="1066800"/>
                  </a:cubicBezTo>
                  <a:close/>
                  <a:moveTo>
                    <a:pt x="2540000" y="1066800"/>
                  </a:moveTo>
                  <a:cubicBezTo>
                    <a:pt x="2540000" y="1094856"/>
                    <a:pt x="2562744" y="1117600"/>
                    <a:pt x="2590800" y="1117600"/>
                  </a:cubicBezTo>
                  <a:cubicBezTo>
                    <a:pt x="2618856" y="1117600"/>
                    <a:pt x="2641600" y="1094856"/>
                    <a:pt x="2641600" y="1066800"/>
                  </a:cubicBezTo>
                  <a:cubicBezTo>
                    <a:pt x="2641600" y="1038744"/>
                    <a:pt x="2618856" y="1016000"/>
                    <a:pt x="2590800" y="1016000"/>
                  </a:cubicBezTo>
                  <a:cubicBezTo>
                    <a:pt x="2562744" y="1016000"/>
                    <a:pt x="2540000" y="1038744"/>
                    <a:pt x="2540000" y="1066800"/>
                  </a:cubicBezTo>
                  <a:close/>
                  <a:moveTo>
                    <a:pt x="0" y="1574800"/>
                  </a:moveTo>
                  <a:cubicBezTo>
                    <a:pt x="0" y="1602856"/>
                    <a:pt x="22744" y="1625600"/>
                    <a:pt x="50800" y="1625600"/>
                  </a:cubicBezTo>
                  <a:cubicBezTo>
                    <a:pt x="78856" y="1625600"/>
                    <a:pt x="101600" y="1602856"/>
                    <a:pt x="101600" y="1574800"/>
                  </a:cubicBezTo>
                  <a:cubicBezTo>
                    <a:pt x="101600" y="1546744"/>
                    <a:pt x="78856" y="1524000"/>
                    <a:pt x="50800" y="1524000"/>
                  </a:cubicBezTo>
                  <a:cubicBezTo>
                    <a:pt x="22744" y="1524000"/>
                    <a:pt x="0" y="1546744"/>
                    <a:pt x="0" y="1574800"/>
                  </a:cubicBezTo>
                  <a:close/>
                  <a:moveTo>
                    <a:pt x="508000" y="1574800"/>
                  </a:moveTo>
                  <a:cubicBezTo>
                    <a:pt x="508000" y="1602856"/>
                    <a:pt x="530744" y="1625600"/>
                    <a:pt x="558800" y="1625600"/>
                  </a:cubicBezTo>
                  <a:cubicBezTo>
                    <a:pt x="586856" y="1625600"/>
                    <a:pt x="609600" y="1602856"/>
                    <a:pt x="609600" y="1574800"/>
                  </a:cubicBezTo>
                  <a:cubicBezTo>
                    <a:pt x="609600" y="1546744"/>
                    <a:pt x="586856" y="1524000"/>
                    <a:pt x="558800" y="1524000"/>
                  </a:cubicBezTo>
                  <a:cubicBezTo>
                    <a:pt x="530744" y="1524000"/>
                    <a:pt x="508000" y="1546744"/>
                    <a:pt x="508000" y="1574800"/>
                  </a:cubicBezTo>
                  <a:close/>
                  <a:moveTo>
                    <a:pt x="1016000" y="1574800"/>
                  </a:moveTo>
                  <a:cubicBezTo>
                    <a:pt x="1016000" y="1602856"/>
                    <a:pt x="1038744" y="1625600"/>
                    <a:pt x="1066800" y="1625600"/>
                  </a:cubicBezTo>
                  <a:cubicBezTo>
                    <a:pt x="1094856" y="1625600"/>
                    <a:pt x="1117600" y="1602856"/>
                    <a:pt x="1117600" y="1574800"/>
                  </a:cubicBezTo>
                  <a:cubicBezTo>
                    <a:pt x="1117600" y="1546744"/>
                    <a:pt x="1094856" y="1524000"/>
                    <a:pt x="1066800" y="1524000"/>
                  </a:cubicBezTo>
                  <a:cubicBezTo>
                    <a:pt x="1038744" y="1524000"/>
                    <a:pt x="1016000" y="1546744"/>
                    <a:pt x="1016000" y="1574800"/>
                  </a:cubicBezTo>
                  <a:close/>
                  <a:moveTo>
                    <a:pt x="1524000" y="1574800"/>
                  </a:moveTo>
                  <a:cubicBezTo>
                    <a:pt x="1524000" y="1602856"/>
                    <a:pt x="1546744" y="1625600"/>
                    <a:pt x="1574800" y="1625600"/>
                  </a:cubicBezTo>
                  <a:cubicBezTo>
                    <a:pt x="1602856" y="1625600"/>
                    <a:pt x="1625600" y="1602856"/>
                    <a:pt x="1625600" y="1574800"/>
                  </a:cubicBezTo>
                  <a:cubicBezTo>
                    <a:pt x="1625600" y="1546744"/>
                    <a:pt x="1602856" y="1524000"/>
                    <a:pt x="1574800" y="1524000"/>
                  </a:cubicBezTo>
                  <a:cubicBezTo>
                    <a:pt x="1546744" y="1524000"/>
                    <a:pt x="1524000" y="1546744"/>
                    <a:pt x="1524000" y="1574800"/>
                  </a:cubicBezTo>
                  <a:close/>
                  <a:moveTo>
                    <a:pt x="2032000" y="1574800"/>
                  </a:moveTo>
                  <a:cubicBezTo>
                    <a:pt x="2032000" y="1602856"/>
                    <a:pt x="2054744" y="1625600"/>
                    <a:pt x="2082800" y="1625600"/>
                  </a:cubicBezTo>
                  <a:cubicBezTo>
                    <a:pt x="2110856" y="1625600"/>
                    <a:pt x="2133600" y="1602856"/>
                    <a:pt x="2133600" y="1574800"/>
                  </a:cubicBezTo>
                  <a:cubicBezTo>
                    <a:pt x="2133600" y="1546744"/>
                    <a:pt x="2110856" y="1524000"/>
                    <a:pt x="2082800" y="1524000"/>
                  </a:cubicBezTo>
                  <a:cubicBezTo>
                    <a:pt x="2054744" y="1524000"/>
                    <a:pt x="2032000" y="1546744"/>
                    <a:pt x="2032000" y="1574800"/>
                  </a:cubicBezTo>
                  <a:close/>
                  <a:moveTo>
                    <a:pt x="2540000" y="1574800"/>
                  </a:moveTo>
                  <a:cubicBezTo>
                    <a:pt x="2540000" y="1602856"/>
                    <a:pt x="2562744" y="1625600"/>
                    <a:pt x="2590800" y="1625600"/>
                  </a:cubicBezTo>
                  <a:cubicBezTo>
                    <a:pt x="2618856" y="1625600"/>
                    <a:pt x="2641600" y="1602856"/>
                    <a:pt x="2641600" y="1574800"/>
                  </a:cubicBezTo>
                  <a:cubicBezTo>
                    <a:pt x="2641600" y="1546744"/>
                    <a:pt x="2618856" y="1524000"/>
                    <a:pt x="2590800" y="1524000"/>
                  </a:cubicBezTo>
                  <a:cubicBezTo>
                    <a:pt x="2562744" y="1524000"/>
                    <a:pt x="2540000" y="1546744"/>
                    <a:pt x="2540000" y="1574800"/>
                  </a:cubicBezTo>
                  <a:close/>
                </a:path>
              </a:pathLst>
            </a:custGeom>
            <a:solidFill>
              <a:srgbClr val="EFF1E8">
                <a:alpha val="49804"/>
              </a:srgbClr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2794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400800" y="6048375"/>
            <a:ext cx="10858500" cy="19050"/>
            <a:chOff x="0" y="0"/>
            <a:chExt cx="14478000" cy="254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4478000" cy="25400"/>
            </a:xfrm>
            <a:custGeom>
              <a:avLst/>
              <a:gdLst/>
              <a:ahLst/>
              <a:cxnLst/>
              <a:rect r="r" b="b" t="t" l="l"/>
              <a:pathLst>
                <a:path h="25400" w="14478000">
                  <a:moveTo>
                    <a:pt x="0" y="0"/>
                  </a:moveTo>
                  <a:lnTo>
                    <a:pt x="14478000" y="0"/>
                  </a:lnTo>
                  <a:lnTo>
                    <a:pt x="14478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FF1E8">
                <a:alpha val="34902"/>
              </a:srgbClr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4478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DAHWw_qEFQs</dc:identifier>
  <dcterms:modified xsi:type="dcterms:W3CDTF">2011-08-01T06:04:30Z</dcterms:modified>
  <cp:revision>1</cp:revision>
  <dc:title>Kyriba TMS Transformation – Redesigned</dc:title>
</cp:coreProperties>
</file>