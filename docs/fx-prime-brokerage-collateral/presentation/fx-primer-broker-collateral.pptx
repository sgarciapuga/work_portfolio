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6858000" cy="9144000"/>
  <p:embeddedFontLst>
    <p:embeddedFont>
      <p:font typeface="Montserrat Bold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27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svg"/><Relationship Id="rId7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62772" cy="709824"/>
          </a:xfrm>
          <a:custGeom>
            <a:avLst/>
            <a:gdLst/>
            <a:ahLst/>
            <a:cxnLst/>
            <a:rect l="l" t="t" r="r" b="b"/>
            <a:pathLst>
              <a:path w="762772" h="709824">
                <a:moveTo>
                  <a:pt x="0" y="0"/>
                </a:moveTo>
                <a:lnTo>
                  <a:pt x="762772" y="0"/>
                </a:lnTo>
                <a:lnTo>
                  <a:pt x="762772" y="709824"/>
                </a:lnTo>
                <a:lnTo>
                  <a:pt x="0" y="70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48693" y="1383612"/>
            <a:ext cx="6310607" cy="7200900"/>
          </a:xfrm>
          <a:custGeom>
            <a:avLst/>
            <a:gdLst/>
            <a:ahLst/>
            <a:cxnLst/>
            <a:rect l="l" t="t" r="r" b="b"/>
            <a:pathLst>
              <a:path w="6310607" h="7200900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973957"/>
            <a:ext cx="9662818" cy="32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000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FX PB Collateral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519831" y="-691855"/>
            <a:ext cx="1676063" cy="11497700"/>
            <a:chOff x="0" y="0"/>
            <a:chExt cx="441432" cy="30282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432" cy="3028201"/>
            </a:xfrm>
            <a:custGeom>
              <a:avLst/>
              <a:gdLst/>
              <a:ahLst/>
              <a:cxnLst/>
              <a:rect l="l" t="t" r="r" b="b"/>
              <a:pathLst>
                <a:path w="441432" h="3028201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698243"/>
            <a:ext cx="7880342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225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Automating FX Prime Brokerage Monitoring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520738"/>
            <a:ext cx="747183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Replacing tedious manual portal extractions with an automated end-to-end data pipeline &amp; Power BI analytics dashboard</a:t>
            </a:r>
          </a:p>
        </p:txBody>
      </p:sp>
      <p:sp>
        <p:nvSpPr>
          <p:cNvPr id="10" name="AutoShape 10"/>
          <p:cNvSpPr/>
          <p:nvPr/>
        </p:nvSpPr>
        <p:spPr>
          <a:xfrm flipH="1" flipV="1">
            <a:off x="1047750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 flipV="1">
            <a:off x="1191738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H="1" flipV="1">
            <a:off x="1335726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 flipV="1">
            <a:off x="16952274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7096262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17240250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80258" y="-195490"/>
            <a:ext cx="7179042" cy="10655429"/>
            <a:chOff x="0" y="0"/>
            <a:chExt cx="1112221" cy="16508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2221" cy="1650805"/>
            </a:xfrm>
            <a:custGeom>
              <a:avLst/>
              <a:gdLst/>
              <a:ahLst/>
              <a:cxnLst/>
              <a:rect l="l" t="t" r="r" b="b"/>
              <a:pathLst>
                <a:path w="1112221" h="1650805">
                  <a:moveTo>
                    <a:pt x="0" y="0"/>
                  </a:moveTo>
                  <a:lnTo>
                    <a:pt x="1112221" y="0"/>
                  </a:lnTo>
                  <a:lnTo>
                    <a:pt x="1112221" y="1650805"/>
                  </a:lnTo>
                  <a:lnTo>
                    <a:pt x="0" y="1650805"/>
                  </a:lnTo>
                  <a:close/>
                </a:path>
              </a:pathLst>
            </a:custGeom>
            <a:blipFill>
              <a:blip r:embed="rId2"/>
              <a:stretch>
                <a:fillRect l="-37367" r="-8506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123950"/>
            <a:ext cx="13917939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 dirty="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Business Problem &amp; Enterprise Impact</a:t>
            </a:r>
          </a:p>
          <a:p>
            <a:pPr algn="l">
              <a:lnSpc>
                <a:spcPts val="9679"/>
              </a:lnSpc>
            </a:pPr>
            <a:endParaRPr lang="en-US" sz="8799" b="1" dirty="0">
              <a:solidFill>
                <a:srgbClr val="3437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960788"/>
            <a:ext cx="826045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Understanding the manual bottlenecks in daily FX Prime Brokerage collateral and limits reporting.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5485" y="6962319"/>
            <a:ext cx="6340986" cy="2934108"/>
            <a:chOff x="0" y="0"/>
            <a:chExt cx="1670054" cy="7727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0054" cy="772769"/>
            </a:xfrm>
            <a:custGeom>
              <a:avLst/>
              <a:gdLst/>
              <a:ahLst/>
              <a:cxnLst/>
              <a:rect l="l" t="t" r="r" b="b"/>
              <a:pathLst>
                <a:path w="1670054" h="772769">
                  <a:moveTo>
                    <a:pt x="19535" y="0"/>
                  </a:moveTo>
                  <a:lnTo>
                    <a:pt x="1650519" y="0"/>
                  </a:lnTo>
                  <a:cubicBezTo>
                    <a:pt x="1661308" y="0"/>
                    <a:pt x="1670054" y="8746"/>
                    <a:pt x="1670054" y="19535"/>
                  </a:cubicBezTo>
                  <a:lnTo>
                    <a:pt x="1670054" y="753234"/>
                  </a:lnTo>
                  <a:cubicBezTo>
                    <a:pt x="1670054" y="758415"/>
                    <a:pt x="1667996" y="763384"/>
                    <a:pt x="1664332" y="767047"/>
                  </a:cubicBezTo>
                  <a:cubicBezTo>
                    <a:pt x="1660669" y="770711"/>
                    <a:pt x="1655700" y="772769"/>
                    <a:pt x="1650519" y="772769"/>
                  </a:cubicBezTo>
                  <a:lnTo>
                    <a:pt x="19535" y="772769"/>
                  </a:lnTo>
                  <a:cubicBezTo>
                    <a:pt x="14354" y="772769"/>
                    <a:pt x="9385" y="770711"/>
                    <a:pt x="5722" y="767047"/>
                  </a:cubicBezTo>
                  <a:cubicBezTo>
                    <a:pt x="2058" y="763384"/>
                    <a:pt x="0" y="758415"/>
                    <a:pt x="0" y="753234"/>
                  </a:cubicBezTo>
                  <a:lnTo>
                    <a:pt x="0" y="19535"/>
                  </a:lnTo>
                  <a:cubicBezTo>
                    <a:pt x="0" y="8746"/>
                    <a:pt x="8746" y="0"/>
                    <a:pt x="1953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70054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50717" y="8103556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0" y="0"/>
                </a:moveTo>
                <a:lnTo>
                  <a:pt x="1145602" y="0"/>
                </a:lnTo>
                <a:lnTo>
                  <a:pt x="1145602" y="1145602"/>
                </a:lnTo>
                <a:lnTo>
                  <a:pt x="0" y="114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6711" y="1123950"/>
            <a:ext cx="16034578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 dirty="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Process Challenge</a:t>
            </a:r>
          </a:p>
          <a:p>
            <a:pPr algn="ctr">
              <a:lnSpc>
                <a:spcPts val="9679"/>
              </a:lnSpc>
            </a:pPr>
            <a:endParaRPr lang="en-US" sz="8799" b="1" dirty="0">
              <a:solidFill>
                <a:srgbClr val="EFF1E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81427" y="388977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81427" y="4322644"/>
            <a:ext cx="422116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Gather relevant quantitative and qualitative data from internal and external sources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1427" y="315193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6115637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09974" y="7646895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Teams Pasting &amp; Delays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09974" y="8079760"/>
            <a:ext cx="592663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Clean incomplete records, remove duplicates, and ensure accuracy to maintain data integrity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09974" y="6909049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4200" y="3103743"/>
            <a:ext cx="6340986" cy="2934108"/>
            <a:chOff x="0" y="0"/>
            <a:chExt cx="1670054" cy="7727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70054" cy="772769"/>
            </a:xfrm>
            <a:custGeom>
              <a:avLst/>
              <a:gdLst/>
              <a:ahLst/>
              <a:cxnLst/>
              <a:rect l="l" t="t" r="r" b="b"/>
              <a:pathLst>
                <a:path w="1670054" h="772769">
                  <a:moveTo>
                    <a:pt x="19535" y="0"/>
                  </a:moveTo>
                  <a:lnTo>
                    <a:pt x="1650519" y="0"/>
                  </a:lnTo>
                  <a:cubicBezTo>
                    <a:pt x="1661308" y="0"/>
                    <a:pt x="1670054" y="8746"/>
                    <a:pt x="1670054" y="19535"/>
                  </a:cubicBezTo>
                  <a:lnTo>
                    <a:pt x="1670054" y="753234"/>
                  </a:lnTo>
                  <a:cubicBezTo>
                    <a:pt x="1670054" y="758415"/>
                    <a:pt x="1667996" y="763384"/>
                    <a:pt x="1664332" y="767047"/>
                  </a:cubicBezTo>
                  <a:cubicBezTo>
                    <a:pt x="1660669" y="770711"/>
                    <a:pt x="1655700" y="772769"/>
                    <a:pt x="1650519" y="772769"/>
                  </a:cubicBezTo>
                  <a:lnTo>
                    <a:pt x="19535" y="772769"/>
                  </a:lnTo>
                  <a:cubicBezTo>
                    <a:pt x="14354" y="772769"/>
                    <a:pt x="9385" y="770711"/>
                    <a:pt x="5722" y="767047"/>
                  </a:cubicBezTo>
                  <a:cubicBezTo>
                    <a:pt x="2058" y="763384"/>
                    <a:pt x="0" y="758415"/>
                    <a:pt x="0" y="753234"/>
                  </a:cubicBezTo>
                  <a:lnTo>
                    <a:pt x="0" y="19535"/>
                  </a:lnTo>
                  <a:cubicBezTo>
                    <a:pt x="0" y="8746"/>
                    <a:pt x="8746" y="0"/>
                    <a:pt x="1953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70054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6868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Portal Authentication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8689" y="4221184"/>
            <a:ext cx="5926631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Operations team had to manually log into the Prime Brokerage (PB) portal every morning, navigate through reporting sub-menus, and await slow report loads.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70A1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68689" y="305047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669981" y="3103743"/>
            <a:ext cx="6340986" cy="2934108"/>
            <a:chOff x="0" y="0"/>
            <a:chExt cx="1670054" cy="7727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70054" cy="772769"/>
            </a:xfrm>
            <a:custGeom>
              <a:avLst/>
              <a:gdLst/>
              <a:ahLst/>
              <a:cxnLst/>
              <a:rect l="l" t="t" r="r" b="b"/>
              <a:pathLst>
                <a:path w="1670054" h="772769">
                  <a:moveTo>
                    <a:pt x="19535" y="0"/>
                  </a:moveTo>
                  <a:lnTo>
                    <a:pt x="1650519" y="0"/>
                  </a:lnTo>
                  <a:cubicBezTo>
                    <a:pt x="1661308" y="0"/>
                    <a:pt x="1670054" y="8746"/>
                    <a:pt x="1670054" y="19535"/>
                  </a:cubicBezTo>
                  <a:lnTo>
                    <a:pt x="1670054" y="753234"/>
                  </a:lnTo>
                  <a:cubicBezTo>
                    <a:pt x="1670054" y="758415"/>
                    <a:pt x="1667996" y="763384"/>
                    <a:pt x="1664332" y="767047"/>
                  </a:cubicBezTo>
                  <a:cubicBezTo>
                    <a:pt x="1660669" y="770711"/>
                    <a:pt x="1655700" y="772769"/>
                    <a:pt x="1650519" y="772769"/>
                  </a:cubicBezTo>
                  <a:lnTo>
                    <a:pt x="19535" y="772769"/>
                  </a:lnTo>
                  <a:cubicBezTo>
                    <a:pt x="14354" y="772769"/>
                    <a:pt x="9385" y="770711"/>
                    <a:pt x="5722" y="767047"/>
                  </a:cubicBezTo>
                  <a:cubicBezTo>
                    <a:pt x="2058" y="763384"/>
                    <a:pt x="0" y="758415"/>
                    <a:pt x="0" y="753234"/>
                  </a:cubicBezTo>
                  <a:lnTo>
                    <a:pt x="0" y="19535"/>
                  </a:lnTo>
                  <a:cubicBezTo>
                    <a:pt x="0" y="8746"/>
                    <a:pt x="8746" y="0"/>
                    <a:pt x="1953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70054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89446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94469" y="4221184"/>
            <a:ext cx="5926631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Gather relevant quantitative and qualitative data from internal and external sources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94469" y="3050474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2086" y="6476365"/>
            <a:ext cx="752450" cy="748345"/>
          </a:xfrm>
          <a:custGeom>
            <a:avLst/>
            <a:gdLst/>
            <a:ahLst/>
            <a:cxnLst/>
            <a:rect l="l" t="t" r="r" b="b"/>
            <a:pathLst>
              <a:path w="752450" h="748345">
                <a:moveTo>
                  <a:pt x="0" y="0"/>
                </a:moveTo>
                <a:lnTo>
                  <a:pt x="752450" y="0"/>
                </a:lnTo>
                <a:lnTo>
                  <a:pt x="752450" y="748345"/>
                </a:lnTo>
                <a:lnTo>
                  <a:pt x="0" y="74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113698" y="1028700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1145602"/>
                </a:moveTo>
                <a:lnTo>
                  <a:pt x="0" y="1145602"/>
                </a:lnTo>
                <a:lnTo>
                  <a:pt x="0" y="0"/>
                </a:lnTo>
                <a:lnTo>
                  <a:pt x="1145602" y="0"/>
                </a:lnTo>
                <a:lnTo>
                  <a:pt x="1145602" y="1145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13698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7602" y="4660337"/>
            <a:ext cx="713347" cy="517176"/>
          </a:xfrm>
          <a:custGeom>
            <a:avLst/>
            <a:gdLst/>
            <a:ahLst/>
            <a:cxnLst/>
            <a:rect l="l" t="t" r="r" b="b"/>
            <a:pathLst>
              <a:path w="713347" h="517176">
                <a:moveTo>
                  <a:pt x="0" y="0"/>
                </a:moveTo>
                <a:lnTo>
                  <a:pt x="713347" y="0"/>
                </a:lnTo>
                <a:lnTo>
                  <a:pt x="713347" y="517176"/>
                </a:lnTo>
                <a:lnTo>
                  <a:pt x="0" y="51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4169118" y="6403867"/>
            <a:ext cx="870289" cy="874663"/>
          </a:xfrm>
          <a:custGeom>
            <a:avLst/>
            <a:gdLst/>
            <a:ahLst/>
            <a:cxnLst/>
            <a:rect l="l" t="t" r="r" b="b"/>
            <a:pathLst>
              <a:path w="870289" h="874663">
                <a:moveTo>
                  <a:pt x="0" y="0"/>
                </a:moveTo>
                <a:lnTo>
                  <a:pt x="870289" y="0"/>
                </a:lnTo>
                <a:lnTo>
                  <a:pt x="870289" y="874663"/>
                </a:lnTo>
                <a:lnTo>
                  <a:pt x="0" y="87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3625" y="3834545"/>
            <a:ext cx="665008" cy="836488"/>
          </a:xfrm>
          <a:custGeom>
            <a:avLst/>
            <a:gdLst/>
            <a:ahLst/>
            <a:cxnLst/>
            <a:rect l="l" t="t" r="r" b="b"/>
            <a:pathLst>
              <a:path w="665008" h="836488">
                <a:moveTo>
                  <a:pt x="0" y="0"/>
                </a:moveTo>
                <a:lnTo>
                  <a:pt x="665008" y="0"/>
                </a:lnTo>
                <a:lnTo>
                  <a:pt x="665008" y="836488"/>
                </a:lnTo>
                <a:lnTo>
                  <a:pt x="0" y="8364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23950"/>
            <a:ext cx="10803458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537101"/>
            <a:ext cx="1237274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Automated Ingestion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764" y="4560150"/>
            <a:ext cx="367615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Email Delivery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764" y="5006821"/>
            <a:ext cx="380601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PB portal configured to auto-distribute daily CSV files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8578" y="6270973"/>
            <a:ext cx="368113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Automate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8578" y="6717644"/>
            <a:ext cx="380542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Cloud workflow automatically saves CSV files to a secured SharePoint folder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0445" y="3777395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Dataflows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0445" y="4224066"/>
            <a:ext cx="3811831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Connects to SharePoint, cleans, aggregates, and structures the raw CSV data for downstream reporting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48093" y="6346717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Reports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48093" y="6793388"/>
            <a:ext cx="381347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Automatically refreshed interactive reports distributed to the primary stakeholders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9259" y="5970936"/>
            <a:ext cx="16573500" cy="57150"/>
            <a:chOff x="0" y="0"/>
            <a:chExt cx="22098000" cy="76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98000" cy="76200"/>
            </a:xfrm>
            <a:custGeom>
              <a:avLst/>
              <a:gdLst/>
              <a:ahLst/>
              <a:cxnLst/>
              <a:rect l="l" t="t" r="r" b="b"/>
              <a:pathLst>
                <a:path w="22098000" h="762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FF1E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409455" y="5813773"/>
            <a:ext cx="371475" cy="371475"/>
            <a:chOff x="0" y="0"/>
            <a:chExt cx="495300" cy="495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663329" y="5813773"/>
            <a:ext cx="371475" cy="371475"/>
            <a:chOff x="0" y="0"/>
            <a:chExt cx="495300" cy="495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917213" y="5813773"/>
            <a:ext cx="371475" cy="371475"/>
            <a:chOff x="0" y="0"/>
            <a:chExt cx="495300" cy="4953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5171088" y="5813773"/>
            <a:ext cx="371475" cy="371475"/>
            <a:chOff x="0" y="0"/>
            <a:chExt cx="495300" cy="4953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4717" y="4261238"/>
            <a:ext cx="4636571" cy="3660583"/>
            <a:chOff x="0" y="0"/>
            <a:chExt cx="1307450" cy="1032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450" cy="1032235"/>
            </a:xfrm>
            <a:custGeom>
              <a:avLst/>
              <a:gdLst/>
              <a:ahLst/>
              <a:cxnLst/>
              <a:rect l="l" t="t" r="r" b="b"/>
              <a:pathLst>
                <a:path w="1307450" h="1032235">
                  <a:moveTo>
                    <a:pt x="85157" y="0"/>
                  </a:moveTo>
                  <a:lnTo>
                    <a:pt x="1222293" y="0"/>
                  </a:lnTo>
                  <a:cubicBezTo>
                    <a:pt x="1244878" y="0"/>
                    <a:pt x="1266538" y="8972"/>
                    <a:pt x="1282508" y="24942"/>
                  </a:cubicBezTo>
                  <a:cubicBezTo>
                    <a:pt x="1298478" y="40912"/>
                    <a:pt x="1307450" y="62572"/>
                    <a:pt x="1307450" y="85157"/>
                  </a:cubicBezTo>
                  <a:lnTo>
                    <a:pt x="1307450" y="947078"/>
                  </a:lnTo>
                  <a:cubicBezTo>
                    <a:pt x="1307450" y="969663"/>
                    <a:pt x="1298478" y="991323"/>
                    <a:pt x="1282508" y="1007293"/>
                  </a:cubicBezTo>
                  <a:cubicBezTo>
                    <a:pt x="1266538" y="1023263"/>
                    <a:pt x="1244878" y="1032235"/>
                    <a:pt x="1222293" y="1032235"/>
                  </a:cubicBezTo>
                  <a:lnTo>
                    <a:pt x="85157" y="1032235"/>
                  </a:lnTo>
                  <a:cubicBezTo>
                    <a:pt x="62572" y="1032235"/>
                    <a:pt x="40912" y="1023263"/>
                    <a:pt x="24942" y="1007293"/>
                  </a:cubicBezTo>
                  <a:cubicBezTo>
                    <a:pt x="8972" y="991323"/>
                    <a:pt x="0" y="969663"/>
                    <a:pt x="0" y="947078"/>
                  </a:cubicBezTo>
                  <a:lnTo>
                    <a:pt x="0" y="85157"/>
                  </a:lnTo>
                  <a:cubicBezTo>
                    <a:pt x="0" y="62572"/>
                    <a:pt x="8972" y="40912"/>
                    <a:pt x="24942" y="24942"/>
                  </a:cubicBezTo>
                  <a:cubicBezTo>
                    <a:pt x="40912" y="8972"/>
                    <a:pt x="62572" y="0"/>
                    <a:pt x="8515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10215" y="8847255"/>
            <a:ext cx="20321213" cy="701393"/>
            <a:chOff x="0" y="0"/>
            <a:chExt cx="5352089" cy="1847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52089" cy="184729"/>
            </a:xfrm>
            <a:custGeom>
              <a:avLst/>
              <a:gdLst/>
              <a:ahLst/>
              <a:cxnLst/>
              <a:rect l="l" t="t" r="r" b="b"/>
              <a:pathLst>
                <a:path w="5352089" h="184729">
                  <a:moveTo>
                    <a:pt x="0" y="0"/>
                  </a:moveTo>
                  <a:lnTo>
                    <a:pt x="5352089" y="0"/>
                  </a:lnTo>
                  <a:lnTo>
                    <a:pt x="5352089" y="184729"/>
                  </a:lnTo>
                  <a:lnTo>
                    <a:pt x="0" y="184729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352089" cy="241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00003" y="1123950"/>
            <a:ext cx="14287995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Operational Speed &amp; Impact</a:t>
            </a:r>
          </a:p>
          <a:p>
            <a:pPr algn="ctr">
              <a:lnSpc>
                <a:spcPts val="9679"/>
              </a:lnSpc>
            </a:pPr>
            <a:endParaRPr lang="en-US" sz="8799" b="1">
              <a:solidFill>
                <a:srgbClr val="EFF1E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260" y="4312297"/>
            <a:ext cx="4549829" cy="150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&lt;10s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221" y="5736603"/>
            <a:ext cx="4739907" cy="18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700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Time to Decision Insight</a:t>
            </a:r>
          </a:p>
          <a:p>
            <a:pPr algn="ctr">
              <a:lnSpc>
                <a:spcPts val="4480"/>
              </a:lnSpc>
            </a:pPr>
            <a:endParaRPr lang="en-US" sz="3700">
              <a:solidFill>
                <a:srgbClr val="70A1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255194" y="4654932"/>
            <a:ext cx="5630752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Instant Collateral Requirements Visibility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EFF1E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255194" y="5101603"/>
            <a:ext cx="8454076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By removing manual portal logins, screenshotting, and Teams messaging, the solution compresses the daily reporting cycle from over 15 minutes down to sub-second automated dashboard access.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55194" y="6812928"/>
            <a:ext cx="8454076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Stakeholders</a:t>
            </a:r>
            <a:r>
              <a:rPr lang="en-US" sz="1999" u="none" strike="noStrik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receive updated, reliable, and queryable collateral data before the market opens every morning.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1999" u="none" strike="noStrike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13917939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Portfolio &amp; GitHub Replication</a:t>
            </a:r>
          </a:p>
          <a:p>
            <a:pPr algn="l">
              <a:lnSpc>
                <a:spcPts val="9679"/>
              </a:lnSpc>
            </a:pPr>
            <a:endParaRPr lang="en-US" sz="8799" b="1">
              <a:solidFill>
                <a:srgbClr val="3437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960788"/>
            <a:ext cx="826045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Enterprise project securely recreated into an open-source demonstration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386462" y="4761244"/>
            <a:ext cx="7621409" cy="4901354"/>
          </a:xfrm>
          <a:custGeom>
            <a:avLst/>
            <a:gdLst/>
            <a:ahLst/>
            <a:cxnLst/>
            <a:rect l="l" t="t" r="r" b="b"/>
            <a:pathLst>
              <a:path w="7621409" h="4901354">
                <a:moveTo>
                  <a:pt x="0" y="0"/>
                </a:moveTo>
                <a:lnTo>
                  <a:pt x="7621409" y="0"/>
                </a:lnTo>
                <a:lnTo>
                  <a:pt x="7621409" y="4901355"/>
                </a:lnTo>
                <a:lnTo>
                  <a:pt x="0" y="4901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9653" y="1123950"/>
            <a:ext cx="14608693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Enterprise vs Open Source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624406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1504" y="3923696"/>
          <a:ext cx="16297797" cy="5991226"/>
        </p:xfrm>
        <a:graphic>
          <a:graphicData uri="http://schemas.openxmlformats.org/drawingml/2006/table">
            <a:tbl>
              <a:tblPr/>
              <a:tblGrid>
                <a:gridCol w="6680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6238">
                <a:tc>
                  <a:txBody>
                    <a:bodyPr/>
                    <a:lstStyle/>
                    <a:p>
                      <a:pPr algn="ctr">
                        <a:lnSpc>
                          <a:spcPts val="5879"/>
                        </a:lnSpc>
                        <a:defRPr/>
                      </a:pPr>
                      <a:r>
                        <a:rPr lang="en-US" sz="4199" b="1">
                          <a:solidFill>
                            <a:srgbClr val="EFF1E8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Workplace Production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58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199" b="1" u="none" strike="noStrike">
                          <a:solidFill>
                            <a:srgbClr val="EFF1E8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GitHub Replication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789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Prime Brokerage portal CSV feeds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 Python script generating synthetic FX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6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Microsoft SharePoint Online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b="1" u="none" strike="noStrike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PostgreSQL on Neon 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6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 BI Dataflows to BI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b="1" u="none" strike="noStrike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Connection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Direct Power BI connection to Neon DB.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6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 BI Report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b="1" u="none" strike="noStrike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Reporting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 BI Report (other tools will be used)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55239" y="7098923"/>
            <a:ext cx="752450" cy="748345"/>
          </a:xfrm>
          <a:custGeom>
            <a:avLst/>
            <a:gdLst/>
            <a:ahLst/>
            <a:cxnLst/>
            <a:rect l="l" t="t" r="r" b="b"/>
            <a:pathLst>
              <a:path w="752450" h="748345">
                <a:moveTo>
                  <a:pt x="0" y="0"/>
                </a:moveTo>
                <a:lnTo>
                  <a:pt x="752450" y="0"/>
                </a:lnTo>
                <a:lnTo>
                  <a:pt x="752450" y="748346"/>
                </a:lnTo>
                <a:lnTo>
                  <a:pt x="0" y="748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113698" y="1028700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1145602"/>
                </a:moveTo>
                <a:lnTo>
                  <a:pt x="0" y="1145602"/>
                </a:lnTo>
                <a:lnTo>
                  <a:pt x="0" y="0"/>
                </a:lnTo>
                <a:lnTo>
                  <a:pt x="1145602" y="0"/>
                </a:lnTo>
                <a:lnTo>
                  <a:pt x="1145602" y="1145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13698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62536" y="4873092"/>
            <a:ext cx="665008" cy="836488"/>
          </a:xfrm>
          <a:custGeom>
            <a:avLst/>
            <a:gdLst/>
            <a:ahLst/>
            <a:cxnLst/>
            <a:rect l="l" t="t" r="r" b="b"/>
            <a:pathLst>
              <a:path w="665008" h="836488">
                <a:moveTo>
                  <a:pt x="0" y="0"/>
                </a:moveTo>
                <a:lnTo>
                  <a:pt x="665009" y="0"/>
                </a:lnTo>
                <a:lnTo>
                  <a:pt x="665009" y="836488"/>
                </a:lnTo>
                <a:lnTo>
                  <a:pt x="0" y="836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4988" y="4873092"/>
            <a:ext cx="782620" cy="782620"/>
          </a:xfrm>
          <a:custGeom>
            <a:avLst/>
            <a:gdLst/>
            <a:ahLst/>
            <a:cxnLst/>
            <a:rect l="l" t="t" r="r" b="b"/>
            <a:pathLst>
              <a:path w="782620" h="782620">
                <a:moveTo>
                  <a:pt x="0" y="0"/>
                </a:moveTo>
                <a:lnTo>
                  <a:pt x="782620" y="0"/>
                </a:lnTo>
                <a:lnTo>
                  <a:pt x="782620" y="782620"/>
                </a:lnTo>
                <a:lnTo>
                  <a:pt x="0" y="78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23950"/>
            <a:ext cx="10086078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983189"/>
            <a:ext cx="1237274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Python &amp; Neon PostgreSQL Pipeline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25596" y="4815942"/>
            <a:ext cx="367615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 Generation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25596" y="5262612"/>
            <a:ext cx="5189476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Developed a Python script to synthesize mock data mimicking original reports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29356" y="4815942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9356" y="5262612"/>
            <a:ext cx="6875203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Structured a relational schema and automated data loads directly into a Neon PostgreSQL serverless cloud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51245" y="6969275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Reports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51245" y="7415946"/>
            <a:ext cx="6946016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Connected Power BI REports directly to Neon Database to model data, write DAX measures, and publish the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761" y="3769317"/>
            <a:ext cx="5176543" cy="2934108"/>
            <a:chOff x="0" y="0"/>
            <a:chExt cx="1363369" cy="7727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369" cy="772769"/>
            </a:xfrm>
            <a:custGeom>
              <a:avLst/>
              <a:gdLst/>
              <a:ahLst/>
              <a:cxnLst/>
              <a:rect l="l" t="t" r="r" b="b"/>
              <a:pathLst>
                <a:path w="1363369" h="7727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53789" y="3769317"/>
            <a:ext cx="5176543" cy="2934108"/>
            <a:chOff x="0" y="0"/>
            <a:chExt cx="1363369" cy="772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3369" cy="772769"/>
            </a:xfrm>
            <a:custGeom>
              <a:avLst/>
              <a:gdLst/>
              <a:ahLst/>
              <a:cxnLst/>
              <a:rect l="l" t="t" r="r" b="b"/>
              <a:pathLst>
                <a:path w="1363369" h="7727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82757" y="3769317"/>
            <a:ext cx="5176543" cy="2934108"/>
            <a:chOff x="0" y="0"/>
            <a:chExt cx="1363369" cy="7727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369" cy="772769"/>
            </a:xfrm>
            <a:custGeom>
              <a:avLst/>
              <a:gdLst/>
              <a:ahLst/>
              <a:cxnLst/>
              <a:rect l="l" t="t" r="r" b="b"/>
              <a:pathLst>
                <a:path w="1363369" h="7727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50717" y="8103556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0" y="0"/>
                </a:moveTo>
                <a:lnTo>
                  <a:pt x="1145602" y="0"/>
                </a:lnTo>
                <a:lnTo>
                  <a:pt x="1145602" y="1145602"/>
                </a:lnTo>
                <a:lnTo>
                  <a:pt x="0" y="114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26711" y="1123950"/>
            <a:ext cx="16034578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AI-Assisted Development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2459" y="4555353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Rapid Scripting &amp; Synthetic Logic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2459" y="4988218"/>
            <a:ext cx="422116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Leveraged Generative AI assistance to program complex Python generator scripts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459" y="3817507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79487" y="4555353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Schema Optimization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79487" y="4988218"/>
            <a:ext cx="4557145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Leveraged AI prompts to help design PostgreSQL tables— schema layout, primary keys, and data types for Neon DB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79487" y="3817507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08455" y="4555353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08455" y="4988218"/>
            <a:ext cx="4221162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Generated docstrings and a comprehensive GitHub README explaining setup instructions for reviewers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08455" y="3817507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16115637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13917939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Reporting Examples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60788"/>
            <a:ext cx="8260459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Interactive Power BI Reports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86462" y="4761244"/>
            <a:ext cx="7621409" cy="4901354"/>
          </a:xfrm>
          <a:custGeom>
            <a:avLst/>
            <a:gdLst/>
            <a:ahLst/>
            <a:cxnLst/>
            <a:rect l="l" t="t" r="r" b="b"/>
            <a:pathLst>
              <a:path w="7621409" h="4901354">
                <a:moveTo>
                  <a:pt x="0" y="0"/>
                </a:moveTo>
                <a:lnTo>
                  <a:pt x="7621409" y="0"/>
                </a:lnTo>
                <a:lnTo>
                  <a:pt x="7621409" y="4901355"/>
                </a:lnTo>
                <a:lnTo>
                  <a:pt x="0" y="4901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F3AFA-0BDE-1641-4E17-40FA7BD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4FC532D-BEB0-B1A3-ECE2-54F80FABBD9A}"/>
              </a:ext>
            </a:extLst>
          </p:cNvPr>
          <p:cNvSpPr txBox="1"/>
          <p:nvPr/>
        </p:nvSpPr>
        <p:spPr>
          <a:xfrm>
            <a:off x="1126711" y="1123950"/>
            <a:ext cx="1603457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 dirty="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Collateral Dashboard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F0EEF69-7841-A160-6CB9-118F00FA6561}"/>
              </a:ext>
            </a:extLst>
          </p:cNvPr>
          <p:cNvSpPr txBox="1"/>
          <p:nvPr/>
        </p:nvSpPr>
        <p:spPr>
          <a:xfrm>
            <a:off x="6881427" y="388977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08627DA-7994-966C-3E1B-9B27B3C893D3}"/>
              </a:ext>
            </a:extLst>
          </p:cNvPr>
          <p:cNvSpPr txBox="1"/>
          <p:nvPr/>
        </p:nvSpPr>
        <p:spPr>
          <a:xfrm>
            <a:off x="6881427" y="315193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003D97-6A31-19CA-FE5D-3E369ACDE54D}"/>
              </a:ext>
            </a:extLst>
          </p:cNvPr>
          <p:cNvSpPr txBox="1"/>
          <p:nvPr/>
        </p:nvSpPr>
        <p:spPr>
          <a:xfrm>
            <a:off x="6209974" y="7646895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Teams Pasting &amp; Delays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A1A5AD4-FE0F-F83B-460A-76C9E29CB7E3}"/>
              </a:ext>
            </a:extLst>
          </p:cNvPr>
          <p:cNvSpPr txBox="1"/>
          <p:nvPr/>
        </p:nvSpPr>
        <p:spPr>
          <a:xfrm>
            <a:off x="6209974" y="8079760"/>
            <a:ext cx="592663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Clean incomplete records, remove duplicates, and ensure accuracy to maintain data integrity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3744FB-5205-1D00-93EF-693E60C677D6}"/>
              </a:ext>
            </a:extLst>
          </p:cNvPr>
          <p:cNvSpPr txBox="1"/>
          <p:nvPr/>
        </p:nvSpPr>
        <p:spPr>
          <a:xfrm>
            <a:off x="6209974" y="6909049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C4D60B9-7B02-7014-9B22-8467BAD37FA6}"/>
              </a:ext>
            </a:extLst>
          </p:cNvPr>
          <p:cNvSpPr txBox="1"/>
          <p:nvPr/>
        </p:nvSpPr>
        <p:spPr>
          <a:xfrm>
            <a:off x="96868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Portal Authentication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3812E8F-DF87-F048-B29B-A8C4A382BCEE}"/>
              </a:ext>
            </a:extLst>
          </p:cNvPr>
          <p:cNvSpPr txBox="1"/>
          <p:nvPr/>
        </p:nvSpPr>
        <p:spPr>
          <a:xfrm>
            <a:off x="968689" y="305047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EA874EE-4800-BBB3-8512-F9064730E99B}"/>
              </a:ext>
            </a:extLst>
          </p:cNvPr>
          <p:cNvSpPr txBox="1"/>
          <p:nvPr/>
        </p:nvSpPr>
        <p:spPr>
          <a:xfrm>
            <a:off x="1089446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A7487A4-C215-44EF-2B3E-D56648337F9F}"/>
              </a:ext>
            </a:extLst>
          </p:cNvPr>
          <p:cNvSpPr txBox="1"/>
          <p:nvPr/>
        </p:nvSpPr>
        <p:spPr>
          <a:xfrm>
            <a:off x="10894469" y="4221184"/>
            <a:ext cx="5926631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Gather relevant quantitative and qualitative data from internal and external sources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47159C3-C726-E735-6C32-ED4A8922E3A4}"/>
              </a:ext>
            </a:extLst>
          </p:cNvPr>
          <p:cNvSpPr txBox="1"/>
          <p:nvPr/>
        </p:nvSpPr>
        <p:spPr>
          <a:xfrm>
            <a:off x="10894469" y="3050474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F1603938-0620-C97C-2629-CFD42476E3A7}"/>
              </a:ext>
            </a:extLst>
          </p:cNvPr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id="{C417A0F0-7FAA-788D-700F-B4C76B221DC5}"/>
              </a:ext>
            </a:extLst>
          </p:cNvPr>
          <p:cNvSpPr/>
          <p:nvPr/>
        </p:nvSpPr>
        <p:spPr>
          <a:xfrm flipH="1" flipV="1">
            <a:off x="1624406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BDB1FAF-A0C2-299C-5358-52082634E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444485"/>
            <a:ext cx="13716000" cy="771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58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Custom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Poppins</vt:lpstr>
      <vt:lpstr>Calibri</vt:lpstr>
      <vt:lpstr>Arial</vt:lpstr>
      <vt:lpstr>Montserrat 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fx-primer-broker-collateral.pptx</dc:title>
  <dc:creator>Sergio Garcia</dc:creator>
  <cp:lastModifiedBy>Sergio Garcia</cp:lastModifiedBy>
  <cp:revision>4</cp:revision>
  <dcterms:created xsi:type="dcterms:W3CDTF">2006-08-16T00:00:00Z</dcterms:created>
  <dcterms:modified xsi:type="dcterms:W3CDTF">2026-08-13T09:51:10Z</dcterms:modified>
  <dc:identifier>DAHRyo9n3II</dc:identifier>
</cp:coreProperties>
</file>