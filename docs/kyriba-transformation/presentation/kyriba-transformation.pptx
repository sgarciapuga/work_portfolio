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serrat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45403"/>
            <a:ext cx="12382500" cy="306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Kyriba TMS Transformation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519828" y="-836514"/>
            <a:ext cx="1676067" cy="11642360"/>
          </a:xfrm>
          <a:custGeom>
            <a:avLst/>
            <a:gdLst/>
            <a:ahLst/>
            <a:cxnLst/>
            <a:rect r="r" b="b" t="t" l="l"/>
            <a:pathLst>
              <a:path h="11642360" w="1676067">
                <a:moveTo>
                  <a:pt x="0" y="0"/>
                </a:moveTo>
                <a:lnTo>
                  <a:pt x="1676066" y="0"/>
                </a:lnTo>
                <a:lnTo>
                  <a:pt x="1676066" y="11642360"/>
                </a:lnTo>
                <a:lnTo>
                  <a:pt x="0" y="1164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3249" y="5518712"/>
            <a:ext cx="9856051" cy="8730429"/>
          </a:xfrm>
          <a:custGeom>
            <a:avLst/>
            <a:gdLst/>
            <a:ahLst/>
            <a:cxnLst/>
            <a:rect r="r" b="b" t="t" l="l"/>
            <a:pathLst>
              <a:path h="8730429" w="9856051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41097"/>
            <a:ext cx="8953500" cy="39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End-to-End Implementation &amp; Process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06440"/>
            <a:ext cx="7471829" cy="147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Executive overview highlighting full Kyriba implementation, technical analysis of consultant configurations, Open API integration with centralized data platform and accounting ERP integration.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674361" y="-4268450"/>
            <a:ext cx="8438976" cy="7475193"/>
          </a:xfrm>
          <a:custGeom>
            <a:avLst/>
            <a:gdLst/>
            <a:ahLst/>
            <a:cxnLst/>
            <a:rect r="r" b="b" t="t" l="l"/>
            <a:pathLst>
              <a:path h="7475193" w="8438976">
                <a:moveTo>
                  <a:pt x="0" y="0"/>
                </a:moveTo>
                <a:lnTo>
                  <a:pt x="8438976" y="0"/>
                </a:lnTo>
                <a:lnTo>
                  <a:pt x="8438976" y="7475193"/>
                </a:lnTo>
                <a:lnTo>
                  <a:pt x="0" y="7475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3563" y="2035140"/>
            <a:ext cx="976655" cy="1025115"/>
          </a:xfrm>
          <a:custGeom>
            <a:avLst/>
            <a:gdLst/>
            <a:ahLst/>
            <a:cxnLst/>
            <a:rect r="r" b="b" t="t" l="l"/>
            <a:pathLst>
              <a:path h="1025115" w="976655">
                <a:moveTo>
                  <a:pt x="0" y="0"/>
                </a:moveTo>
                <a:lnTo>
                  <a:pt x="976655" y="0"/>
                </a:lnTo>
                <a:lnTo>
                  <a:pt x="976655" y="1025115"/>
                </a:lnTo>
                <a:lnTo>
                  <a:pt x="0" y="1025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0260" y="-195491"/>
            <a:ext cx="7179040" cy="10655427"/>
            <a:chOff x="0" y="0"/>
            <a:chExt cx="9572054" cy="14207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2117" cy="14207237"/>
            </a:xfrm>
            <a:custGeom>
              <a:avLst/>
              <a:gdLst/>
              <a:ahLst/>
              <a:cxnLst/>
              <a:rect r="r" b="b" t="t" l="l"/>
              <a:pathLst>
                <a:path h="14207237" w="9572117">
                  <a:moveTo>
                    <a:pt x="0" y="0"/>
                  </a:moveTo>
                  <a:lnTo>
                    <a:pt x="9572117" y="0"/>
                  </a:lnTo>
                  <a:lnTo>
                    <a:pt x="9572117" y="14207237"/>
                  </a:lnTo>
                  <a:lnTo>
                    <a:pt x="0" y="14207237"/>
                  </a:lnTo>
                  <a:close/>
                </a:path>
              </a:pathLst>
            </a:custGeom>
            <a:blipFill>
              <a:blip r:embed="rId2"/>
              <a:stretch>
                <a:fillRect l="-61317" t="0" r="-6131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19200"/>
            <a:ext cx="13917940" cy="114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94115"/>
            <a:ext cx="8260461" cy="184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This initiative delivered a full end‑to‑end implementation of the Kyriba Treasury Management System, covering everything from initial TMS selection through blueprinting, core data configuration, access setup, integrations, and value‑added process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113700" y="1028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1145600"/>
                </a:moveTo>
                <a:lnTo>
                  <a:pt x="0" y="1145600"/>
                </a:lnTo>
                <a:lnTo>
                  <a:pt x="0" y="0"/>
                </a:lnTo>
                <a:lnTo>
                  <a:pt x="1145600" y="0"/>
                </a:lnTo>
                <a:lnTo>
                  <a:pt x="1145600" y="1145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113700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0" y="1145600"/>
                </a:lnTo>
                <a:lnTo>
                  <a:pt x="1145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6188">
            <a:off x="13915840" y="5349384"/>
            <a:ext cx="575023" cy="3677470"/>
          </a:xfrm>
          <a:custGeom>
            <a:avLst/>
            <a:gdLst/>
            <a:ahLst/>
            <a:cxnLst/>
            <a:rect r="r" b="b" t="t" l="l"/>
            <a:pathLst>
              <a:path h="3677470" w="575023">
                <a:moveTo>
                  <a:pt x="0" y="0"/>
                </a:moveTo>
                <a:lnTo>
                  <a:pt x="575023" y="0"/>
                </a:lnTo>
                <a:lnTo>
                  <a:pt x="575023" y="3677470"/>
                </a:lnTo>
                <a:lnTo>
                  <a:pt x="0" y="367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8468">
            <a:off x="8168589" y="4937596"/>
            <a:ext cx="4300761" cy="2752487"/>
          </a:xfrm>
          <a:custGeom>
            <a:avLst/>
            <a:gdLst/>
            <a:ahLst/>
            <a:cxnLst/>
            <a:rect r="r" b="b" t="t" l="l"/>
            <a:pathLst>
              <a:path h="2752487" w="4300761">
                <a:moveTo>
                  <a:pt x="0" y="0"/>
                </a:moveTo>
                <a:lnTo>
                  <a:pt x="4300760" y="0"/>
                </a:lnTo>
                <a:lnTo>
                  <a:pt x="4300760" y="2752487"/>
                </a:lnTo>
                <a:lnTo>
                  <a:pt x="0" y="2752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66188">
            <a:off x="6453773" y="3607077"/>
            <a:ext cx="575023" cy="3677470"/>
          </a:xfrm>
          <a:custGeom>
            <a:avLst/>
            <a:gdLst/>
            <a:ahLst/>
            <a:cxnLst/>
            <a:rect r="r" b="b" t="t" l="l"/>
            <a:pathLst>
              <a:path h="3677470" w="575023">
                <a:moveTo>
                  <a:pt x="0" y="0"/>
                </a:moveTo>
                <a:lnTo>
                  <a:pt x="575023" y="0"/>
                </a:lnTo>
                <a:lnTo>
                  <a:pt x="575023" y="3677470"/>
                </a:lnTo>
                <a:lnTo>
                  <a:pt x="0" y="367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08468">
            <a:off x="701737" y="3200504"/>
            <a:ext cx="4300761" cy="2752487"/>
          </a:xfrm>
          <a:custGeom>
            <a:avLst/>
            <a:gdLst/>
            <a:ahLst/>
            <a:cxnLst/>
            <a:rect r="r" b="b" t="t" l="l"/>
            <a:pathLst>
              <a:path h="2752487" w="4300761">
                <a:moveTo>
                  <a:pt x="0" y="0"/>
                </a:moveTo>
                <a:lnTo>
                  <a:pt x="4300760" y="0"/>
                </a:lnTo>
                <a:lnTo>
                  <a:pt x="4300760" y="2752487"/>
                </a:lnTo>
                <a:lnTo>
                  <a:pt x="0" y="2752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65482" y="5122715"/>
            <a:ext cx="782097" cy="759073"/>
            <a:chOff x="0" y="0"/>
            <a:chExt cx="613977" cy="59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56042" y="3516847"/>
            <a:ext cx="782097" cy="759073"/>
            <a:chOff x="0" y="0"/>
            <a:chExt cx="613977" cy="595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14157" y="3652228"/>
            <a:ext cx="465865" cy="449560"/>
          </a:xfrm>
          <a:custGeom>
            <a:avLst/>
            <a:gdLst/>
            <a:ahLst/>
            <a:cxnLst/>
            <a:rect r="r" b="b" t="t" l="l"/>
            <a:pathLst>
              <a:path h="449560" w="465865">
                <a:moveTo>
                  <a:pt x="0" y="0"/>
                </a:moveTo>
                <a:lnTo>
                  <a:pt x="465865" y="0"/>
                </a:lnTo>
                <a:lnTo>
                  <a:pt x="465865" y="449560"/>
                </a:lnTo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5905481" y="5075090"/>
            <a:ext cx="782097" cy="759073"/>
            <a:chOff x="0" y="0"/>
            <a:chExt cx="613977" cy="5959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023281" y="5281093"/>
            <a:ext cx="565547" cy="328017"/>
          </a:xfrm>
          <a:custGeom>
            <a:avLst/>
            <a:gdLst/>
            <a:ahLst/>
            <a:cxnLst/>
            <a:rect r="r" b="b" t="t" l="l"/>
            <a:pathLst>
              <a:path h="328017" w="565547">
                <a:moveTo>
                  <a:pt x="0" y="0"/>
                </a:moveTo>
                <a:lnTo>
                  <a:pt x="565547" y="0"/>
                </a:lnTo>
                <a:lnTo>
                  <a:pt x="565547" y="328017"/>
                </a:lnTo>
                <a:lnTo>
                  <a:pt x="0" y="3280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4432" y="5269838"/>
            <a:ext cx="484195" cy="464827"/>
          </a:xfrm>
          <a:custGeom>
            <a:avLst/>
            <a:gdLst/>
            <a:ahLst/>
            <a:cxnLst/>
            <a:rect r="r" b="b" t="t" l="l"/>
            <a:pathLst>
              <a:path h="464827" w="484195">
                <a:moveTo>
                  <a:pt x="0" y="0"/>
                </a:moveTo>
                <a:lnTo>
                  <a:pt x="484195" y="0"/>
                </a:lnTo>
                <a:lnTo>
                  <a:pt x="484195" y="464827"/>
                </a:lnTo>
                <a:lnTo>
                  <a:pt x="0" y="4648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592748" y="6845068"/>
            <a:ext cx="782097" cy="759073"/>
            <a:chOff x="0" y="0"/>
            <a:chExt cx="613977" cy="595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750249" y="6963530"/>
            <a:ext cx="451435" cy="449177"/>
          </a:xfrm>
          <a:custGeom>
            <a:avLst/>
            <a:gdLst/>
            <a:ahLst/>
            <a:cxnLst/>
            <a:rect r="r" b="b" t="t" l="l"/>
            <a:pathLst>
              <a:path h="449177" w="451435">
                <a:moveTo>
                  <a:pt x="0" y="0"/>
                </a:moveTo>
                <a:lnTo>
                  <a:pt x="451434" y="0"/>
                </a:lnTo>
                <a:lnTo>
                  <a:pt x="451434" y="449177"/>
                </a:lnTo>
                <a:lnTo>
                  <a:pt x="0" y="4491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219200"/>
            <a:ext cx="10803455" cy="114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38138" y="3015563"/>
            <a:ext cx="385630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Blueprinting &amp; Funtional Design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38138" y="3459697"/>
            <a:ext cx="4929652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Requi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rements, workflows, module 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5819" y="6144511"/>
            <a:ext cx="305587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Core Data &amp; Access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85819" y="6548059"/>
            <a:ext cx="3229975" cy="64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Static data, secu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rity model, roles, permissions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4253" y="4083388"/>
            <a:ext cx="305587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Integrations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14253" y="4523422"/>
            <a:ext cx="4178632" cy="95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Banking &amp; Payments, Trade Management, ERP / Accounting,  Data / API 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73746" y="7760724"/>
            <a:ext cx="5012754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Optimisation &amp; Continuous Improvement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3746" y="8200759"/>
            <a:ext cx="3607571" cy="64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Controls, reconciliations, reporting, efficiency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5831" y="7711600"/>
            <a:ext cx="752446" cy="748341"/>
          </a:xfrm>
          <a:custGeom>
            <a:avLst/>
            <a:gdLst/>
            <a:ahLst/>
            <a:cxnLst/>
            <a:rect r="r" b="b" t="t" l="l"/>
            <a:pathLst>
              <a:path h="748341" w="752446">
                <a:moveTo>
                  <a:pt x="0" y="0"/>
                </a:moveTo>
                <a:lnTo>
                  <a:pt x="752446" y="0"/>
                </a:lnTo>
                <a:lnTo>
                  <a:pt x="752446" y="748341"/>
                </a:lnTo>
                <a:lnTo>
                  <a:pt x="0" y="74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3" r="0" b="-27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13700" y="1028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1145600"/>
                </a:moveTo>
                <a:lnTo>
                  <a:pt x="0" y="1145600"/>
                </a:lnTo>
                <a:lnTo>
                  <a:pt x="0" y="0"/>
                </a:lnTo>
                <a:lnTo>
                  <a:pt x="1145600" y="0"/>
                </a:lnTo>
                <a:lnTo>
                  <a:pt x="1145600" y="1145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13700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0" y="1145600"/>
                </a:lnTo>
                <a:lnTo>
                  <a:pt x="11456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0639" y="4873095"/>
            <a:ext cx="665007" cy="836486"/>
          </a:xfrm>
          <a:custGeom>
            <a:avLst/>
            <a:gdLst/>
            <a:ahLst/>
            <a:cxnLst/>
            <a:rect r="r" b="b" t="t" l="l"/>
            <a:pathLst>
              <a:path h="836486" w="665007">
                <a:moveTo>
                  <a:pt x="0" y="0"/>
                </a:moveTo>
                <a:lnTo>
                  <a:pt x="665007" y="0"/>
                </a:lnTo>
                <a:lnTo>
                  <a:pt x="665007" y="836485"/>
                </a:lnTo>
                <a:lnTo>
                  <a:pt x="0" y="836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39" r="0" b="-5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815945"/>
            <a:ext cx="719272" cy="965466"/>
          </a:xfrm>
          <a:custGeom>
            <a:avLst/>
            <a:gdLst/>
            <a:ahLst/>
            <a:cxnLst/>
            <a:rect r="r" b="b" t="t" l="l"/>
            <a:pathLst>
              <a:path h="965466" w="719272">
                <a:moveTo>
                  <a:pt x="0" y="0"/>
                </a:moveTo>
                <a:lnTo>
                  <a:pt x="719272" y="0"/>
                </a:lnTo>
                <a:lnTo>
                  <a:pt x="719272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19200"/>
            <a:ext cx="13146306" cy="247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Role &amp; Hands-On Ownership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26043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Bridging treasury requirements, Kyriba solution design and hands-on system ownership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6258" y="4758795"/>
            <a:ext cx="5395596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Func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tional lead and technical validator.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6258" y="5205460"/>
            <a:ext cx="6750809" cy="10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Led functional design and requirements validation, translating trea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sury needs into Kyriba solutions and reviewing workflows, mappings and system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67458" y="4758795"/>
            <a:ext cx="608434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Proces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 optimisation and workflow design.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67458" y="5205460"/>
            <a:ext cx="6875202" cy="14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and enhanced workflows across payments, accounting and reporting, leveraging Kyriba automation to streamline processes and reduce manual intervention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01832" y="7524795"/>
            <a:ext cx="5855699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wnership of improvements post‑go‑live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01832" y="7971470"/>
            <a:ext cx="6946021" cy="14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Managed enhancements, fixes and optimisation cycles as System Administrator, ensuring the Kyriba solution continued to evolve with changing treasury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1 — Blueprinting &amp; Functional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82604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Translating treasury requirements into functional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0211" y="8630260"/>
            <a:ext cx="20321216" cy="918381"/>
          </a:xfrm>
          <a:custGeom>
            <a:avLst/>
            <a:gdLst/>
            <a:ahLst/>
            <a:cxnLst/>
            <a:rect r="r" b="b" t="t" l="l"/>
            <a:pathLst>
              <a:path h="918381" w="20321216">
                <a:moveTo>
                  <a:pt x="0" y="0"/>
                </a:moveTo>
                <a:lnTo>
                  <a:pt x="20321216" y="0"/>
                </a:lnTo>
                <a:lnTo>
                  <a:pt x="20321216" y="918381"/>
                </a:lnTo>
                <a:lnTo>
                  <a:pt x="0" y="918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966" y="3833284"/>
            <a:ext cx="7603291" cy="4676024"/>
          </a:xfrm>
          <a:custGeom>
            <a:avLst/>
            <a:gdLst/>
            <a:ahLst/>
            <a:cxnLst/>
            <a:rect r="r" b="b" t="t" l="l"/>
            <a:pathLst>
              <a:path h="4676024" w="7603291">
                <a:moveTo>
                  <a:pt x="0" y="0"/>
                </a:moveTo>
                <a:lnTo>
                  <a:pt x="7603291" y="0"/>
                </a:lnTo>
                <a:lnTo>
                  <a:pt x="7603291" y="4676024"/>
                </a:lnTo>
                <a:lnTo>
                  <a:pt x="0" y="467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8982" y="1209675"/>
            <a:ext cx="16560819" cy="238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84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Treasury Requirements to Kyriba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5139" y="4086139"/>
            <a:ext cx="4460005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 Design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5139" y="4616554"/>
            <a:ext cx="6724609" cy="353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Treasury Busin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ess Role: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treasury SME,  deep understanding of operational treasury processes, requirements and pain points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Stak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eholder Alignment: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worked with key stakeholders to translate strategic objectives into practical requirements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Busin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ess-to-System Bridge: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connected Treasury's operational needs with Kyriba's functional capabilities</a:t>
            </a:r>
          </a:p>
          <a:p>
            <a:pPr algn="l">
              <a:lnSpc>
                <a:spcPts val="2798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29392" y="3833284"/>
            <a:ext cx="7603291" cy="4676024"/>
          </a:xfrm>
          <a:custGeom>
            <a:avLst/>
            <a:gdLst/>
            <a:ahLst/>
            <a:cxnLst/>
            <a:rect r="r" b="b" t="t" l="l"/>
            <a:pathLst>
              <a:path h="4676024" w="7603291">
                <a:moveTo>
                  <a:pt x="0" y="0"/>
                </a:moveTo>
                <a:lnTo>
                  <a:pt x="7603291" y="0"/>
                </a:lnTo>
                <a:lnTo>
                  <a:pt x="7603291" y="4676024"/>
                </a:lnTo>
                <a:lnTo>
                  <a:pt x="0" y="467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0461" y="4086139"/>
            <a:ext cx="4460005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00461" y="4553089"/>
            <a:ext cx="6594503" cy="353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Trade processing: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trade capture and processing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Banking and payments: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bank connectivity, payments and statements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FX integration: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front to back integration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Cash 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balances, cash flows and visibility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Accounting: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requirements and ERP connectivity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Rep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orting: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bespoke reporting and API connectivity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Controls and approvals: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security and segregation of duties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7874" y="6323035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6"/>
                </a:lnTo>
                <a:lnTo>
                  <a:pt x="0" y="3078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0712" y="8103556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0" y="0"/>
                </a:moveTo>
                <a:lnTo>
                  <a:pt x="1145601" y="0"/>
                </a:lnTo>
                <a:lnTo>
                  <a:pt x="1145601" y="1145600"/>
                </a:lnTo>
                <a:lnTo>
                  <a:pt x="0" y="114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306" y="1218575"/>
            <a:ext cx="17309333" cy="12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Design in Practice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27482" y="2776646"/>
            <a:ext cx="87521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115633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1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1" y="1145600"/>
                </a:lnTo>
                <a:lnTo>
                  <a:pt x="11456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2368" y="7123697"/>
            <a:ext cx="5466157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anslate Requirements into Kyriba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2368" y="7530071"/>
            <a:ext cx="5926626" cy="167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Mapped requir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ements to Kyriba functionality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Defined functional behaviour, rules and configuration requirements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Rev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iewed and challenged consultant-designed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2368" y="6338218"/>
            <a:ext cx="87521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37874" y="2659994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5"/>
                </a:lnTo>
                <a:lnTo>
                  <a:pt x="0" y="3078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62368" y="3460656"/>
            <a:ext cx="56062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rements &amp; Stakeholder Alignment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2368" y="3864944"/>
            <a:ext cx="5926626" cy="20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Documen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ted detailed operational requirements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Challenged existing processes and identified pain points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Translated Treasury needs into functional specifications</a:t>
            </a:r>
          </a:p>
          <a:p>
            <a:pPr algn="l">
              <a:lnSpc>
                <a:spcPts val="265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62368" y="2675186"/>
            <a:ext cx="87521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646513" y="2659994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5"/>
                </a:lnTo>
                <a:lnTo>
                  <a:pt x="0" y="3078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0998" y="3552048"/>
            <a:ext cx="4460005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 &amp; Process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0998" y="3956337"/>
            <a:ext cx="5926626" cy="13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Designed end-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to-end treasury workflows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Defined approval and control points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Identified opportunities to simplify manual activities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0998" y="2766578"/>
            <a:ext cx="87521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646513" y="6323035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6"/>
                </a:lnTo>
                <a:lnTo>
                  <a:pt x="0" y="3078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71008" y="7123697"/>
            <a:ext cx="4460005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&amp; Functional Validation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1008" y="7530071"/>
            <a:ext cx="5926626" cy="13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Reviewed configuration against requir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Supported functional and end-to-end testing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Confirmed that the solution worked from the Treasury user's perspective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1008" y="6338218"/>
            <a:ext cx="875214" cy="71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48820" y="9544676"/>
            <a:ext cx="13414306" cy="71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Translated treasury requireme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nts into practical Kyriba solutions, balancing operational needs, controls and system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2 — Core Data &amp; Access Setup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9110486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Establishing the data, security and governance foundation for Kyriba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5831" y="7711600"/>
            <a:ext cx="752446" cy="748341"/>
          </a:xfrm>
          <a:custGeom>
            <a:avLst/>
            <a:gdLst/>
            <a:ahLst/>
            <a:cxnLst/>
            <a:rect r="r" b="b" t="t" l="l"/>
            <a:pathLst>
              <a:path h="748341" w="752446">
                <a:moveTo>
                  <a:pt x="0" y="0"/>
                </a:moveTo>
                <a:lnTo>
                  <a:pt x="752446" y="0"/>
                </a:lnTo>
                <a:lnTo>
                  <a:pt x="752446" y="748341"/>
                </a:lnTo>
                <a:lnTo>
                  <a:pt x="0" y="74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3" r="0" b="-2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15945"/>
            <a:ext cx="719272" cy="965466"/>
          </a:xfrm>
          <a:custGeom>
            <a:avLst/>
            <a:gdLst/>
            <a:ahLst/>
            <a:cxnLst/>
            <a:rect r="r" b="b" t="t" l="l"/>
            <a:pathLst>
              <a:path h="965466" w="719272">
                <a:moveTo>
                  <a:pt x="0" y="0"/>
                </a:moveTo>
                <a:lnTo>
                  <a:pt x="719272" y="0"/>
                </a:lnTo>
                <a:lnTo>
                  <a:pt x="719272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5265" y="4876661"/>
            <a:ext cx="965466" cy="965466"/>
          </a:xfrm>
          <a:custGeom>
            <a:avLst/>
            <a:gdLst/>
            <a:ahLst/>
            <a:cxnLst/>
            <a:rect r="r" b="b" t="t" l="l"/>
            <a:pathLst>
              <a:path h="965466" w="965466">
                <a:moveTo>
                  <a:pt x="0" y="0"/>
                </a:moveTo>
                <a:lnTo>
                  <a:pt x="965466" y="0"/>
                </a:lnTo>
                <a:lnTo>
                  <a:pt x="965466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19200"/>
            <a:ext cx="13146306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the Kyriba Data Foundation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26043"/>
            <a:ext cx="1159012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Establishing the core data and configuration required to support Treasury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6258" y="4758795"/>
            <a:ext cx="5395596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ter Data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258" y="5205460"/>
            <a:ext cx="6750809" cy="212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Completed and validated Kyriba-provided templates for entities, banks, bank accounts and third parties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relationships between core data objects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Validated data structures against Treasury operating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67458" y="4758795"/>
            <a:ext cx="608434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Sys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tem Configuration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7458" y="5205460"/>
            <a:ext cx="6875202" cy="17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main and system currencies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transaction types and relevant product structures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product subscriptions according to business and user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1832" y="7524795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 Qual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ity &amp;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1832" y="7971470"/>
            <a:ext cx="7093474" cy="141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Reviewed data before system loading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Validated configuration against business requirements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Ensured consistency across entities, accounts and third parties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336" y="9740781"/>
            <a:ext cx="14397964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the core data model required to support Treasury operations, connectivity and reporting within Kyriba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553" y="4815945"/>
            <a:ext cx="615929" cy="692055"/>
          </a:xfrm>
          <a:custGeom>
            <a:avLst/>
            <a:gdLst/>
            <a:ahLst/>
            <a:cxnLst/>
            <a:rect r="r" b="b" t="t" l="l"/>
            <a:pathLst>
              <a:path h="692055" w="615929">
                <a:moveTo>
                  <a:pt x="0" y="0"/>
                </a:moveTo>
                <a:lnTo>
                  <a:pt x="615930" y="0"/>
                </a:lnTo>
                <a:lnTo>
                  <a:pt x="615930" y="692055"/>
                </a:lnTo>
                <a:lnTo>
                  <a:pt x="0" y="69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61985" y="4815945"/>
            <a:ext cx="907201" cy="949949"/>
          </a:xfrm>
          <a:custGeom>
            <a:avLst/>
            <a:gdLst/>
            <a:ahLst/>
            <a:cxnLst/>
            <a:rect r="r" b="b" t="t" l="l"/>
            <a:pathLst>
              <a:path h="949949" w="907201">
                <a:moveTo>
                  <a:pt x="0" y="0"/>
                </a:moveTo>
                <a:lnTo>
                  <a:pt x="907201" y="0"/>
                </a:lnTo>
                <a:lnTo>
                  <a:pt x="907201" y="949948"/>
                </a:lnTo>
                <a:lnTo>
                  <a:pt x="0" y="94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7769" y="6887714"/>
            <a:ext cx="813713" cy="813713"/>
          </a:xfrm>
          <a:custGeom>
            <a:avLst/>
            <a:gdLst/>
            <a:ahLst/>
            <a:cxnLst/>
            <a:rect r="r" b="b" t="t" l="l"/>
            <a:pathLst>
              <a:path h="813713" w="813713">
                <a:moveTo>
                  <a:pt x="0" y="0"/>
                </a:moveTo>
                <a:lnTo>
                  <a:pt x="813714" y="0"/>
                </a:lnTo>
                <a:lnTo>
                  <a:pt x="813714" y="813714"/>
                </a:lnTo>
                <a:lnTo>
                  <a:pt x="0" y="81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05783" y="7294571"/>
            <a:ext cx="663402" cy="824102"/>
          </a:xfrm>
          <a:custGeom>
            <a:avLst/>
            <a:gdLst/>
            <a:ahLst/>
            <a:cxnLst/>
            <a:rect r="r" b="b" t="t" l="l"/>
            <a:pathLst>
              <a:path h="824102" w="663402">
                <a:moveTo>
                  <a:pt x="0" y="0"/>
                </a:moveTo>
                <a:lnTo>
                  <a:pt x="663403" y="0"/>
                </a:lnTo>
                <a:lnTo>
                  <a:pt x="663403" y="824102"/>
                </a:lnTo>
                <a:lnTo>
                  <a:pt x="0" y="8241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19200"/>
            <a:ext cx="13146306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Access, Controls &amp; Self-Service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26043"/>
            <a:ext cx="1159012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Establishing a controlled access model with Treasury-led system administration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258" y="4758795"/>
            <a:ext cx="5395596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Us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er Profiles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6258" y="5205460"/>
            <a:ext cx="6750809" cy="106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access requirements across different 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user types: as an example Client User, Treasury User, Admin User or View-Only User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92471" y="4758795"/>
            <a:ext cx="608434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P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ermissions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2471" y="5205460"/>
            <a:ext cx="6875202" cy="17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role-based access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permissions according to responsibilities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appropriate access boundaries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igned access with segregation-of-duties 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6258" y="6790746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Approval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Control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6258" y="7237421"/>
            <a:ext cx="7449096" cy="141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approval workflows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segregation of duties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Aligned permissions and approval levels with Treasury controls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336" y="9740781"/>
            <a:ext cx="15697730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oll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ccess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enabling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Treasury to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depe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ly ma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ain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and 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lve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th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Kyriba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environment.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471" y="7202646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Treasury-Led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Administration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2471" y="7649320"/>
            <a:ext cx="7449096" cy="17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Treasury Operations maintained day-to-day Kyriba administration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Managed users, roles, permissions and system data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Performed ongoing configuration and maintenance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Escalated technical components requiring IT support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3 — Technical Integrations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9110486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Connecting Kyriba to the wider Treasury and financial ecosystem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2429" y="3290981"/>
            <a:ext cx="5405423" cy="5405423"/>
          </a:xfrm>
          <a:custGeom>
            <a:avLst/>
            <a:gdLst/>
            <a:ahLst/>
            <a:cxnLst/>
            <a:rect r="r" b="b" t="t" l="l"/>
            <a:pathLst>
              <a:path h="5405423" w="5405423">
                <a:moveTo>
                  <a:pt x="0" y="0"/>
                </a:moveTo>
                <a:lnTo>
                  <a:pt x="5405423" y="0"/>
                </a:lnTo>
                <a:lnTo>
                  <a:pt x="5405423" y="5405424"/>
                </a:lnTo>
                <a:lnTo>
                  <a:pt x="0" y="5405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187748" y="4016300"/>
            <a:ext cx="3954786" cy="395478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93574" y="7688382"/>
            <a:ext cx="448604" cy="4486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E6BE6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56363" y="3827579"/>
            <a:ext cx="448604" cy="44860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91DFB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60522" y="7725683"/>
            <a:ext cx="448604" cy="4486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63B1D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0426" y="2991465"/>
            <a:ext cx="5092985" cy="1570395"/>
            <a:chOff x="0" y="0"/>
            <a:chExt cx="1467458" cy="4524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5711240" y="3282191"/>
            <a:ext cx="1191843" cy="1027481"/>
            <a:chOff x="0" y="0"/>
            <a:chExt cx="1290485" cy="1112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9397D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60522" y="3843891"/>
            <a:ext cx="448604" cy="44860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66675" cap="sq">
              <a:solidFill>
                <a:srgbClr val="9397D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9987" y="7170521"/>
            <a:ext cx="5092985" cy="1570395"/>
            <a:chOff x="0" y="0"/>
            <a:chExt cx="1467458" cy="4524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5720801" y="7461247"/>
            <a:ext cx="1191843" cy="1027481"/>
            <a:chOff x="0" y="0"/>
            <a:chExt cx="1290485" cy="1112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63B1D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62341" y="2991465"/>
            <a:ext cx="5092985" cy="1570395"/>
            <a:chOff x="0" y="0"/>
            <a:chExt cx="1467458" cy="4524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66892" y="3282191"/>
            <a:ext cx="1191843" cy="1027481"/>
            <a:chOff x="0" y="0"/>
            <a:chExt cx="1290485" cy="1112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91DFB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81391" y="7170521"/>
            <a:ext cx="5092985" cy="1570395"/>
            <a:chOff x="0" y="0"/>
            <a:chExt cx="1467458" cy="4524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85942" y="7461247"/>
            <a:ext cx="1191843" cy="1027481"/>
            <a:chOff x="0" y="0"/>
            <a:chExt cx="1290485" cy="1112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E6BE6F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095296" y="3390291"/>
            <a:ext cx="641375" cy="772742"/>
          </a:xfrm>
          <a:custGeom>
            <a:avLst/>
            <a:gdLst/>
            <a:ahLst/>
            <a:cxnLst/>
            <a:rect r="r" b="b" t="t" l="l"/>
            <a:pathLst>
              <a:path h="772742" w="641375">
                <a:moveTo>
                  <a:pt x="0" y="0"/>
                </a:moveTo>
                <a:lnTo>
                  <a:pt x="641376" y="0"/>
                </a:lnTo>
                <a:lnTo>
                  <a:pt x="641376" y="772742"/>
                </a:lnTo>
                <a:lnTo>
                  <a:pt x="0" y="772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464343" y="3445622"/>
            <a:ext cx="812674" cy="763914"/>
          </a:xfrm>
          <a:custGeom>
            <a:avLst/>
            <a:gdLst/>
            <a:ahLst/>
            <a:cxnLst/>
            <a:rect r="r" b="b" t="t" l="l"/>
            <a:pathLst>
              <a:path h="763914" w="812674">
                <a:moveTo>
                  <a:pt x="0" y="0"/>
                </a:moveTo>
                <a:lnTo>
                  <a:pt x="812674" y="0"/>
                </a:lnTo>
                <a:lnTo>
                  <a:pt x="812674" y="763914"/>
                </a:lnTo>
                <a:lnTo>
                  <a:pt x="0" y="763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024317" y="7716263"/>
            <a:ext cx="760070" cy="467443"/>
          </a:xfrm>
          <a:custGeom>
            <a:avLst/>
            <a:gdLst/>
            <a:ahLst/>
            <a:cxnLst/>
            <a:rect r="r" b="b" t="t" l="l"/>
            <a:pathLst>
              <a:path h="467443" w="760070">
                <a:moveTo>
                  <a:pt x="0" y="0"/>
                </a:moveTo>
                <a:lnTo>
                  <a:pt x="760069" y="0"/>
                </a:lnTo>
                <a:lnTo>
                  <a:pt x="760069" y="467443"/>
                </a:lnTo>
                <a:lnTo>
                  <a:pt x="0" y="467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583980" y="7649524"/>
            <a:ext cx="600354" cy="663375"/>
          </a:xfrm>
          <a:custGeom>
            <a:avLst/>
            <a:gdLst/>
            <a:ahLst/>
            <a:cxnLst/>
            <a:rect r="r" b="b" t="t" l="l"/>
            <a:pathLst>
              <a:path h="663375" w="600354">
                <a:moveTo>
                  <a:pt x="0" y="0"/>
                </a:moveTo>
                <a:lnTo>
                  <a:pt x="600354" y="0"/>
                </a:lnTo>
                <a:lnTo>
                  <a:pt x="600354" y="663375"/>
                </a:lnTo>
                <a:lnTo>
                  <a:pt x="0" y="663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5016" y="822184"/>
            <a:ext cx="17529588" cy="120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9"/>
              </a:lnSpc>
              <a:spcBef>
                <a:spcPct val="0"/>
              </a:spcBef>
            </a:pPr>
            <a:r>
              <a:rPr lang="en-US" b="true" sz="84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8499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ntegration Landscape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90654" y="3432971"/>
            <a:ext cx="3411036" cy="102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Payment processing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Bank statements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Reconciliations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2090654" y="2997194"/>
            <a:ext cx="2995752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Bank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ing &amp; Payment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30473" y="7769438"/>
            <a:ext cx="3411036" cy="10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Trading platforms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Trade capture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Custodian bank connectivity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2030473" y="7288724"/>
            <a:ext cx="2702088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Trade Management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20660" y="3481653"/>
            <a:ext cx="3411036" cy="77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Cash Accounting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Financial Accounting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ERP 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egrat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20660" y="3148005"/>
            <a:ext cx="3080634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ERP / 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Accounting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39710" y="7660709"/>
            <a:ext cx="3411036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ecti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vity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Open API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Market data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39710" y="7327061"/>
            <a:ext cx="2109177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Data / API Layer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65773" y="5887904"/>
            <a:ext cx="2756453" cy="119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al 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asury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pla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tf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orm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connecting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ina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cia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market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eco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28180" y="4764046"/>
            <a:ext cx="2831641" cy="7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9"/>
              </a:lnSpc>
              <a:spcBef>
                <a:spcPct val="0"/>
              </a:spcBef>
            </a:pPr>
            <a:r>
              <a:rPr lang="en-US" b="true" sz="42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Kyriba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90147" y="9712814"/>
            <a:ext cx="14239325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signed 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validated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interf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aces connecting Kyriba with ban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ks, tr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ing platforms, custodian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and ERP system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Banking &amp; Payments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Connecting bank data and payments to Kyriba for cash visibility and reconciliation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36406" cy="625936"/>
            <a:chOff x="0" y="0"/>
            <a:chExt cx="3796237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96237" cy="257265"/>
            </a:xfrm>
            <a:custGeom>
              <a:avLst/>
              <a:gdLst/>
              <a:ahLst/>
              <a:cxnLst/>
              <a:rect r="r" b="b" t="t" l="l"/>
              <a:pathLst>
                <a:path h="257265" w="3796237">
                  <a:moveTo>
                    <a:pt x="12573" y="0"/>
                  </a:moveTo>
                  <a:lnTo>
                    <a:pt x="3783664" y="0"/>
                  </a:lnTo>
                  <a:cubicBezTo>
                    <a:pt x="3786998" y="0"/>
                    <a:pt x="3790197" y="1325"/>
                    <a:pt x="3792555" y="3683"/>
                  </a:cubicBezTo>
                  <a:cubicBezTo>
                    <a:pt x="3794912" y="6040"/>
                    <a:pt x="3796237" y="9238"/>
                    <a:pt x="3796237" y="12573"/>
                  </a:cubicBezTo>
                  <a:lnTo>
                    <a:pt x="3796237" y="244692"/>
                  </a:lnTo>
                  <a:cubicBezTo>
                    <a:pt x="3796237" y="248026"/>
                    <a:pt x="3794912" y="251224"/>
                    <a:pt x="3792555" y="253582"/>
                  </a:cubicBezTo>
                  <a:cubicBezTo>
                    <a:pt x="3790197" y="255940"/>
                    <a:pt x="3786998" y="257265"/>
                    <a:pt x="3783664" y="257265"/>
                  </a:cubicBezTo>
                  <a:lnTo>
                    <a:pt x="12573" y="257265"/>
                  </a:lnTo>
                  <a:cubicBezTo>
                    <a:pt x="9238" y="257265"/>
                    <a:pt x="6040" y="255940"/>
                    <a:pt x="3683" y="253582"/>
                  </a:cubicBezTo>
                  <a:cubicBezTo>
                    <a:pt x="1325" y="251224"/>
                    <a:pt x="0" y="248026"/>
                    <a:pt x="0" y="244692"/>
                  </a:cubicBezTo>
                  <a:lnTo>
                    <a:pt x="0" y="12573"/>
                  </a:lnTo>
                  <a:cubicBezTo>
                    <a:pt x="0" y="9238"/>
                    <a:pt x="1325" y="6040"/>
                    <a:pt x="3683" y="3683"/>
                  </a:cubicBezTo>
                  <a:cubicBezTo>
                    <a:pt x="6040" y="1325"/>
                    <a:pt x="9238" y="0"/>
                    <a:pt x="12573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96237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9111" y="3700548"/>
            <a:ext cx="3671746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4438275"/>
            <a:ext cx="4714100" cy="1056370"/>
            <a:chOff x="0" y="0"/>
            <a:chExt cx="1937533" cy="434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7325" y="351208"/>
            <a:ext cx="641375" cy="772742"/>
          </a:xfrm>
          <a:custGeom>
            <a:avLst/>
            <a:gdLst/>
            <a:ahLst/>
            <a:cxnLst/>
            <a:rect r="r" b="b" t="t" l="l"/>
            <a:pathLst>
              <a:path h="772742" w="641375">
                <a:moveTo>
                  <a:pt x="0" y="0"/>
                </a:moveTo>
                <a:lnTo>
                  <a:pt x="641375" y="0"/>
                </a:lnTo>
                <a:lnTo>
                  <a:pt x="641375" y="772742"/>
                </a:lnTo>
                <a:lnTo>
                  <a:pt x="0" y="77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97712" y="4800706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Statements - camt.053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01863" y="4450066"/>
            <a:ext cx="9224968" cy="1056370"/>
            <a:chOff x="0" y="0"/>
            <a:chExt cx="3791536" cy="434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27988" y="4457806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banks and implementation team to set up connectivity and validate configuration; tested statement delivery, format and transaction information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06995" y="5796260"/>
            <a:ext cx="4714100" cy="1056370"/>
            <a:chOff x="0" y="0"/>
            <a:chExt cx="1937533" cy="4341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93588" y="6056620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Payments - pain.001 / pain.002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201863" y="5808051"/>
            <a:ext cx="9224968" cy="1056370"/>
            <a:chOff x="0" y="0"/>
            <a:chExt cx="3791536" cy="4341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627988" y="5804757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Supported payment connectivity setup and testing; executed test payments and validated bank transmission, responses and payment status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06995" y="7157430"/>
            <a:ext cx="4714100" cy="1056370"/>
            <a:chOff x="0" y="0"/>
            <a:chExt cx="1937533" cy="4341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196510" y="7319231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Reconciliations - BTC Mapping &amp; Rules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190425" y="7169221"/>
            <a:ext cx="9224968" cy="1056370"/>
            <a:chOff x="0" y="0"/>
            <a:chExt cx="3791536" cy="4341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627988" y="7197796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Configured and validated BTC mappings and reconciliation rules; monitored the Bank Connectivity Cockpit, investigated breaks and tested matching behaviour.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Tade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Connecting trade execution, Kyriba trade capture and post-trade processing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63159"/>
            <a:ext cx="4714100" cy="1056370"/>
            <a:chOff x="0" y="0"/>
            <a:chExt cx="1937533" cy="434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5924961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Money Market Funds Platform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74950"/>
            <a:ext cx="9205228" cy="1056370"/>
            <a:chOff x="0" y="0"/>
            <a:chExt cx="3783423" cy="4341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782691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across Kyriba and the MMF platform provider to validate the connectivity, tested trades and confirmed the end-to-end processing.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7121144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3588" y="7296329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Manual Trade Entry - Internal Clients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7132935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7129641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and validated manual trade-entry requirements for transactions initiated by internal Treasury users; tested capture, processing and downstream behaviour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1150" y="8456005"/>
            <a:ext cx="4714100" cy="1453553"/>
            <a:chOff x="0" y="0"/>
            <a:chExt cx="1937533" cy="5974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597422"/>
            </a:xfrm>
            <a:custGeom>
              <a:avLst/>
              <a:gdLst/>
              <a:ahLst/>
              <a:cxnLst/>
              <a:rect r="r" b="b" t="t" l="l"/>
              <a:pathLst>
                <a:path h="597422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72787"/>
                  </a:lnTo>
                  <a:cubicBezTo>
                    <a:pt x="1937533" y="586393"/>
                    <a:pt x="1926504" y="597422"/>
                    <a:pt x="1912899" y="597422"/>
                  </a:cubicBezTo>
                  <a:lnTo>
                    <a:pt x="24634" y="597422"/>
                  </a:lnTo>
                  <a:cubicBezTo>
                    <a:pt x="18101" y="597422"/>
                    <a:pt x="11835" y="594826"/>
                    <a:pt x="7215" y="590207"/>
                  </a:cubicBezTo>
                  <a:cubicBezTo>
                    <a:pt x="2595" y="585587"/>
                    <a:pt x="0" y="579321"/>
                    <a:pt x="0" y="572787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59742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6510" y="8834766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Custodian Bank - Post-Trade Processing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184580" y="8467796"/>
            <a:ext cx="9205228" cy="1441762"/>
            <a:chOff x="0" y="0"/>
            <a:chExt cx="3783423" cy="5925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592576"/>
            </a:xfrm>
            <a:custGeom>
              <a:avLst/>
              <a:gdLst/>
              <a:ahLst/>
              <a:cxnLst/>
              <a:rect r="r" b="b" t="t" l="l"/>
              <a:pathLst>
                <a:path h="5925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579960"/>
                  </a:lnTo>
                  <a:cubicBezTo>
                    <a:pt x="3783423" y="586927"/>
                    <a:pt x="3777774" y="592576"/>
                    <a:pt x="3770807" y="592576"/>
                  </a:cubicBezTo>
                  <a:lnTo>
                    <a:pt x="12616" y="592576"/>
                  </a:lnTo>
                  <a:cubicBezTo>
                    <a:pt x="5648" y="592576"/>
                    <a:pt x="0" y="586927"/>
                    <a:pt x="0" y="57996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5925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96992" y="8496371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transaction-specific requirements through custodian templates, engaged with the custodian and implementation team, tested transaction flows and exceptions, and validated the final solution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6995" y="4421491"/>
            <a:ext cx="4714100" cy="1151168"/>
            <a:chOff x="0" y="0"/>
            <a:chExt cx="1937533" cy="4731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37533" cy="473139"/>
            </a:xfrm>
            <a:custGeom>
              <a:avLst/>
              <a:gdLst/>
              <a:ahLst/>
              <a:cxnLst/>
              <a:rect r="r" b="b" t="t" l="l"/>
              <a:pathLst>
                <a:path h="473139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48505"/>
                  </a:lnTo>
                  <a:cubicBezTo>
                    <a:pt x="1937533" y="455039"/>
                    <a:pt x="1934938" y="461304"/>
                    <a:pt x="1930318" y="465924"/>
                  </a:cubicBezTo>
                  <a:cubicBezTo>
                    <a:pt x="1925698" y="470544"/>
                    <a:pt x="1919432" y="473139"/>
                    <a:pt x="1912899" y="473139"/>
                  </a:cubicBezTo>
                  <a:lnTo>
                    <a:pt x="24634" y="473139"/>
                  </a:lnTo>
                  <a:cubicBezTo>
                    <a:pt x="11029" y="473139"/>
                    <a:pt x="0" y="462110"/>
                    <a:pt x="0" y="448505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37533" cy="473139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90665" y="4805369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FX Platform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201839" y="4437471"/>
            <a:ext cx="9205228" cy="1135189"/>
            <a:chOff x="0" y="0"/>
            <a:chExt cx="3783423" cy="4665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83423" cy="466572"/>
            </a:xfrm>
            <a:custGeom>
              <a:avLst/>
              <a:gdLst/>
              <a:ahLst/>
              <a:cxnLst/>
              <a:rect r="r" b="b" t="t" l="l"/>
              <a:pathLst>
                <a:path h="466572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53956"/>
                  </a:lnTo>
                  <a:cubicBezTo>
                    <a:pt x="3783423" y="460924"/>
                    <a:pt x="3777774" y="466572"/>
                    <a:pt x="3770807" y="466572"/>
                  </a:cubicBezTo>
                  <a:lnTo>
                    <a:pt x="12616" y="466572"/>
                  </a:lnTo>
                  <a:cubicBezTo>
                    <a:pt x="5648" y="466572"/>
                    <a:pt x="0" y="460924"/>
                    <a:pt x="0" y="453956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783423" cy="46657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602838" y="4441022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the implementation team to configure Kyriba templates, engaged with the FX platform provider, analysed executed trades and iterated through testing until final validation.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68630" y="482754"/>
            <a:ext cx="760070" cy="467443"/>
          </a:xfrm>
          <a:custGeom>
            <a:avLst/>
            <a:gdLst/>
            <a:ahLst/>
            <a:cxnLst/>
            <a:rect r="r" b="b" t="t" l="l"/>
            <a:pathLst>
              <a:path h="467443" w="760070">
                <a:moveTo>
                  <a:pt x="0" y="0"/>
                </a:moveTo>
                <a:lnTo>
                  <a:pt x="760070" y="0"/>
                </a:lnTo>
                <a:lnTo>
                  <a:pt x="760070" y="467442"/>
                </a:lnTo>
                <a:lnTo>
                  <a:pt x="0" y="46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ERP / Accounting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Translating Treasury activity into controlled accounting processes and ERP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6204756"/>
            <a:ext cx="4714100" cy="1476598"/>
            <a:chOff x="0" y="0"/>
            <a:chExt cx="1937533" cy="6068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606894"/>
            </a:xfrm>
            <a:custGeom>
              <a:avLst/>
              <a:gdLst/>
              <a:ahLst/>
              <a:cxnLst/>
              <a:rect r="r" b="b" t="t" l="l"/>
              <a:pathLst>
                <a:path h="606894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82259"/>
                  </a:lnTo>
                  <a:cubicBezTo>
                    <a:pt x="1937533" y="588793"/>
                    <a:pt x="1934938" y="595059"/>
                    <a:pt x="1930318" y="599679"/>
                  </a:cubicBezTo>
                  <a:cubicBezTo>
                    <a:pt x="1925698" y="604298"/>
                    <a:pt x="1919432" y="606894"/>
                    <a:pt x="1912899" y="606894"/>
                  </a:cubicBezTo>
                  <a:lnTo>
                    <a:pt x="24634" y="606894"/>
                  </a:lnTo>
                  <a:cubicBezTo>
                    <a:pt x="18101" y="606894"/>
                    <a:pt x="11835" y="604298"/>
                    <a:pt x="7215" y="599679"/>
                  </a:cubicBezTo>
                  <a:cubicBezTo>
                    <a:pt x="2595" y="595059"/>
                    <a:pt x="0" y="588793"/>
                    <a:pt x="0" y="58225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60689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6409984"/>
            <a:ext cx="3535071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Financial Accounting - setup, Accruals, MTM, GL generation &amp; approval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6221237"/>
            <a:ext cx="9205228" cy="1476598"/>
            <a:chOff x="0" y="0"/>
            <a:chExt cx="3783423" cy="6068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606894"/>
            </a:xfrm>
            <a:custGeom>
              <a:avLst/>
              <a:gdLst/>
              <a:ahLst/>
              <a:cxnLst/>
              <a:rect r="r" b="b" t="t" l="l"/>
              <a:pathLst>
                <a:path h="606894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594278"/>
                  </a:lnTo>
                  <a:cubicBezTo>
                    <a:pt x="3783423" y="601246"/>
                    <a:pt x="3777774" y="606894"/>
                    <a:pt x="3770807" y="606894"/>
                  </a:cubicBezTo>
                  <a:lnTo>
                    <a:pt x="12616" y="606894"/>
                  </a:lnTo>
                  <a:cubicBezTo>
                    <a:pt x="5648" y="606894"/>
                    <a:pt x="0" y="601246"/>
                    <a:pt x="0" y="594278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60689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6224287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Finance and the Kyriba team on financial transaction templates and configuration; reviewed, mapped and improved the setup, created procedures and documented the end-to-end process from accruals and MTM through GL entries and approval.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8050261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0665" y="8225445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ERP Connectivity  - Open API &amp; Data Platform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8062052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8058758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IT to define the required Kyriba data template for Open API extraction; validated the output and tested the data through the data platform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507040"/>
            <a:chOff x="0" y="0"/>
            <a:chExt cx="1937533" cy="619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619405"/>
            </a:xfrm>
            <a:custGeom>
              <a:avLst/>
              <a:gdLst/>
              <a:ahLst/>
              <a:cxnLst/>
              <a:rect r="r" b="b" t="t" l="l"/>
              <a:pathLst>
                <a:path h="619405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94771"/>
                  </a:lnTo>
                  <a:cubicBezTo>
                    <a:pt x="1937533" y="601304"/>
                    <a:pt x="1934938" y="607570"/>
                    <a:pt x="1930318" y="612190"/>
                  </a:cubicBezTo>
                  <a:cubicBezTo>
                    <a:pt x="1925698" y="616810"/>
                    <a:pt x="1919432" y="619405"/>
                    <a:pt x="1912899" y="619405"/>
                  </a:cubicBezTo>
                  <a:lnTo>
                    <a:pt x="24634" y="619405"/>
                  </a:lnTo>
                  <a:cubicBezTo>
                    <a:pt x="11029" y="619405"/>
                    <a:pt x="0" y="608376"/>
                    <a:pt x="0" y="594771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61940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0665" y="4816617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Cash Accounting - setup, GL generation &amp; approval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491060"/>
            <a:chOff x="0" y="0"/>
            <a:chExt cx="3783423" cy="612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612838"/>
            </a:xfrm>
            <a:custGeom>
              <a:avLst/>
              <a:gdLst/>
              <a:ahLst/>
              <a:cxnLst/>
              <a:rect r="r" b="b" t="t" l="l"/>
              <a:pathLst>
                <a:path h="612838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600222"/>
                  </a:lnTo>
                  <a:cubicBezTo>
                    <a:pt x="3783423" y="607189"/>
                    <a:pt x="3777774" y="612838"/>
                    <a:pt x="3770807" y="612838"/>
                  </a:cubicBezTo>
                  <a:lnTo>
                    <a:pt x="12616" y="612838"/>
                  </a:lnTo>
                  <a:cubicBezTo>
                    <a:pt x="5648" y="612838"/>
                    <a:pt x="0" y="607189"/>
                    <a:pt x="0" y="600222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6128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441022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Finance to define cash accounting requirements and transaction mappings; reviewed and improved configuration, documented the process from GL generation through review and approval, improved robustness and reduced ongoing maintenance.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95081" y="264786"/>
            <a:ext cx="812674" cy="763914"/>
          </a:xfrm>
          <a:custGeom>
            <a:avLst/>
            <a:gdLst/>
            <a:ahLst/>
            <a:cxnLst/>
            <a:rect r="r" b="b" t="t" l="l"/>
            <a:pathLst>
              <a:path h="763914" w="812674">
                <a:moveTo>
                  <a:pt x="0" y="0"/>
                </a:moveTo>
                <a:lnTo>
                  <a:pt x="812674" y="0"/>
                </a:lnTo>
                <a:lnTo>
                  <a:pt x="812674" y="763914"/>
                </a:lnTo>
                <a:lnTo>
                  <a:pt x="0" y="76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/ API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Ensuring reliable financial and market data for downstream Treasury use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47556"/>
            <a:ext cx="4714100" cy="1147215"/>
            <a:chOff x="0" y="0"/>
            <a:chExt cx="1937533" cy="4715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71515"/>
            </a:xfrm>
            <a:custGeom>
              <a:avLst/>
              <a:gdLst/>
              <a:ahLst/>
              <a:cxnLst/>
              <a:rect r="r" b="b" t="t" l="l"/>
              <a:pathLst>
                <a:path h="471515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46880"/>
                  </a:lnTo>
                  <a:cubicBezTo>
                    <a:pt x="1937533" y="460486"/>
                    <a:pt x="1926504" y="471515"/>
                    <a:pt x="1912899" y="471515"/>
                  </a:cubicBezTo>
                  <a:lnTo>
                    <a:pt x="24634" y="471515"/>
                  </a:lnTo>
                  <a:cubicBezTo>
                    <a:pt x="18101" y="471515"/>
                    <a:pt x="11835" y="468919"/>
                    <a:pt x="7215" y="464299"/>
                  </a:cubicBezTo>
                  <a:cubicBezTo>
                    <a:pt x="2595" y="459680"/>
                    <a:pt x="0" y="453414"/>
                    <a:pt x="0" y="446880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7151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5963020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Open API - Financial Transactions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64037"/>
            <a:ext cx="9205228" cy="1130734"/>
            <a:chOff x="0" y="0"/>
            <a:chExt cx="3783423" cy="464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464741"/>
            </a:xfrm>
            <a:custGeom>
              <a:avLst/>
              <a:gdLst/>
              <a:ahLst/>
              <a:cxnLst/>
              <a:rect r="r" b="b" t="t" l="l"/>
              <a:pathLst>
                <a:path h="464741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52125"/>
                  </a:lnTo>
                  <a:cubicBezTo>
                    <a:pt x="3783423" y="459093"/>
                    <a:pt x="3777774" y="464741"/>
                    <a:pt x="3770807" y="464741"/>
                  </a:cubicBezTo>
                  <a:lnTo>
                    <a:pt x="12616" y="464741"/>
                  </a:lnTo>
                  <a:cubicBezTo>
                    <a:pt x="5648" y="464741"/>
                    <a:pt x="0" y="459093"/>
                    <a:pt x="0" y="452125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46474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767087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additional financial transaction data requirements, created the data template, tested the output and validated the enhanced data set.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7142421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0665" y="7137523"/>
            <a:ext cx="3535071" cy="10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Market data - FX rates &amp; forwards and</a:t>
            </a:r>
          </a:p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Interest rate curves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7154212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7150918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required market data, validated sources and outputs, tested and documented data requirements, and maintained new data requirements such as MMF rates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0665" y="4571066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API connectivity - Standard Kyriba Data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520058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Validated available API data, tested outputs and identified gaps against Treasury requirements.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428346" y="365325"/>
            <a:ext cx="600354" cy="663375"/>
          </a:xfrm>
          <a:custGeom>
            <a:avLst/>
            <a:gdLst/>
            <a:ahLst/>
            <a:cxnLst/>
            <a:rect r="r" b="b" t="t" l="l"/>
            <a:pathLst>
              <a:path h="663375" w="600354">
                <a:moveTo>
                  <a:pt x="0" y="0"/>
                </a:moveTo>
                <a:lnTo>
                  <a:pt x="600354" y="0"/>
                </a:lnTo>
                <a:lnTo>
                  <a:pt x="600354" y="663375"/>
                </a:lnTo>
                <a:lnTo>
                  <a:pt x="0" y="663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4151479" cy="370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4 — Optimisation &amp; Continuous Improvement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26002"/>
            <a:ext cx="911048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Turning the implemented Kyriba solution into a more efficient, user-friendly and scalable Treasury platform.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6516015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Optimising User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Improving navigation, visibility and usability across Treasury workflows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47556"/>
            <a:ext cx="4714100" cy="1147215"/>
            <a:chOff x="0" y="0"/>
            <a:chExt cx="1937533" cy="4715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71515"/>
            </a:xfrm>
            <a:custGeom>
              <a:avLst/>
              <a:gdLst/>
              <a:ahLst/>
              <a:cxnLst/>
              <a:rect r="r" b="b" t="t" l="l"/>
              <a:pathLst>
                <a:path h="471515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46880"/>
                  </a:lnTo>
                  <a:cubicBezTo>
                    <a:pt x="1937533" y="460486"/>
                    <a:pt x="1926504" y="471515"/>
                    <a:pt x="1912899" y="471515"/>
                  </a:cubicBezTo>
                  <a:lnTo>
                    <a:pt x="24634" y="471515"/>
                  </a:lnTo>
                  <a:cubicBezTo>
                    <a:pt x="18101" y="471515"/>
                    <a:pt x="11835" y="468919"/>
                    <a:pt x="7215" y="464299"/>
                  </a:cubicBezTo>
                  <a:cubicBezTo>
                    <a:pt x="2595" y="459680"/>
                    <a:pt x="0" y="453414"/>
                    <a:pt x="0" y="446880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7151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5963020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User Dashboards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64037"/>
            <a:ext cx="9205228" cy="1130734"/>
            <a:chOff x="0" y="0"/>
            <a:chExt cx="3783423" cy="464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464741"/>
            </a:xfrm>
            <a:custGeom>
              <a:avLst/>
              <a:gdLst/>
              <a:ahLst/>
              <a:cxnLst/>
              <a:rect r="r" b="b" t="t" l="l"/>
              <a:pathLst>
                <a:path h="464741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52125"/>
                  </a:lnTo>
                  <a:cubicBezTo>
                    <a:pt x="3783423" y="459093"/>
                    <a:pt x="3777774" y="464741"/>
                    <a:pt x="3770807" y="464741"/>
                  </a:cubicBezTo>
                  <a:lnTo>
                    <a:pt x="12616" y="464741"/>
                  </a:lnTo>
                  <a:cubicBezTo>
                    <a:pt x="5648" y="464741"/>
                    <a:pt x="0" y="459093"/>
                    <a:pt x="0" y="452125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46474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767087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Created personalised dashboards giving clients a clear view of positions and key Treasury information.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7142421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0665" y="7137523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Custom Views &amp; Templates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7154212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7150918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Built tailored views and templates for new, historical and outstanding trades, improving visibility and day-to-day monitoring.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0665" y="4571066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Navigation &amp; Menus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520058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Simplified menu structures and created shortcuts to make frequently used functions easier to access.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6995" y="8467757"/>
            <a:ext cx="4714100" cy="1056370"/>
            <a:chOff x="0" y="0"/>
            <a:chExt cx="1937533" cy="4341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90665" y="8462858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Transaction Input Screens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201839" y="8479548"/>
            <a:ext cx="9205228" cy="1056370"/>
            <a:chOff x="0" y="0"/>
            <a:chExt cx="3783423" cy="4341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602838" y="8476254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Created personalised input screens based on transaction type and user requirements.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6545661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Turning repetitive Treasury activities into scalable, controlled workflows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28506"/>
            <a:ext cx="4714100" cy="1512844"/>
            <a:chOff x="0" y="0"/>
            <a:chExt cx="1937533" cy="621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621791"/>
            </a:xfrm>
            <a:custGeom>
              <a:avLst/>
              <a:gdLst/>
              <a:ahLst/>
              <a:cxnLst/>
              <a:rect r="r" b="b" t="t" l="l"/>
              <a:pathLst>
                <a:path h="621791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97157"/>
                  </a:lnTo>
                  <a:cubicBezTo>
                    <a:pt x="1937533" y="603690"/>
                    <a:pt x="1934938" y="609956"/>
                    <a:pt x="1930318" y="614576"/>
                  </a:cubicBezTo>
                  <a:cubicBezTo>
                    <a:pt x="1925698" y="619195"/>
                    <a:pt x="1919432" y="621791"/>
                    <a:pt x="1912899" y="621791"/>
                  </a:cubicBezTo>
                  <a:lnTo>
                    <a:pt x="24634" y="621791"/>
                  </a:lnTo>
                  <a:cubicBezTo>
                    <a:pt x="11029" y="621791"/>
                    <a:pt x="0" y="610762"/>
                    <a:pt x="0" y="597157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62179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61364" y="6118544"/>
            <a:ext cx="3999517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Trade Confirmations — CSV &amp; Email Delivery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44987"/>
            <a:ext cx="9205228" cy="1496362"/>
            <a:chOff x="0" y="0"/>
            <a:chExt cx="3783423" cy="6150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615017"/>
            </a:xfrm>
            <a:custGeom>
              <a:avLst/>
              <a:gdLst/>
              <a:ahLst/>
              <a:cxnLst/>
              <a:rect r="r" b="b" t="t" l="l"/>
              <a:pathLst>
                <a:path h="615017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602401"/>
                  </a:lnTo>
                  <a:cubicBezTo>
                    <a:pt x="3783423" y="609369"/>
                    <a:pt x="3777774" y="615017"/>
                    <a:pt x="3770807" y="615017"/>
                  </a:cubicBezTo>
                  <a:lnTo>
                    <a:pt x="12616" y="615017"/>
                  </a:lnTo>
                  <a:cubicBezTo>
                    <a:pt x="5648" y="615017"/>
                    <a:pt x="0" y="609369"/>
                    <a:pt x="0" y="60240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61501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804136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and validated the trade-confirmation workflow, including CSV output and email-only recipients, enabling automated distribution to fund administrators without consuming full user licences.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81128" y="4411804"/>
            <a:ext cx="3959990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Client Reporting - Trades, Positions, Balances and Interest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4411804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reporting requirements and automated delivery processes, ensuring clients received the information they needed without manual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DAHSQwUMFNk</dc:identifier>
  <dcterms:modified xsi:type="dcterms:W3CDTF">2011-08-01T06:04:30Z</dcterms:modified>
  <cp:revision>1</cp:revision>
  <dc:title>kyriba-transformation.pptx</dc:title>
</cp:coreProperties>
</file>