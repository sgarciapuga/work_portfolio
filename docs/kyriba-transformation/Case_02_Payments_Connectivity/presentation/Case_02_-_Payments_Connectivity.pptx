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Montserrat Bold" charset="1" panose="00000800000000000000"/>
      <p:regular r:id="rId12"/>
    </p:embeddedFont>
    <p:embeddedFont>
      <p:font typeface="Poppins" charset="1" panose="00000500000000000000"/>
      <p:regular r:id="rId13"/>
    </p:embeddedFont>
    <p:embeddedFont>
      <p:font typeface="Poppins Italics" charset="1" panose="00000500000000000000"/>
      <p:regular r:id="rId14"/>
    </p:embeddedFont>
    <p:embeddedFont>
      <p:font typeface="Poppins Bold"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TextBox 2" id="2"/>
          <p:cNvSpPr txBox="true"/>
          <p:nvPr/>
        </p:nvSpPr>
        <p:spPr>
          <a:xfrm rot="0">
            <a:off x="2476500" y="2571750"/>
            <a:ext cx="13335000" cy="2714635"/>
          </a:xfrm>
          <a:prstGeom prst="rect">
            <a:avLst/>
          </a:prstGeom>
        </p:spPr>
        <p:txBody>
          <a:bodyPr anchor="t" rtlCol="false" tIns="0" lIns="0" bIns="0" rIns="0">
            <a:spAutoFit/>
          </a:bodyPr>
          <a:lstStyle/>
          <a:p>
            <a:pPr algn="ctr" marL="0" indent="0" lvl="0">
              <a:lnSpc>
                <a:spcPts val="10500"/>
              </a:lnSpc>
              <a:spcBef>
                <a:spcPct val="0"/>
              </a:spcBef>
            </a:pPr>
            <a:r>
              <a:rPr lang="en-US" b="true" sz="10000" strike="noStrike" u="none">
                <a:solidFill>
                  <a:srgbClr val="EFF1E8"/>
                </a:solidFill>
                <a:latin typeface="Montserrat Bold"/>
                <a:ea typeface="Montserrat Bold"/>
                <a:cs typeface="Montserrat Bold"/>
                <a:sym typeface="Montserrat Bold"/>
              </a:rPr>
              <a:t>Payments Connectivity</a:t>
            </a:r>
          </a:p>
        </p:txBody>
      </p:sp>
      <p:sp>
        <p:nvSpPr>
          <p:cNvPr name="Freeform 3" id="3"/>
          <p:cNvSpPr/>
          <p:nvPr/>
        </p:nvSpPr>
        <p:spPr>
          <a:xfrm flipH="false" flipV="false" rot="0">
            <a:off x="8705850" y="1143000"/>
            <a:ext cx="875611" cy="626062"/>
          </a:xfrm>
          <a:custGeom>
            <a:avLst/>
            <a:gdLst/>
            <a:ahLst/>
            <a:cxnLst/>
            <a:rect r="r" b="b" t="t" l="l"/>
            <a:pathLst>
              <a:path h="626062" w="875611">
                <a:moveTo>
                  <a:pt x="0" y="0"/>
                </a:moveTo>
                <a:lnTo>
                  <a:pt x="875611" y="0"/>
                </a:lnTo>
                <a:lnTo>
                  <a:pt x="875611" y="626062"/>
                </a:lnTo>
                <a:lnTo>
                  <a:pt x="0" y="6260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476500" y="5514975"/>
            <a:ext cx="13335000" cy="358750"/>
          </a:xfrm>
          <a:prstGeom prst="rect">
            <a:avLst/>
          </a:prstGeom>
        </p:spPr>
        <p:txBody>
          <a:bodyPr anchor="t" rtlCol="false" tIns="0" lIns="0" bIns="0" rIns="0">
            <a:spAutoFit/>
          </a:bodyPr>
          <a:lstStyle/>
          <a:p>
            <a:pPr algn="ctr" marL="0" indent="0" lvl="0">
              <a:lnSpc>
                <a:spcPts val="2798"/>
              </a:lnSpc>
              <a:spcBef>
                <a:spcPct val="0"/>
              </a:spcBef>
            </a:pPr>
            <a:r>
              <a:rPr lang="en-US" sz="1998" spc="224" strike="noStrike" u="none">
                <a:solidFill>
                  <a:srgbClr val="EFF1E8"/>
                </a:solidFill>
                <a:latin typeface="Poppins"/>
                <a:ea typeface="Poppins"/>
                <a:cs typeface="Poppins"/>
                <a:sym typeface="Poppins"/>
              </a:rPr>
              <a:t>Removing manual file handling from global treasury payments</a:t>
            </a:r>
          </a:p>
        </p:txBody>
      </p:sp>
      <p:sp>
        <p:nvSpPr>
          <p:cNvPr name="TextBox 5" id="5"/>
          <p:cNvSpPr txBox="true"/>
          <p:nvPr/>
        </p:nvSpPr>
        <p:spPr>
          <a:xfrm rot="0">
            <a:off x="2476500" y="5943600"/>
            <a:ext cx="13335000" cy="325735"/>
          </a:xfrm>
          <a:prstGeom prst="rect">
            <a:avLst/>
          </a:prstGeom>
        </p:spPr>
        <p:txBody>
          <a:bodyPr anchor="t" rtlCol="false" tIns="0" lIns="0" bIns="0" rIns="0">
            <a:spAutoFit/>
          </a:bodyPr>
          <a:lstStyle/>
          <a:p>
            <a:pPr algn="ctr" marL="0" indent="0" lvl="0">
              <a:lnSpc>
                <a:spcPts val="2518"/>
              </a:lnSpc>
              <a:spcBef>
                <a:spcPct val="0"/>
              </a:spcBef>
            </a:pPr>
            <a:r>
              <a:rPr lang="en-US" sz="1799" i="true" strike="noStrike" u="none">
                <a:solidFill>
                  <a:srgbClr val="EFF1E8"/>
                </a:solidFill>
                <a:latin typeface="Poppins Italics"/>
                <a:ea typeface="Poppins Italics"/>
                <a:cs typeface="Poppins Italics"/>
                <a:sym typeface="Poppins Italics"/>
              </a:rPr>
              <a:t>A case study in process redesign, bank integration, and payment automation.</a:t>
            </a:r>
          </a:p>
        </p:txBody>
      </p:sp>
      <p:sp>
        <p:nvSpPr>
          <p:cNvPr name="Freeform 6" id="6"/>
          <p:cNvSpPr/>
          <p:nvPr/>
        </p:nvSpPr>
        <p:spPr>
          <a:xfrm flipH="false" flipV="false" rot="0">
            <a:off x="-632374" y="-638026"/>
            <a:ext cx="3890986" cy="2129431"/>
          </a:xfrm>
          <a:custGeom>
            <a:avLst/>
            <a:gdLst/>
            <a:ahLst/>
            <a:cxnLst/>
            <a:rect r="r" b="b" t="t" l="l"/>
            <a:pathLst>
              <a:path h="2129431" w="3890986">
                <a:moveTo>
                  <a:pt x="0" y="0"/>
                </a:moveTo>
                <a:lnTo>
                  <a:pt x="3890986" y="0"/>
                </a:lnTo>
                <a:lnTo>
                  <a:pt x="3890986" y="2129431"/>
                </a:lnTo>
                <a:lnTo>
                  <a:pt x="0" y="21294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476500" y="1943100"/>
            <a:ext cx="13335000" cy="358750"/>
          </a:xfrm>
          <a:prstGeom prst="rect">
            <a:avLst/>
          </a:prstGeom>
        </p:spPr>
        <p:txBody>
          <a:bodyPr anchor="t" rtlCol="false" tIns="0" lIns="0" bIns="0" rIns="0">
            <a:spAutoFit/>
          </a:bodyPr>
          <a:lstStyle/>
          <a:p>
            <a:pPr algn="ctr" marL="0" indent="0" lvl="0">
              <a:lnSpc>
                <a:spcPts val="2798"/>
              </a:lnSpc>
              <a:spcBef>
                <a:spcPct val="0"/>
              </a:spcBef>
            </a:pPr>
            <a:r>
              <a:rPr lang="en-US" sz="1998" spc="224" strike="noStrike" u="none">
                <a:solidFill>
                  <a:srgbClr val="EFF1E8"/>
                </a:solidFill>
                <a:latin typeface="Poppins"/>
                <a:ea typeface="Poppins"/>
                <a:cs typeface="Poppins"/>
                <a:sym typeface="Poppins"/>
              </a:rPr>
              <a:t>KYRIBA TRANSFORMATION | CASE STUDY 02</a:t>
            </a:r>
          </a:p>
        </p:txBody>
      </p:sp>
      <p:sp>
        <p:nvSpPr>
          <p:cNvPr name="Freeform 8" id="8"/>
          <p:cNvSpPr/>
          <p:nvPr/>
        </p:nvSpPr>
        <p:spPr>
          <a:xfrm flipH="false" flipV="false" rot="0">
            <a:off x="5509919" y="7563169"/>
            <a:ext cx="7268161" cy="4114800"/>
          </a:xfrm>
          <a:custGeom>
            <a:avLst/>
            <a:gdLst/>
            <a:ahLst/>
            <a:cxnLst/>
            <a:rect r="r" b="b" t="t" l="l"/>
            <a:pathLst>
              <a:path h="4114800" w="7268161">
                <a:moveTo>
                  <a:pt x="0" y="0"/>
                </a:moveTo>
                <a:lnTo>
                  <a:pt x="7268162" y="0"/>
                </a:lnTo>
                <a:lnTo>
                  <a:pt x="726816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70A1BD"/>
        </a:solidFill>
      </p:bgPr>
    </p:bg>
    <p:spTree>
      <p:nvGrpSpPr>
        <p:cNvPr id="1" name=""/>
        <p:cNvGrpSpPr/>
        <p:nvPr/>
      </p:nvGrpSpPr>
      <p:grpSpPr>
        <a:xfrm>
          <a:off x="0" y="0"/>
          <a:ext cx="0" cy="0"/>
          <a:chOff x="0" y="0"/>
          <a:chExt cx="0" cy="0"/>
        </a:xfrm>
      </p:grpSpPr>
      <p:sp>
        <p:nvSpPr>
          <p:cNvPr name="TextBox 2" id="2"/>
          <p:cNvSpPr txBox="true"/>
          <p:nvPr/>
        </p:nvSpPr>
        <p:spPr>
          <a:xfrm rot="0">
            <a:off x="1028700" y="1171575"/>
            <a:ext cx="16192500" cy="711518"/>
          </a:xfrm>
          <a:prstGeom prst="rect">
            <a:avLst/>
          </a:prstGeom>
        </p:spPr>
        <p:txBody>
          <a:bodyPr anchor="t" rtlCol="false" tIns="0" lIns="0" bIns="0" rIns="0">
            <a:spAutoFit/>
          </a:bodyPr>
          <a:lstStyle/>
          <a:p>
            <a:pPr algn="l">
              <a:lnSpc>
                <a:spcPts val="5527"/>
              </a:lnSpc>
            </a:pPr>
            <a:r>
              <a:rPr lang="en-US" sz="5025" b="true">
                <a:solidFill>
                  <a:srgbClr val="EFF1E8"/>
                </a:solidFill>
                <a:latin typeface="Montserrat Bold"/>
                <a:ea typeface="Montserrat Bold"/>
                <a:cs typeface="Montserrat Bold"/>
                <a:sym typeface="Montserrat Bold"/>
              </a:rPr>
              <a:t>How Treasury Payments Work</a:t>
            </a:r>
          </a:p>
        </p:txBody>
      </p:sp>
      <p:sp>
        <p:nvSpPr>
          <p:cNvPr name="TextBox 3" id="3"/>
          <p:cNvSpPr txBox="true"/>
          <p:nvPr/>
        </p:nvSpPr>
        <p:spPr>
          <a:xfrm rot="0">
            <a:off x="1028700" y="2019300"/>
            <a:ext cx="14287500" cy="345758"/>
          </a:xfrm>
          <a:prstGeom prst="rect">
            <a:avLst/>
          </a:prstGeom>
        </p:spPr>
        <p:txBody>
          <a:bodyPr anchor="t" rtlCol="false" tIns="0" lIns="0" bIns="0" rIns="0">
            <a:spAutoFit/>
          </a:bodyPr>
          <a:lstStyle/>
          <a:p>
            <a:pPr algn="l">
              <a:lnSpc>
                <a:spcPts val="2632"/>
              </a:lnSpc>
            </a:pPr>
            <a:r>
              <a:rPr lang="en-US" sz="2025">
                <a:solidFill>
                  <a:srgbClr val="EFF1E8"/>
                </a:solidFill>
                <a:latin typeface="Poppins"/>
                <a:ea typeface="Poppins"/>
                <a:cs typeface="Poppins"/>
                <a:sym typeface="Poppins"/>
              </a:rPr>
              <a:t>The netting cycle behind every payment, and where third party payments and treasury transfers fit</a:t>
            </a:r>
          </a:p>
        </p:txBody>
      </p:sp>
      <p:sp>
        <p:nvSpPr>
          <p:cNvPr name="TextBox 4" id="4"/>
          <p:cNvSpPr txBox="true"/>
          <p:nvPr/>
        </p:nvSpPr>
        <p:spPr>
          <a:xfrm rot="0">
            <a:off x="1028700" y="3724275"/>
            <a:ext cx="10096500" cy="4396740"/>
          </a:xfrm>
          <a:prstGeom prst="rect">
            <a:avLst/>
          </a:prstGeom>
        </p:spPr>
        <p:txBody>
          <a:bodyPr anchor="t" rtlCol="false" tIns="0" lIns="0" bIns="0" rIns="0">
            <a:spAutoFit/>
          </a:bodyPr>
          <a:lstStyle/>
          <a:p>
            <a:pPr algn="l" marL="453390" indent="-226695" lvl="1">
              <a:lnSpc>
                <a:spcPts val="3150"/>
              </a:lnSpc>
              <a:buAutoNum type="arabicPeriod" startAt="1"/>
            </a:pPr>
            <a:r>
              <a:rPr lang="en-US" sz="2100">
                <a:solidFill>
                  <a:srgbClr val="EFF1E8"/>
                </a:solidFill>
                <a:latin typeface="Poppins"/>
                <a:ea typeface="Poppins"/>
                <a:cs typeface="Poppins"/>
                <a:sym typeface="Poppins"/>
              </a:rPr>
              <a:t>Group entities use Treasury as their cash hub, depositing surplus cash or drawing it down as loans or deposit withdrawals.</a:t>
            </a:r>
          </a:p>
          <a:p>
            <a:pPr algn="l" marL="453390" indent="-226695" lvl="1">
              <a:lnSpc>
                <a:spcPts val="3150"/>
              </a:lnSpc>
              <a:buAutoNum type="arabicPeriod" startAt="1"/>
            </a:pPr>
            <a:r>
              <a:rPr lang="en-US" sz="2100">
                <a:solidFill>
                  <a:srgbClr val="EFF1E8"/>
                </a:solidFill>
                <a:latin typeface="Poppins"/>
                <a:ea typeface="Poppins"/>
                <a:cs typeface="Poppins"/>
                <a:sym typeface="Poppins"/>
              </a:rPr>
              <a:t>Group entities can also pay each other for intercompany fees, drawdowns or distributions. These transactions stay inside the treasury system; only the netted amounts go out as payments.</a:t>
            </a:r>
          </a:p>
          <a:p>
            <a:pPr algn="l" marL="453390" indent="-226695" lvl="1">
              <a:lnSpc>
                <a:spcPts val="3150"/>
              </a:lnSpc>
              <a:buAutoNum type="arabicPeriod" startAt="1"/>
            </a:pPr>
            <a:r>
              <a:rPr lang="en-US" sz="2100">
                <a:solidFill>
                  <a:srgbClr val="EFF1E8"/>
                </a:solidFill>
                <a:latin typeface="Poppins"/>
                <a:ea typeface="Poppins"/>
                <a:cs typeface="Poppins"/>
                <a:sym typeface="Poppins"/>
              </a:rPr>
              <a:t>All of this feeds one daily netting position: Treasury tracks what is coming in and what is going out across every entity. The netting process runs one day before the value date, and net movements generate netted payments to the right entities.</a:t>
            </a:r>
          </a:p>
          <a:p>
            <a:pPr algn="l" marL="453390" indent="-226695" lvl="1">
              <a:lnSpc>
                <a:spcPts val="3150"/>
              </a:lnSpc>
              <a:buAutoNum type="arabicPeriod" startAt="1"/>
            </a:pPr>
            <a:r>
              <a:rPr lang="en-US" sz="2100">
                <a:solidFill>
                  <a:srgbClr val="EFF1E8"/>
                </a:solidFill>
                <a:latin typeface="Poppins"/>
                <a:ea typeface="Poppins"/>
                <a:cs typeface="Poppins"/>
                <a:sym typeface="Poppins"/>
              </a:rPr>
              <a:t>Treasury also makes third party payments and moves cash between the two banks where it holds accounts (</a:t>
            </a:r>
            <a:r>
              <a:rPr lang="en-US" b="true" sz="2100">
                <a:solidFill>
                  <a:srgbClr val="EFF1E8"/>
                </a:solidFill>
                <a:latin typeface="Poppins Bold"/>
                <a:ea typeface="Poppins Bold"/>
                <a:cs typeface="Poppins Bold"/>
                <a:sym typeface="Poppins Bold"/>
              </a:rPr>
              <a:t>Bank A and Bank B).</a:t>
            </a:r>
          </a:p>
        </p:txBody>
      </p:sp>
      <p:grpSp>
        <p:nvGrpSpPr>
          <p:cNvPr name="Group 5" id="5"/>
          <p:cNvGrpSpPr/>
          <p:nvPr/>
        </p:nvGrpSpPr>
        <p:grpSpPr>
          <a:xfrm rot="0">
            <a:off x="11525250" y="3895725"/>
            <a:ext cx="47625" cy="4133850"/>
            <a:chOff x="0" y="0"/>
            <a:chExt cx="63500" cy="5511800"/>
          </a:xfrm>
        </p:grpSpPr>
        <p:sp>
          <p:nvSpPr>
            <p:cNvPr name="Freeform 6" id="6"/>
            <p:cNvSpPr/>
            <p:nvPr/>
          </p:nvSpPr>
          <p:spPr>
            <a:xfrm flipH="false" flipV="false" rot="0">
              <a:off x="0" y="0"/>
              <a:ext cx="63500" cy="5511800"/>
            </a:xfrm>
            <a:custGeom>
              <a:avLst/>
              <a:gdLst/>
              <a:ahLst/>
              <a:cxnLst/>
              <a:rect r="r" b="b" t="t" l="l"/>
              <a:pathLst>
                <a:path h="5511800" w="63500">
                  <a:moveTo>
                    <a:pt x="0" y="0"/>
                  </a:moveTo>
                  <a:lnTo>
                    <a:pt x="63500" y="0"/>
                  </a:lnTo>
                  <a:lnTo>
                    <a:pt x="63500" y="5511800"/>
                  </a:lnTo>
                  <a:lnTo>
                    <a:pt x="0" y="5511800"/>
                  </a:lnTo>
                  <a:close/>
                </a:path>
              </a:pathLst>
            </a:custGeom>
            <a:solidFill>
              <a:srgbClr val="EFF1E8"/>
            </a:solidFill>
          </p:spPr>
        </p:sp>
        <p:sp>
          <p:nvSpPr>
            <p:cNvPr name="TextBox 7" id="7"/>
            <p:cNvSpPr txBox="true"/>
            <p:nvPr/>
          </p:nvSpPr>
          <p:spPr>
            <a:xfrm>
              <a:off x="0" y="-38100"/>
              <a:ext cx="63500" cy="55499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1296650" y="3895725"/>
            <a:ext cx="266700" cy="38100"/>
            <a:chOff x="0" y="0"/>
            <a:chExt cx="355600" cy="50800"/>
          </a:xfrm>
        </p:grpSpPr>
        <p:sp>
          <p:nvSpPr>
            <p:cNvPr name="Freeform 9" id="9"/>
            <p:cNvSpPr/>
            <p:nvPr/>
          </p:nvSpPr>
          <p:spPr>
            <a:xfrm flipH="false" flipV="false" rot="0">
              <a:off x="0" y="0"/>
              <a:ext cx="355600" cy="50800"/>
            </a:xfrm>
            <a:custGeom>
              <a:avLst/>
              <a:gdLst/>
              <a:ahLst/>
              <a:cxnLst/>
              <a:rect r="r" b="b" t="t" l="l"/>
              <a:pathLst>
                <a:path h="50800" w="355600">
                  <a:moveTo>
                    <a:pt x="0" y="0"/>
                  </a:moveTo>
                  <a:lnTo>
                    <a:pt x="355600" y="0"/>
                  </a:lnTo>
                  <a:lnTo>
                    <a:pt x="355600" y="50800"/>
                  </a:lnTo>
                  <a:lnTo>
                    <a:pt x="0" y="50800"/>
                  </a:lnTo>
                  <a:close/>
                </a:path>
              </a:pathLst>
            </a:custGeom>
            <a:solidFill>
              <a:srgbClr val="EFF1E8"/>
            </a:solidFill>
          </p:spPr>
        </p:sp>
        <p:sp>
          <p:nvSpPr>
            <p:cNvPr name="TextBox 10" id="10"/>
            <p:cNvSpPr txBox="true"/>
            <p:nvPr/>
          </p:nvSpPr>
          <p:spPr>
            <a:xfrm>
              <a:off x="0" y="-38100"/>
              <a:ext cx="355600" cy="889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11296650" y="7991475"/>
            <a:ext cx="266700" cy="38100"/>
            <a:chOff x="0" y="0"/>
            <a:chExt cx="355600" cy="50800"/>
          </a:xfrm>
        </p:grpSpPr>
        <p:sp>
          <p:nvSpPr>
            <p:cNvPr name="Freeform 12" id="12"/>
            <p:cNvSpPr/>
            <p:nvPr/>
          </p:nvSpPr>
          <p:spPr>
            <a:xfrm flipH="false" flipV="false" rot="0">
              <a:off x="0" y="0"/>
              <a:ext cx="355600" cy="50800"/>
            </a:xfrm>
            <a:custGeom>
              <a:avLst/>
              <a:gdLst/>
              <a:ahLst/>
              <a:cxnLst/>
              <a:rect r="r" b="b" t="t" l="l"/>
              <a:pathLst>
                <a:path h="50800" w="355600">
                  <a:moveTo>
                    <a:pt x="0" y="0"/>
                  </a:moveTo>
                  <a:lnTo>
                    <a:pt x="355600" y="0"/>
                  </a:lnTo>
                  <a:lnTo>
                    <a:pt x="355600" y="50800"/>
                  </a:lnTo>
                  <a:lnTo>
                    <a:pt x="0" y="50800"/>
                  </a:lnTo>
                  <a:close/>
                </a:path>
              </a:pathLst>
            </a:custGeom>
            <a:solidFill>
              <a:srgbClr val="EFF1E8"/>
            </a:solidFill>
          </p:spPr>
        </p:sp>
        <p:sp>
          <p:nvSpPr>
            <p:cNvPr name="TextBox 13" id="13"/>
            <p:cNvSpPr txBox="true"/>
            <p:nvPr/>
          </p:nvSpPr>
          <p:spPr>
            <a:xfrm>
              <a:off x="0" y="-38100"/>
              <a:ext cx="355600" cy="889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1563350" y="5943600"/>
            <a:ext cx="952500" cy="38100"/>
            <a:chOff x="0" y="0"/>
            <a:chExt cx="1270000" cy="50800"/>
          </a:xfrm>
        </p:grpSpPr>
        <p:sp>
          <p:nvSpPr>
            <p:cNvPr name="Freeform 15" id="15"/>
            <p:cNvSpPr/>
            <p:nvPr/>
          </p:nvSpPr>
          <p:spPr>
            <a:xfrm flipH="false" flipV="false" rot="0">
              <a:off x="0" y="0"/>
              <a:ext cx="1270000" cy="50800"/>
            </a:xfrm>
            <a:custGeom>
              <a:avLst/>
              <a:gdLst/>
              <a:ahLst/>
              <a:cxnLst/>
              <a:rect r="r" b="b" t="t" l="l"/>
              <a:pathLst>
                <a:path h="50800" w="1270000">
                  <a:moveTo>
                    <a:pt x="0" y="0"/>
                  </a:moveTo>
                  <a:lnTo>
                    <a:pt x="1270000" y="0"/>
                  </a:lnTo>
                  <a:lnTo>
                    <a:pt x="1270000" y="50800"/>
                  </a:lnTo>
                  <a:lnTo>
                    <a:pt x="0" y="50800"/>
                  </a:lnTo>
                  <a:close/>
                </a:path>
              </a:pathLst>
            </a:custGeom>
            <a:solidFill>
              <a:srgbClr val="EFF1E8"/>
            </a:solidFill>
          </p:spPr>
        </p:sp>
        <p:sp>
          <p:nvSpPr>
            <p:cNvPr name="TextBox 16" id="16"/>
            <p:cNvSpPr txBox="true"/>
            <p:nvPr/>
          </p:nvSpPr>
          <p:spPr>
            <a:xfrm>
              <a:off x="0" y="-38100"/>
              <a:ext cx="1270000" cy="889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2496800" y="5857875"/>
            <a:ext cx="190500" cy="209550"/>
            <a:chOff x="0" y="0"/>
            <a:chExt cx="254000" cy="279400"/>
          </a:xfrm>
        </p:grpSpPr>
        <p:sp>
          <p:nvSpPr>
            <p:cNvPr name="Freeform 18" id="18"/>
            <p:cNvSpPr/>
            <p:nvPr/>
          </p:nvSpPr>
          <p:spPr>
            <a:xfrm flipH="false" flipV="false" rot="0">
              <a:off x="0" y="0"/>
              <a:ext cx="254000" cy="279400"/>
            </a:xfrm>
            <a:custGeom>
              <a:avLst/>
              <a:gdLst/>
              <a:ahLst/>
              <a:cxnLst/>
              <a:rect r="r" b="b" t="t" l="l"/>
              <a:pathLst>
                <a:path h="279400" w="254000">
                  <a:moveTo>
                    <a:pt x="0" y="0"/>
                  </a:moveTo>
                  <a:lnTo>
                    <a:pt x="254000" y="139700"/>
                  </a:lnTo>
                  <a:lnTo>
                    <a:pt x="0" y="279400"/>
                  </a:lnTo>
                  <a:close/>
                </a:path>
              </a:pathLst>
            </a:custGeom>
            <a:solidFill>
              <a:srgbClr val="EFF1E8"/>
            </a:solidFill>
          </p:spPr>
        </p:sp>
        <p:sp>
          <p:nvSpPr>
            <p:cNvPr name="TextBox 19" id="19"/>
            <p:cNvSpPr txBox="true"/>
            <p:nvPr/>
          </p:nvSpPr>
          <p:spPr>
            <a:xfrm>
              <a:off x="0" y="-38100"/>
              <a:ext cx="254000" cy="3175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12782550" y="3724275"/>
            <a:ext cx="4476750" cy="4476750"/>
            <a:chOff x="0" y="0"/>
            <a:chExt cx="5969000" cy="5969000"/>
          </a:xfrm>
        </p:grpSpPr>
        <p:sp>
          <p:nvSpPr>
            <p:cNvPr name="Freeform 21" id="21"/>
            <p:cNvSpPr/>
            <p:nvPr/>
          </p:nvSpPr>
          <p:spPr>
            <a:xfrm flipH="false" flipV="false" rot="0">
              <a:off x="0" y="0"/>
              <a:ext cx="5969000" cy="5969000"/>
            </a:xfrm>
            <a:custGeom>
              <a:avLst/>
              <a:gdLst/>
              <a:ahLst/>
              <a:cxnLst/>
              <a:rect r="r" b="b" t="t" l="l"/>
              <a:pathLst>
                <a:path h="5969000" w="5969000">
                  <a:moveTo>
                    <a:pt x="2984500" y="0"/>
                  </a:moveTo>
                  <a:cubicBezTo>
                    <a:pt x="1336206" y="0"/>
                    <a:pt x="0" y="1336206"/>
                    <a:pt x="0" y="2984500"/>
                  </a:cubicBezTo>
                  <a:cubicBezTo>
                    <a:pt x="0" y="4632794"/>
                    <a:pt x="1336206" y="5969000"/>
                    <a:pt x="2984500" y="5969000"/>
                  </a:cubicBezTo>
                  <a:cubicBezTo>
                    <a:pt x="4632794" y="5969000"/>
                    <a:pt x="5969000" y="4632794"/>
                    <a:pt x="5969000" y="2984500"/>
                  </a:cubicBezTo>
                  <a:cubicBezTo>
                    <a:pt x="5969000" y="1336206"/>
                    <a:pt x="4632794" y="0"/>
                    <a:pt x="2984500" y="0"/>
                  </a:cubicBezTo>
                  <a:close/>
                </a:path>
              </a:pathLst>
            </a:custGeom>
            <a:solidFill>
              <a:srgbClr val="EFF1E8"/>
            </a:solidFill>
          </p:spPr>
        </p:sp>
        <p:sp>
          <p:nvSpPr>
            <p:cNvPr name="TextBox 22" id="22"/>
            <p:cNvSpPr txBox="true"/>
            <p:nvPr/>
          </p:nvSpPr>
          <p:spPr>
            <a:xfrm>
              <a:off x="0" y="-38100"/>
              <a:ext cx="5969000" cy="6007100"/>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13401675" y="4562475"/>
            <a:ext cx="3238500" cy="2750820"/>
          </a:xfrm>
          <a:prstGeom prst="rect">
            <a:avLst/>
          </a:prstGeom>
        </p:spPr>
        <p:txBody>
          <a:bodyPr anchor="t" rtlCol="false" tIns="0" lIns="0" bIns="0" rIns="0">
            <a:spAutoFit/>
          </a:bodyPr>
          <a:lstStyle/>
          <a:p>
            <a:pPr algn="ctr">
              <a:lnSpc>
                <a:spcPts val="2729"/>
              </a:lnSpc>
            </a:pPr>
            <a:r>
              <a:rPr lang="en-US" sz="1950">
                <a:solidFill>
                  <a:srgbClr val="70A1BD"/>
                </a:solidFill>
                <a:latin typeface="Poppins"/>
                <a:ea typeface="Poppins"/>
                <a:cs typeface="Poppins"/>
                <a:sym typeface="Poppins"/>
              </a:rPr>
              <a:t>5. All of these — netting, third party payments, and treasury transfers — are generated and sent for approval in one payment run. Everything is ready for cash to settle on the value date.</a:t>
            </a:r>
          </a:p>
        </p:txBody>
      </p:sp>
      <p:sp>
        <p:nvSpPr>
          <p:cNvPr name="TextBox 24" id="24"/>
          <p:cNvSpPr txBox="true"/>
          <p:nvPr/>
        </p:nvSpPr>
        <p:spPr>
          <a:xfrm rot="0">
            <a:off x="1028700" y="8705850"/>
            <a:ext cx="16192500" cy="375285"/>
          </a:xfrm>
          <a:prstGeom prst="rect">
            <a:avLst/>
          </a:prstGeom>
        </p:spPr>
        <p:txBody>
          <a:bodyPr anchor="t" rtlCol="false" tIns="0" lIns="0" bIns="0" rIns="0">
            <a:spAutoFit/>
          </a:bodyPr>
          <a:lstStyle/>
          <a:p>
            <a:pPr algn="l">
              <a:lnSpc>
                <a:spcPts val="2940"/>
              </a:lnSpc>
            </a:pPr>
            <a:r>
              <a:rPr lang="en-US" sz="2100" b="true">
                <a:solidFill>
                  <a:srgbClr val="EFF1E8"/>
                </a:solidFill>
                <a:latin typeface="Poppins Bold"/>
                <a:ea typeface="Poppins Bold"/>
                <a:cs typeface="Poppins Bold"/>
                <a:sym typeface="Poppins Bold"/>
              </a:rPr>
              <a:t>Before this project, these payments were sent with manual file uploads, bank portals and faxes.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70A1BD"/>
        </a:solidFill>
      </p:bgPr>
    </p:bg>
    <p:spTree>
      <p:nvGrpSpPr>
        <p:cNvPr id="1" name=""/>
        <p:cNvGrpSpPr/>
        <p:nvPr/>
      </p:nvGrpSpPr>
      <p:grpSpPr>
        <a:xfrm>
          <a:off x="0" y="0"/>
          <a:ext cx="0" cy="0"/>
          <a:chOff x="0" y="0"/>
          <a:chExt cx="0" cy="0"/>
        </a:xfrm>
      </p:grpSpPr>
      <p:sp>
        <p:nvSpPr>
          <p:cNvPr name="TextBox 2" id="2"/>
          <p:cNvSpPr txBox="true"/>
          <p:nvPr/>
        </p:nvSpPr>
        <p:spPr>
          <a:xfrm rot="0">
            <a:off x="1028700" y="1181100"/>
            <a:ext cx="16192500" cy="670560"/>
          </a:xfrm>
          <a:prstGeom prst="rect">
            <a:avLst/>
          </a:prstGeom>
        </p:spPr>
        <p:txBody>
          <a:bodyPr anchor="t" rtlCol="false" tIns="0" lIns="0" bIns="0" rIns="0">
            <a:spAutoFit/>
          </a:bodyPr>
          <a:lstStyle/>
          <a:p>
            <a:pPr algn="l">
              <a:lnSpc>
                <a:spcPts val="5280"/>
              </a:lnSpc>
            </a:pPr>
            <a:r>
              <a:rPr lang="en-US" sz="4800" b="true">
                <a:solidFill>
                  <a:srgbClr val="EFF1E8"/>
                </a:solidFill>
                <a:latin typeface="Montserrat Bold"/>
                <a:ea typeface="Montserrat Bold"/>
                <a:cs typeface="Montserrat Bold"/>
                <a:sym typeface="Montserrat Bold"/>
              </a:rPr>
              <a:t>How Netting Works</a:t>
            </a:r>
          </a:p>
        </p:txBody>
      </p:sp>
      <p:sp>
        <p:nvSpPr>
          <p:cNvPr name="TextBox 3" id="3"/>
          <p:cNvSpPr txBox="true"/>
          <p:nvPr/>
        </p:nvSpPr>
        <p:spPr>
          <a:xfrm rot="0">
            <a:off x="1028700" y="1981200"/>
            <a:ext cx="16192500" cy="345758"/>
          </a:xfrm>
          <a:prstGeom prst="rect">
            <a:avLst/>
          </a:prstGeom>
        </p:spPr>
        <p:txBody>
          <a:bodyPr anchor="t" rtlCol="false" tIns="0" lIns="0" bIns="0" rIns="0">
            <a:spAutoFit/>
          </a:bodyPr>
          <a:lstStyle/>
          <a:p>
            <a:pPr algn="l">
              <a:lnSpc>
                <a:spcPts val="2632"/>
              </a:lnSpc>
            </a:pPr>
            <a:r>
              <a:rPr lang="en-US" sz="2025">
                <a:solidFill>
                  <a:srgbClr val="EFF1E8"/>
                </a:solidFill>
                <a:latin typeface="Poppins"/>
                <a:ea typeface="Poppins"/>
                <a:cs typeface="Poppins"/>
                <a:sym typeface="Poppins"/>
              </a:rPr>
              <a:t>Group entity transactions stay inside Kyriba. Only the netted amounts go out as payments.</a:t>
            </a:r>
          </a:p>
        </p:txBody>
      </p:sp>
      <p:grpSp>
        <p:nvGrpSpPr>
          <p:cNvPr name="Group 4" id="4"/>
          <p:cNvGrpSpPr/>
          <p:nvPr/>
        </p:nvGrpSpPr>
        <p:grpSpPr>
          <a:xfrm rot="0">
            <a:off x="3048000" y="2762250"/>
            <a:ext cx="12192000" cy="6096000"/>
            <a:chOff x="0" y="0"/>
            <a:chExt cx="16256000" cy="8128000"/>
          </a:xfrm>
        </p:grpSpPr>
        <p:sp>
          <p:nvSpPr>
            <p:cNvPr name="Freeform 5" id="5"/>
            <p:cNvSpPr/>
            <p:nvPr/>
          </p:nvSpPr>
          <p:spPr>
            <a:xfrm flipH="false" flipV="false" rot="0">
              <a:off x="0" y="0"/>
              <a:ext cx="16256000" cy="8128000"/>
            </a:xfrm>
            <a:custGeom>
              <a:avLst/>
              <a:gdLst/>
              <a:ahLst/>
              <a:cxnLst/>
              <a:rect r="r" b="b" t="t" l="l"/>
              <a:pathLst>
                <a:path h="8128000" w="16256000">
                  <a:moveTo>
                    <a:pt x="25400" y="0"/>
                  </a:moveTo>
                  <a:lnTo>
                    <a:pt x="16230600" y="0"/>
                  </a:lnTo>
                  <a:cubicBezTo>
                    <a:pt x="16244629" y="0"/>
                    <a:pt x="16256000" y="11372"/>
                    <a:pt x="16256000" y="25400"/>
                  </a:cubicBezTo>
                  <a:lnTo>
                    <a:pt x="16256000" y="8102600"/>
                  </a:lnTo>
                  <a:cubicBezTo>
                    <a:pt x="16256000" y="8116628"/>
                    <a:pt x="16244629" y="8128000"/>
                    <a:pt x="16230600" y="8128000"/>
                  </a:cubicBezTo>
                  <a:lnTo>
                    <a:pt x="25400" y="8128000"/>
                  </a:lnTo>
                  <a:cubicBezTo>
                    <a:pt x="11372" y="8128000"/>
                    <a:pt x="0" y="8116628"/>
                    <a:pt x="0" y="8102600"/>
                  </a:cubicBezTo>
                  <a:lnTo>
                    <a:pt x="0" y="25400"/>
                  </a:lnTo>
                  <a:cubicBezTo>
                    <a:pt x="0" y="11372"/>
                    <a:pt x="11372" y="0"/>
                    <a:pt x="25400" y="0"/>
                  </a:cubicBezTo>
                  <a:close/>
                </a:path>
              </a:pathLst>
            </a:custGeom>
            <a:solidFill>
              <a:srgbClr val="EFF1E8"/>
            </a:solidFill>
          </p:spPr>
        </p:sp>
        <p:sp>
          <p:nvSpPr>
            <p:cNvPr name="TextBox 6" id="6"/>
            <p:cNvSpPr txBox="true"/>
            <p:nvPr/>
          </p:nvSpPr>
          <p:spPr>
            <a:xfrm>
              <a:off x="0" y="-28575"/>
              <a:ext cx="16256000" cy="8156575"/>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3238500" y="3352800"/>
            <a:ext cx="247650" cy="247650"/>
            <a:chOff x="0" y="0"/>
            <a:chExt cx="330200" cy="330200"/>
          </a:xfrm>
        </p:grpSpPr>
        <p:sp>
          <p:nvSpPr>
            <p:cNvPr name="Freeform 8" id="8"/>
            <p:cNvSpPr/>
            <p:nvPr/>
          </p:nvSpPr>
          <p:spPr>
            <a:xfrm flipH="false" flipV="false" rot="0">
              <a:off x="0" y="0"/>
              <a:ext cx="330200" cy="330200"/>
            </a:xfrm>
            <a:custGeom>
              <a:avLst/>
              <a:gdLst/>
              <a:ahLst/>
              <a:cxnLst/>
              <a:rect r="r" b="b" t="t" l="l"/>
              <a:pathLst>
                <a:path h="330200" w="330200">
                  <a:moveTo>
                    <a:pt x="165100" y="0"/>
                  </a:moveTo>
                  <a:cubicBezTo>
                    <a:pt x="73918" y="0"/>
                    <a:pt x="0" y="73918"/>
                    <a:pt x="0" y="165100"/>
                  </a:cubicBezTo>
                  <a:cubicBezTo>
                    <a:pt x="0" y="256282"/>
                    <a:pt x="73918" y="330200"/>
                    <a:pt x="165100" y="330200"/>
                  </a:cubicBezTo>
                  <a:cubicBezTo>
                    <a:pt x="256282" y="330200"/>
                    <a:pt x="330200" y="256282"/>
                    <a:pt x="330200" y="165100"/>
                  </a:cubicBezTo>
                  <a:cubicBezTo>
                    <a:pt x="330200" y="73918"/>
                    <a:pt x="256282" y="0"/>
                    <a:pt x="165100" y="0"/>
                  </a:cubicBezTo>
                  <a:close/>
                </a:path>
              </a:pathLst>
            </a:custGeom>
            <a:solidFill>
              <a:srgbClr val="70A1BD"/>
            </a:solidFill>
          </p:spPr>
        </p:sp>
        <p:sp>
          <p:nvSpPr>
            <p:cNvPr name="TextBox 9" id="9"/>
            <p:cNvSpPr txBox="true"/>
            <p:nvPr/>
          </p:nvSpPr>
          <p:spPr>
            <a:xfrm>
              <a:off x="0" y="-28575"/>
              <a:ext cx="330200" cy="358775"/>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067425" y="3714750"/>
            <a:ext cx="1238250" cy="571500"/>
            <a:chOff x="0" y="0"/>
            <a:chExt cx="1651000" cy="762000"/>
          </a:xfrm>
        </p:grpSpPr>
        <p:sp>
          <p:nvSpPr>
            <p:cNvPr name="Freeform 11" id="11"/>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2" id="12"/>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8515350" y="3714750"/>
            <a:ext cx="1238250" cy="571500"/>
            <a:chOff x="0" y="0"/>
            <a:chExt cx="1651000" cy="762000"/>
          </a:xfrm>
        </p:grpSpPr>
        <p:sp>
          <p:nvSpPr>
            <p:cNvPr name="Freeform 14" id="14"/>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5" id="15"/>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10963275" y="3714750"/>
            <a:ext cx="1238250" cy="571500"/>
            <a:chOff x="0" y="0"/>
            <a:chExt cx="1651000" cy="762000"/>
          </a:xfrm>
        </p:grpSpPr>
        <p:sp>
          <p:nvSpPr>
            <p:cNvPr name="Freeform 17" id="17"/>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8" id="18"/>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7305675" y="3976688"/>
            <a:ext cx="1038225" cy="47625"/>
            <a:chOff x="0" y="0"/>
            <a:chExt cx="1384300" cy="63500"/>
          </a:xfrm>
        </p:grpSpPr>
        <p:sp>
          <p:nvSpPr>
            <p:cNvPr name="Freeform 20" id="20"/>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21" id="21"/>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8343900" y="3914775"/>
            <a:ext cx="171450" cy="171450"/>
            <a:chOff x="0" y="0"/>
            <a:chExt cx="228600" cy="228600"/>
          </a:xfrm>
        </p:grpSpPr>
        <p:sp>
          <p:nvSpPr>
            <p:cNvPr name="Freeform 23" id="23"/>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24" id="24"/>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9753600" y="3976688"/>
            <a:ext cx="1038225" cy="47625"/>
            <a:chOff x="0" y="0"/>
            <a:chExt cx="1384300" cy="63500"/>
          </a:xfrm>
        </p:grpSpPr>
        <p:sp>
          <p:nvSpPr>
            <p:cNvPr name="Freeform 26" id="26"/>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27" id="27"/>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10791825" y="3914775"/>
            <a:ext cx="171450" cy="171450"/>
            <a:chOff x="0" y="0"/>
            <a:chExt cx="228600" cy="228600"/>
          </a:xfrm>
        </p:grpSpPr>
        <p:sp>
          <p:nvSpPr>
            <p:cNvPr name="Freeform 29" id="29"/>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30" id="30"/>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31" id="31"/>
          <p:cNvGrpSpPr/>
          <p:nvPr/>
        </p:nvGrpSpPr>
        <p:grpSpPr>
          <a:xfrm rot="0">
            <a:off x="3429000" y="3714750"/>
            <a:ext cx="1428750" cy="571500"/>
            <a:chOff x="0" y="0"/>
            <a:chExt cx="1905000" cy="762000"/>
          </a:xfrm>
        </p:grpSpPr>
        <p:sp>
          <p:nvSpPr>
            <p:cNvPr name="Freeform 32" id="32"/>
            <p:cNvSpPr/>
            <p:nvPr/>
          </p:nvSpPr>
          <p:spPr>
            <a:xfrm flipH="false" flipV="false" rot="0">
              <a:off x="0" y="0"/>
              <a:ext cx="1905000" cy="762000"/>
            </a:xfrm>
            <a:custGeom>
              <a:avLst/>
              <a:gdLst/>
              <a:ahLst/>
              <a:cxnLst/>
              <a:rect r="r" b="b" t="t" l="l"/>
              <a:pathLst>
                <a:path h="762000" w="1905000">
                  <a:moveTo>
                    <a:pt x="65024" y="0"/>
                  </a:moveTo>
                  <a:lnTo>
                    <a:pt x="1839976" y="0"/>
                  </a:lnTo>
                  <a:cubicBezTo>
                    <a:pt x="1857222" y="0"/>
                    <a:pt x="1873761" y="6851"/>
                    <a:pt x="1885955" y="19045"/>
                  </a:cubicBezTo>
                  <a:cubicBezTo>
                    <a:pt x="1898149" y="31239"/>
                    <a:pt x="1905000" y="47779"/>
                    <a:pt x="1905000" y="65024"/>
                  </a:cubicBezTo>
                  <a:lnTo>
                    <a:pt x="1905000" y="696976"/>
                  </a:lnTo>
                  <a:cubicBezTo>
                    <a:pt x="1905000" y="714221"/>
                    <a:pt x="1898149" y="730761"/>
                    <a:pt x="1885955" y="742955"/>
                  </a:cubicBezTo>
                  <a:cubicBezTo>
                    <a:pt x="1873761" y="755149"/>
                    <a:pt x="1857222" y="762000"/>
                    <a:pt x="1839976" y="762000"/>
                  </a:cubicBezTo>
                  <a:lnTo>
                    <a:pt x="65024" y="762000"/>
                  </a:lnTo>
                  <a:cubicBezTo>
                    <a:pt x="29112" y="762000"/>
                    <a:pt x="0" y="732888"/>
                    <a:pt x="0" y="696976"/>
                  </a:cubicBezTo>
                  <a:lnTo>
                    <a:pt x="0" y="65024"/>
                  </a:lnTo>
                  <a:cubicBezTo>
                    <a:pt x="0" y="29112"/>
                    <a:pt x="29112" y="0"/>
                    <a:pt x="65024" y="0"/>
                  </a:cubicBezTo>
                  <a:close/>
                </a:path>
              </a:pathLst>
            </a:custGeom>
            <a:solidFill>
              <a:srgbClr val="70A1BD"/>
            </a:solidFill>
          </p:spPr>
        </p:sp>
        <p:sp>
          <p:nvSpPr>
            <p:cNvPr name="TextBox 33" id="33"/>
            <p:cNvSpPr txBox="true"/>
            <p:nvPr/>
          </p:nvSpPr>
          <p:spPr>
            <a:xfrm>
              <a:off x="0" y="-28575"/>
              <a:ext cx="1905000" cy="790575"/>
            </a:xfrm>
            <a:prstGeom prst="rect">
              <a:avLst/>
            </a:prstGeom>
          </p:spPr>
          <p:txBody>
            <a:bodyPr anchor="ctr" rtlCol="false" tIns="50800" lIns="50800" bIns="50800" rIns="50800"/>
            <a:lstStyle/>
            <a:p>
              <a:pPr algn="l">
                <a:lnSpc>
                  <a:spcPts val="1679"/>
                </a:lnSpc>
              </a:pPr>
            </a:p>
          </p:txBody>
        </p:sp>
      </p:grpSp>
      <p:grpSp>
        <p:nvGrpSpPr>
          <p:cNvPr name="Group 34" id="34"/>
          <p:cNvGrpSpPr/>
          <p:nvPr/>
        </p:nvGrpSpPr>
        <p:grpSpPr>
          <a:xfrm rot="0">
            <a:off x="4857750" y="3976688"/>
            <a:ext cx="1038225" cy="47625"/>
            <a:chOff x="0" y="0"/>
            <a:chExt cx="1384300" cy="63500"/>
          </a:xfrm>
        </p:grpSpPr>
        <p:sp>
          <p:nvSpPr>
            <p:cNvPr name="Freeform 35" id="35"/>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36" id="36"/>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5895975" y="3914775"/>
            <a:ext cx="171450" cy="171450"/>
            <a:chOff x="0" y="0"/>
            <a:chExt cx="228600" cy="228600"/>
          </a:xfrm>
        </p:grpSpPr>
        <p:sp>
          <p:nvSpPr>
            <p:cNvPr name="Freeform 38" id="38"/>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39" id="39"/>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40" id="40"/>
          <p:cNvGrpSpPr/>
          <p:nvPr/>
        </p:nvGrpSpPr>
        <p:grpSpPr>
          <a:xfrm rot="0">
            <a:off x="13411200" y="3714750"/>
            <a:ext cx="1428750" cy="571500"/>
            <a:chOff x="0" y="0"/>
            <a:chExt cx="1905000" cy="762000"/>
          </a:xfrm>
        </p:grpSpPr>
        <p:sp>
          <p:nvSpPr>
            <p:cNvPr name="Freeform 41" id="41"/>
            <p:cNvSpPr/>
            <p:nvPr/>
          </p:nvSpPr>
          <p:spPr>
            <a:xfrm flipH="false" flipV="false" rot="0">
              <a:off x="0" y="0"/>
              <a:ext cx="1905000" cy="762000"/>
            </a:xfrm>
            <a:custGeom>
              <a:avLst/>
              <a:gdLst/>
              <a:ahLst/>
              <a:cxnLst/>
              <a:rect r="r" b="b" t="t" l="l"/>
              <a:pathLst>
                <a:path h="762000" w="1905000">
                  <a:moveTo>
                    <a:pt x="65024" y="0"/>
                  </a:moveTo>
                  <a:lnTo>
                    <a:pt x="1839976" y="0"/>
                  </a:lnTo>
                  <a:cubicBezTo>
                    <a:pt x="1857222" y="0"/>
                    <a:pt x="1873761" y="6851"/>
                    <a:pt x="1885955" y="19045"/>
                  </a:cubicBezTo>
                  <a:cubicBezTo>
                    <a:pt x="1898149" y="31239"/>
                    <a:pt x="1905000" y="47779"/>
                    <a:pt x="1905000" y="65024"/>
                  </a:cubicBezTo>
                  <a:lnTo>
                    <a:pt x="1905000" y="696976"/>
                  </a:lnTo>
                  <a:cubicBezTo>
                    <a:pt x="1905000" y="714221"/>
                    <a:pt x="1898149" y="730761"/>
                    <a:pt x="1885955" y="742955"/>
                  </a:cubicBezTo>
                  <a:cubicBezTo>
                    <a:pt x="1873761" y="755149"/>
                    <a:pt x="1857222" y="762000"/>
                    <a:pt x="1839976" y="762000"/>
                  </a:cubicBezTo>
                  <a:lnTo>
                    <a:pt x="65024" y="762000"/>
                  </a:lnTo>
                  <a:cubicBezTo>
                    <a:pt x="29112" y="762000"/>
                    <a:pt x="0" y="732888"/>
                    <a:pt x="0" y="696976"/>
                  </a:cubicBezTo>
                  <a:lnTo>
                    <a:pt x="0" y="65024"/>
                  </a:lnTo>
                  <a:cubicBezTo>
                    <a:pt x="0" y="29112"/>
                    <a:pt x="29112" y="0"/>
                    <a:pt x="65024" y="0"/>
                  </a:cubicBezTo>
                  <a:close/>
                </a:path>
              </a:pathLst>
            </a:custGeom>
            <a:solidFill>
              <a:srgbClr val="70A1BD"/>
            </a:solidFill>
          </p:spPr>
        </p:sp>
        <p:sp>
          <p:nvSpPr>
            <p:cNvPr name="TextBox 42" id="42"/>
            <p:cNvSpPr txBox="true"/>
            <p:nvPr/>
          </p:nvSpPr>
          <p:spPr>
            <a:xfrm>
              <a:off x="0" y="-28575"/>
              <a:ext cx="1905000" cy="790575"/>
            </a:xfrm>
            <a:prstGeom prst="rect">
              <a:avLst/>
            </a:prstGeom>
          </p:spPr>
          <p:txBody>
            <a:bodyPr anchor="ctr" rtlCol="false" tIns="50800" lIns="50800" bIns="50800" rIns="50800"/>
            <a:lstStyle/>
            <a:p>
              <a:pPr algn="l">
                <a:lnSpc>
                  <a:spcPts val="1679"/>
                </a:lnSpc>
              </a:pPr>
            </a:p>
          </p:txBody>
        </p:sp>
      </p:grpSp>
      <p:grpSp>
        <p:nvGrpSpPr>
          <p:cNvPr name="Group 43" id="43"/>
          <p:cNvGrpSpPr/>
          <p:nvPr/>
        </p:nvGrpSpPr>
        <p:grpSpPr>
          <a:xfrm rot="0">
            <a:off x="12201525" y="3976688"/>
            <a:ext cx="1038225" cy="47625"/>
            <a:chOff x="0" y="0"/>
            <a:chExt cx="1384300" cy="63500"/>
          </a:xfrm>
        </p:grpSpPr>
        <p:sp>
          <p:nvSpPr>
            <p:cNvPr name="Freeform 44" id="44"/>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45" id="45"/>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46" id="46"/>
          <p:cNvGrpSpPr/>
          <p:nvPr/>
        </p:nvGrpSpPr>
        <p:grpSpPr>
          <a:xfrm rot="0">
            <a:off x="13239750" y="3914775"/>
            <a:ext cx="171450" cy="171450"/>
            <a:chOff x="0" y="0"/>
            <a:chExt cx="228600" cy="228600"/>
          </a:xfrm>
        </p:grpSpPr>
        <p:sp>
          <p:nvSpPr>
            <p:cNvPr name="Freeform 47" id="47"/>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48" id="48"/>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49" id="49"/>
          <p:cNvGrpSpPr/>
          <p:nvPr/>
        </p:nvGrpSpPr>
        <p:grpSpPr>
          <a:xfrm rot="0">
            <a:off x="3238500" y="4781550"/>
            <a:ext cx="247650" cy="247650"/>
            <a:chOff x="0" y="0"/>
            <a:chExt cx="330200" cy="330200"/>
          </a:xfrm>
        </p:grpSpPr>
        <p:sp>
          <p:nvSpPr>
            <p:cNvPr name="Freeform 50" id="50"/>
            <p:cNvSpPr/>
            <p:nvPr/>
          </p:nvSpPr>
          <p:spPr>
            <a:xfrm flipH="false" flipV="false" rot="0">
              <a:off x="0" y="0"/>
              <a:ext cx="330200" cy="330200"/>
            </a:xfrm>
            <a:custGeom>
              <a:avLst/>
              <a:gdLst/>
              <a:ahLst/>
              <a:cxnLst/>
              <a:rect r="r" b="b" t="t" l="l"/>
              <a:pathLst>
                <a:path h="330200" w="330200">
                  <a:moveTo>
                    <a:pt x="165100" y="0"/>
                  </a:moveTo>
                  <a:cubicBezTo>
                    <a:pt x="73918" y="0"/>
                    <a:pt x="0" y="73918"/>
                    <a:pt x="0" y="165100"/>
                  </a:cubicBezTo>
                  <a:cubicBezTo>
                    <a:pt x="0" y="256282"/>
                    <a:pt x="73918" y="330200"/>
                    <a:pt x="165100" y="330200"/>
                  </a:cubicBezTo>
                  <a:cubicBezTo>
                    <a:pt x="256282" y="330200"/>
                    <a:pt x="330200" y="256282"/>
                    <a:pt x="330200" y="165100"/>
                  </a:cubicBezTo>
                  <a:cubicBezTo>
                    <a:pt x="330200" y="73918"/>
                    <a:pt x="256282" y="0"/>
                    <a:pt x="165100" y="0"/>
                  </a:cubicBezTo>
                  <a:close/>
                </a:path>
              </a:pathLst>
            </a:custGeom>
            <a:solidFill>
              <a:srgbClr val="70A1BD"/>
            </a:solidFill>
          </p:spPr>
        </p:sp>
        <p:sp>
          <p:nvSpPr>
            <p:cNvPr name="TextBox 51" id="51"/>
            <p:cNvSpPr txBox="true"/>
            <p:nvPr/>
          </p:nvSpPr>
          <p:spPr>
            <a:xfrm>
              <a:off x="0" y="-28575"/>
              <a:ext cx="330200" cy="358775"/>
            </a:xfrm>
            <a:prstGeom prst="rect">
              <a:avLst/>
            </a:prstGeom>
          </p:spPr>
          <p:txBody>
            <a:bodyPr anchor="ctr" rtlCol="false" tIns="50800" lIns="50800" bIns="50800" rIns="50800"/>
            <a:lstStyle/>
            <a:p>
              <a:pPr algn="l">
                <a:lnSpc>
                  <a:spcPts val="1679"/>
                </a:lnSpc>
              </a:pPr>
            </a:p>
          </p:txBody>
        </p:sp>
      </p:grpSp>
      <p:grpSp>
        <p:nvGrpSpPr>
          <p:cNvPr name="Group 52" id="52"/>
          <p:cNvGrpSpPr/>
          <p:nvPr/>
        </p:nvGrpSpPr>
        <p:grpSpPr>
          <a:xfrm rot="0">
            <a:off x="6067425" y="5143500"/>
            <a:ext cx="1238250" cy="571500"/>
            <a:chOff x="0" y="0"/>
            <a:chExt cx="1651000" cy="762000"/>
          </a:xfrm>
        </p:grpSpPr>
        <p:sp>
          <p:nvSpPr>
            <p:cNvPr name="Freeform 53" id="53"/>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54" id="54"/>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55" id="55"/>
          <p:cNvGrpSpPr/>
          <p:nvPr/>
        </p:nvGrpSpPr>
        <p:grpSpPr>
          <a:xfrm rot="0">
            <a:off x="8515350" y="5143500"/>
            <a:ext cx="1238250" cy="571500"/>
            <a:chOff x="0" y="0"/>
            <a:chExt cx="1651000" cy="762000"/>
          </a:xfrm>
        </p:grpSpPr>
        <p:sp>
          <p:nvSpPr>
            <p:cNvPr name="Freeform 56" id="56"/>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57" id="57"/>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58" id="58"/>
          <p:cNvGrpSpPr/>
          <p:nvPr/>
        </p:nvGrpSpPr>
        <p:grpSpPr>
          <a:xfrm rot="0">
            <a:off x="10963275" y="5143500"/>
            <a:ext cx="1238250" cy="571500"/>
            <a:chOff x="0" y="0"/>
            <a:chExt cx="1651000" cy="762000"/>
          </a:xfrm>
        </p:grpSpPr>
        <p:sp>
          <p:nvSpPr>
            <p:cNvPr name="Freeform 59" id="59"/>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60" id="60"/>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61" id="61"/>
          <p:cNvGrpSpPr/>
          <p:nvPr/>
        </p:nvGrpSpPr>
        <p:grpSpPr>
          <a:xfrm rot="0">
            <a:off x="7305675" y="5405438"/>
            <a:ext cx="1038225" cy="47625"/>
            <a:chOff x="0" y="0"/>
            <a:chExt cx="1384300" cy="63500"/>
          </a:xfrm>
        </p:grpSpPr>
        <p:sp>
          <p:nvSpPr>
            <p:cNvPr name="Freeform 62" id="62"/>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63" id="63"/>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64" id="64"/>
          <p:cNvGrpSpPr/>
          <p:nvPr/>
        </p:nvGrpSpPr>
        <p:grpSpPr>
          <a:xfrm rot="0">
            <a:off x="8343900" y="5343525"/>
            <a:ext cx="171450" cy="171450"/>
            <a:chOff x="0" y="0"/>
            <a:chExt cx="228600" cy="228600"/>
          </a:xfrm>
        </p:grpSpPr>
        <p:sp>
          <p:nvSpPr>
            <p:cNvPr name="Freeform 65" id="65"/>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66" id="66"/>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67" id="67"/>
          <p:cNvGrpSpPr/>
          <p:nvPr/>
        </p:nvGrpSpPr>
        <p:grpSpPr>
          <a:xfrm rot="0">
            <a:off x="9753600" y="5405438"/>
            <a:ext cx="1038225" cy="47625"/>
            <a:chOff x="0" y="0"/>
            <a:chExt cx="1384300" cy="63500"/>
          </a:xfrm>
        </p:grpSpPr>
        <p:sp>
          <p:nvSpPr>
            <p:cNvPr name="Freeform 68" id="68"/>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69" id="69"/>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70" id="70"/>
          <p:cNvGrpSpPr/>
          <p:nvPr/>
        </p:nvGrpSpPr>
        <p:grpSpPr>
          <a:xfrm rot="0">
            <a:off x="10791825" y="5343525"/>
            <a:ext cx="171450" cy="171450"/>
            <a:chOff x="0" y="0"/>
            <a:chExt cx="228600" cy="228600"/>
          </a:xfrm>
        </p:grpSpPr>
        <p:sp>
          <p:nvSpPr>
            <p:cNvPr name="Freeform 71" id="71"/>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72" id="72"/>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0">
            <a:off x="3429000" y="5143500"/>
            <a:ext cx="1428750" cy="571500"/>
            <a:chOff x="0" y="0"/>
            <a:chExt cx="1905000" cy="762000"/>
          </a:xfrm>
        </p:grpSpPr>
        <p:sp>
          <p:nvSpPr>
            <p:cNvPr name="Freeform 74" id="74"/>
            <p:cNvSpPr/>
            <p:nvPr/>
          </p:nvSpPr>
          <p:spPr>
            <a:xfrm flipH="false" flipV="false" rot="0">
              <a:off x="0" y="0"/>
              <a:ext cx="1905000" cy="762000"/>
            </a:xfrm>
            <a:custGeom>
              <a:avLst/>
              <a:gdLst/>
              <a:ahLst/>
              <a:cxnLst/>
              <a:rect r="r" b="b" t="t" l="l"/>
              <a:pathLst>
                <a:path h="762000" w="1905000">
                  <a:moveTo>
                    <a:pt x="65024" y="0"/>
                  </a:moveTo>
                  <a:lnTo>
                    <a:pt x="1839976" y="0"/>
                  </a:lnTo>
                  <a:cubicBezTo>
                    <a:pt x="1857222" y="0"/>
                    <a:pt x="1873761" y="6851"/>
                    <a:pt x="1885955" y="19045"/>
                  </a:cubicBezTo>
                  <a:cubicBezTo>
                    <a:pt x="1898149" y="31239"/>
                    <a:pt x="1905000" y="47779"/>
                    <a:pt x="1905000" y="65024"/>
                  </a:cubicBezTo>
                  <a:lnTo>
                    <a:pt x="1905000" y="696976"/>
                  </a:lnTo>
                  <a:cubicBezTo>
                    <a:pt x="1905000" y="714221"/>
                    <a:pt x="1898149" y="730761"/>
                    <a:pt x="1885955" y="742955"/>
                  </a:cubicBezTo>
                  <a:cubicBezTo>
                    <a:pt x="1873761" y="755149"/>
                    <a:pt x="1857222" y="762000"/>
                    <a:pt x="1839976" y="762000"/>
                  </a:cubicBezTo>
                  <a:lnTo>
                    <a:pt x="65024" y="762000"/>
                  </a:lnTo>
                  <a:cubicBezTo>
                    <a:pt x="29112" y="762000"/>
                    <a:pt x="0" y="732888"/>
                    <a:pt x="0" y="696976"/>
                  </a:cubicBezTo>
                  <a:lnTo>
                    <a:pt x="0" y="65024"/>
                  </a:lnTo>
                  <a:cubicBezTo>
                    <a:pt x="0" y="29112"/>
                    <a:pt x="29112" y="0"/>
                    <a:pt x="65024" y="0"/>
                  </a:cubicBezTo>
                  <a:close/>
                </a:path>
              </a:pathLst>
            </a:custGeom>
            <a:solidFill>
              <a:srgbClr val="70A1BD"/>
            </a:solidFill>
          </p:spPr>
        </p:sp>
        <p:sp>
          <p:nvSpPr>
            <p:cNvPr name="TextBox 75" id="75"/>
            <p:cNvSpPr txBox="true"/>
            <p:nvPr/>
          </p:nvSpPr>
          <p:spPr>
            <a:xfrm>
              <a:off x="0" y="-28575"/>
              <a:ext cx="1905000" cy="790575"/>
            </a:xfrm>
            <a:prstGeom prst="rect">
              <a:avLst/>
            </a:prstGeom>
          </p:spPr>
          <p:txBody>
            <a:bodyPr anchor="ctr" rtlCol="false" tIns="50800" lIns="50800" bIns="50800" rIns="50800"/>
            <a:lstStyle/>
            <a:p>
              <a:pPr algn="l">
                <a:lnSpc>
                  <a:spcPts val="1679"/>
                </a:lnSpc>
              </a:pPr>
            </a:p>
          </p:txBody>
        </p:sp>
      </p:grpSp>
      <p:grpSp>
        <p:nvGrpSpPr>
          <p:cNvPr name="Group 76" id="76"/>
          <p:cNvGrpSpPr/>
          <p:nvPr/>
        </p:nvGrpSpPr>
        <p:grpSpPr>
          <a:xfrm rot="0">
            <a:off x="4857750" y="5405438"/>
            <a:ext cx="1038225" cy="47625"/>
            <a:chOff x="0" y="0"/>
            <a:chExt cx="1384300" cy="63500"/>
          </a:xfrm>
        </p:grpSpPr>
        <p:sp>
          <p:nvSpPr>
            <p:cNvPr name="Freeform 77" id="77"/>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78" id="78"/>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79" id="79"/>
          <p:cNvGrpSpPr/>
          <p:nvPr/>
        </p:nvGrpSpPr>
        <p:grpSpPr>
          <a:xfrm rot="0">
            <a:off x="5895975" y="5343525"/>
            <a:ext cx="171450" cy="171450"/>
            <a:chOff x="0" y="0"/>
            <a:chExt cx="228600" cy="228600"/>
          </a:xfrm>
        </p:grpSpPr>
        <p:sp>
          <p:nvSpPr>
            <p:cNvPr name="Freeform 80" id="80"/>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81" id="81"/>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82" id="82"/>
          <p:cNvGrpSpPr/>
          <p:nvPr/>
        </p:nvGrpSpPr>
        <p:grpSpPr>
          <a:xfrm rot="0">
            <a:off x="15811500" y="5143500"/>
            <a:ext cx="1905000" cy="571500"/>
            <a:chOff x="0" y="0"/>
            <a:chExt cx="2540000" cy="762000"/>
          </a:xfrm>
        </p:grpSpPr>
        <p:sp>
          <p:nvSpPr>
            <p:cNvPr name="Freeform 83" id="83"/>
            <p:cNvSpPr/>
            <p:nvPr/>
          </p:nvSpPr>
          <p:spPr>
            <a:xfrm flipH="false" flipV="false" rot="0">
              <a:off x="0" y="0"/>
              <a:ext cx="2540000" cy="762000"/>
            </a:xfrm>
            <a:custGeom>
              <a:avLst/>
              <a:gdLst/>
              <a:ahLst/>
              <a:cxnLst/>
              <a:rect r="r" b="b" t="t" l="l"/>
              <a:pathLst>
                <a:path h="762000" w="2540000">
                  <a:moveTo>
                    <a:pt x="121920" y="0"/>
                  </a:moveTo>
                  <a:lnTo>
                    <a:pt x="2418080" y="0"/>
                  </a:lnTo>
                  <a:cubicBezTo>
                    <a:pt x="2485415" y="0"/>
                    <a:pt x="2540000" y="54585"/>
                    <a:pt x="2540000" y="121920"/>
                  </a:cubicBezTo>
                  <a:lnTo>
                    <a:pt x="2540000" y="640080"/>
                  </a:lnTo>
                  <a:cubicBezTo>
                    <a:pt x="2540000" y="707415"/>
                    <a:pt x="2485415" y="762000"/>
                    <a:pt x="2418080" y="762000"/>
                  </a:cubicBezTo>
                  <a:lnTo>
                    <a:pt x="121920" y="762000"/>
                  </a:lnTo>
                  <a:cubicBezTo>
                    <a:pt x="54585" y="762000"/>
                    <a:pt x="0" y="707415"/>
                    <a:pt x="0" y="640080"/>
                  </a:cubicBezTo>
                  <a:lnTo>
                    <a:pt x="0" y="121920"/>
                  </a:lnTo>
                  <a:cubicBezTo>
                    <a:pt x="0" y="54585"/>
                    <a:pt x="54585" y="0"/>
                    <a:pt x="121920" y="0"/>
                  </a:cubicBezTo>
                  <a:close/>
                </a:path>
              </a:pathLst>
            </a:custGeom>
            <a:solidFill>
              <a:srgbClr val="EFF1E8"/>
            </a:solidFill>
          </p:spPr>
        </p:sp>
        <p:sp>
          <p:nvSpPr>
            <p:cNvPr name="TextBox 84" id="84"/>
            <p:cNvSpPr txBox="true"/>
            <p:nvPr/>
          </p:nvSpPr>
          <p:spPr>
            <a:xfrm>
              <a:off x="0" y="-28575"/>
              <a:ext cx="2540000" cy="790575"/>
            </a:xfrm>
            <a:prstGeom prst="rect">
              <a:avLst/>
            </a:prstGeom>
          </p:spPr>
          <p:txBody>
            <a:bodyPr anchor="ctr" rtlCol="false" tIns="50800" lIns="50800" bIns="50800" rIns="50800"/>
            <a:lstStyle/>
            <a:p>
              <a:pPr algn="l">
                <a:lnSpc>
                  <a:spcPts val="1679"/>
                </a:lnSpc>
              </a:pPr>
            </a:p>
          </p:txBody>
        </p:sp>
      </p:grpSp>
      <p:grpSp>
        <p:nvGrpSpPr>
          <p:cNvPr name="Group 85" id="85"/>
          <p:cNvGrpSpPr/>
          <p:nvPr/>
        </p:nvGrpSpPr>
        <p:grpSpPr>
          <a:xfrm rot="0">
            <a:off x="12201525" y="5405438"/>
            <a:ext cx="2971800" cy="47625"/>
            <a:chOff x="0" y="0"/>
            <a:chExt cx="3962400" cy="63500"/>
          </a:xfrm>
        </p:grpSpPr>
        <p:sp>
          <p:nvSpPr>
            <p:cNvPr name="Freeform 86" id="86"/>
            <p:cNvSpPr/>
            <p:nvPr/>
          </p:nvSpPr>
          <p:spPr>
            <a:xfrm flipH="false" flipV="false" rot="0">
              <a:off x="0" y="0"/>
              <a:ext cx="3962400" cy="63500"/>
            </a:xfrm>
            <a:custGeom>
              <a:avLst/>
              <a:gdLst/>
              <a:ahLst/>
              <a:cxnLst/>
              <a:rect r="r" b="b" t="t" l="l"/>
              <a:pathLst>
                <a:path h="63500" w="3962400">
                  <a:moveTo>
                    <a:pt x="0" y="0"/>
                  </a:moveTo>
                  <a:lnTo>
                    <a:pt x="125392" y="0"/>
                  </a:lnTo>
                  <a:lnTo>
                    <a:pt x="125392" y="63500"/>
                  </a:lnTo>
                  <a:lnTo>
                    <a:pt x="0" y="63500"/>
                  </a:lnTo>
                  <a:close/>
                  <a:moveTo>
                    <a:pt x="213167" y="0"/>
                  </a:moveTo>
                  <a:lnTo>
                    <a:pt x="338559" y="0"/>
                  </a:lnTo>
                  <a:lnTo>
                    <a:pt x="338559" y="63500"/>
                  </a:lnTo>
                  <a:lnTo>
                    <a:pt x="213167" y="63500"/>
                  </a:lnTo>
                  <a:close/>
                  <a:moveTo>
                    <a:pt x="426334" y="0"/>
                  </a:moveTo>
                  <a:lnTo>
                    <a:pt x="551727" y="0"/>
                  </a:lnTo>
                  <a:lnTo>
                    <a:pt x="551727" y="63500"/>
                  </a:lnTo>
                  <a:lnTo>
                    <a:pt x="426334" y="63500"/>
                  </a:lnTo>
                  <a:close/>
                  <a:moveTo>
                    <a:pt x="639501" y="0"/>
                  </a:moveTo>
                  <a:lnTo>
                    <a:pt x="764894" y="0"/>
                  </a:lnTo>
                  <a:lnTo>
                    <a:pt x="764894" y="63500"/>
                  </a:lnTo>
                  <a:lnTo>
                    <a:pt x="639501" y="63500"/>
                  </a:lnTo>
                  <a:close/>
                  <a:moveTo>
                    <a:pt x="852668" y="0"/>
                  </a:moveTo>
                  <a:lnTo>
                    <a:pt x="978061" y="0"/>
                  </a:lnTo>
                  <a:lnTo>
                    <a:pt x="978061" y="63500"/>
                  </a:lnTo>
                  <a:lnTo>
                    <a:pt x="852668" y="63500"/>
                  </a:lnTo>
                  <a:close/>
                  <a:moveTo>
                    <a:pt x="1065835" y="0"/>
                  </a:moveTo>
                  <a:lnTo>
                    <a:pt x="1191228" y="0"/>
                  </a:lnTo>
                  <a:lnTo>
                    <a:pt x="1191228" y="63500"/>
                  </a:lnTo>
                  <a:lnTo>
                    <a:pt x="1065835" y="63500"/>
                  </a:lnTo>
                  <a:close/>
                  <a:moveTo>
                    <a:pt x="1279003" y="0"/>
                  </a:moveTo>
                  <a:lnTo>
                    <a:pt x="1404395" y="0"/>
                  </a:lnTo>
                  <a:lnTo>
                    <a:pt x="1404395" y="63500"/>
                  </a:lnTo>
                  <a:lnTo>
                    <a:pt x="1279003" y="63500"/>
                  </a:lnTo>
                  <a:close/>
                  <a:moveTo>
                    <a:pt x="1492170" y="0"/>
                  </a:moveTo>
                  <a:lnTo>
                    <a:pt x="1617562" y="0"/>
                  </a:lnTo>
                  <a:lnTo>
                    <a:pt x="1617562" y="63500"/>
                  </a:lnTo>
                  <a:lnTo>
                    <a:pt x="1492170" y="63500"/>
                  </a:lnTo>
                  <a:close/>
                  <a:moveTo>
                    <a:pt x="1705337" y="0"/>
                  </a:moveTo>
                  <a:lnTo>
                    <a:pt x="1830729" y="0"/>
                  </a:lnTo>
                  <a:lnTo>
                    <a:pt x="1830729" y="63500"/>
                  </a:lnTo>
                  <a:lnTo>
                    <a:pt x="1705337" y="63500"/>
                  </a:lnTo>
                  <a:close/>
                  <a:moveTo>
                    <a:pt x="1918504" y="0"/>
                  </a:moveTo>
                  <a:lnTo>
                    <a:pt x="2043896" y="0"/>
                  </a:lnTo>
                  <a:lnTo>
                    <a:pt x="2043896" y="63500"/>
                  </a:lnTo>
                  <a:lnTo>
                    <a:pt x="1918504" y="63500"/>
                  </a:lnTo>
                  <a:close/>
                  <a:moveTo>
                    <a:pt x="2131671" y="0"/>
                  </a:moveTo>
                  <a:lnTo>
                    <a:pt x="2257063" y="0"/>
                  </a:lnTo>
                  <a:lnTo>
                    <a:pt x="2257063" y="63500"/>
                  </a:lnTo>
                  <a:lnTo>
                    <a:pt x="2131671" y="63500"/>
                  </a:lnTo>
                  <a:close/>
                  <a:moveTo>
                    <a:pt x="2344838" y="0"/>
                  </a:moveTo>
                  <a:lnTo>
                    <a:pt x="2470230" y="0"/>
                  </a:lnTo>
                  <a:lnTo>
                    <a:pt x="2470230" y="63500"/>
                  </a:lnTo>
                  <a:lnTo>
                    <a:pt x="2344838" y="63500"/>
                  </a:lnTo>
                  <a:close/>
                  <a:moveTo>
                    <a:pt x="2558005" y="0"/>
                  </a:moveTo>
                  <a:lnTo>
                    <a:pt x="2683397" y="0"/>
                  </a:lnTo>
                  <a:lnTo>
                    <a:pt x="2683397" y="63500"/>
                  </a:lnTo>
                  <a:lnTo>
                    <a:pt x="2558005" y="63500"/>
                  </a:lnTo>
                  <a:close/>
                  <a:moveTo>
                    <a:pt x="2771172" y="0"/>
                  </a:moveTo>
                  <a:lnTo>
                    <a:pt x="2896564" y="0"/>
                  </a:lnTo>
                  <a:lnTo>
                    <a:pt x="2896564" y="63500"/>
                  </a:lnTo>
                  <a:lnTo>
                    <a:pt x="2771172" y="63500"/>
                  </a:lnTo>
                  <a:close/>
                  <a:moveTo>
                    <a:pt x="2984339" y="0"/>
                  </a:moveTo>
                  <a:lnTo>
                    <a:pt x="3109732" y="0"/>
                  </a:lnTo>
                  <a:lnTo>
                    <a:pt x="3109732" y="63500"/>
                  </a:lnTo>
                  <a:lnTo>
                    <a:pt x="2984339" y="63500"/>
                  </a:lnTo>
                  <a:close/>
                  <a:moveTo>
                    <a:pt x="3197506" y="0"/>
                  </a:moveTo>
                  <a:lnTo>
                    <a:pt x="3322899" y="0"/>
                  </a:lnTo>
                  <a:lnTo>
                    <a:pt x="3322899" y="63500"/>
                  </a:lnTo>
                  <a:lnTo>
                    <a:pt x="3197506" y="63500"/>
                  </a:lnTo>
                  <a:close/>
                  <a:moveTo>
                    <a:pt x="3410674" y="0"/>
                  </a:moveTo>
                  <a:lnTo>
                    <a:pt x="3536066" y="0"/>
                  </a:lnTo>
                  <a:lnTo>
                    <a:pt x="3536066" y="63500"/>
                  </a:lnTo>
                  <a:lnTo>
                    <a:pt x="3410674" y="63500"/>
                  </a:lnTo>
                  <a:close/>
                  <a:moveTo>
                    <a:pt x="3623840" y="0"/>
                  </a:moveTo>
                  <a:lnTo>
                    <a:pt x="3749233" y="0"/>
                  </a:lnTo>
                  <a:lnTo>
                    <a:pt x="3749233" y="63500"/>
                  </a:lnTo>
                  <a:lnTo>
                    <a:pt x="3623840" y="63500"/>
                  </a:lnTo>
                  <a:close/>
                  <a:moveTo>
                    <a:pt x="3837008" y="0"/>
                  </a:moveTo>
                  <a:lnTo>
                    <a:pt x="3962400" y="0"/>
                  </a:lnTo>
                  <a:lnTo>
                    <a:pt x="3962400" y="63500"/>
                  </a:lnTo>
                  <a:lnTo>
                    <a:pt x="3837008" y="63500"/>
                  </a:lnTo>
                  <a:close/>
                </a:path>
              </a:pathLst>
            </a:custGeom>
            <a:solidFill>
              <a:srgbClr val="70A1BD"/>
            </a:solidFill>
          </p:spPr>
        </p:sp>
        <p:sp>
          <p:nvSpPr>
            <p:cNvPr name="TextBox 87" id="87"/>
            <p:cNvSpPr txBox="true"/>
            <p:nvPr/>
          </p:nvSpPr>
          <p:spPr>
            <a:xfrm>
              <a:off x="0" y="-28575"/>
              <a:ext cx="3962400" cy="92075"/>
            </a:xfrm>
            <a:prstGeom prst="rect">
              <a:avLst/>
            </a:prstGeom>
          </p:spPr>
          <p:txBody>
            <a:bodyPr anchor="ctr" rtlCol="false" tIns="50800" lIns="50800" bIns="50800" rIns="50800"/>
            <a:lstStyle/>
            <a:p>
              <a:pPr algn="l">
                <a:lnSpc>
                  <a:spcPts val="1679"/>
                </a:lnSpc>
              </a:pPr>
            </a:p>
          </p:txBody>
        </p:sp>
      </p:grpSp>
      <p:grpSp>
        <p:nvGrpSpPr>
          <p:cNvPr name="Group 88" id="88"/>
          <p:cNvGrpSpPr/>
          <p:nvPr/>
        </p:nvGrpSpPr>
        <p:grpSpPr>
          <a:xfrm rot="0">
            <a:off x="15240000" y="5405438"/>
            <a:ext cx="400050" cy="47625"/>
            <a:chOff x="0" y="0"/>
            <a:chExt cx="533400" cy="63500"/>
          </a:xfrm>
        </p:grpSpPr>
        <p:sp>
          <p:nvSpPr>
            <p:cNvPr name="Freeform 89" id="89"/>
            <p:cNvSpPr/>
            <p:nvPr/>
          </p:nvSpPr>
          <p:spPr>
            <a:xfrm flipH="false" flipV="false" rot="0">
              <a:off x="0" y="0"/>
              <a:ext cx="533400" cy="63500"/>
            </a:xfrm>
            <a:custGeom>
              <a:avLst/>
              <a:gdLst/>
              <a:ahLst/>
              <a:cxnLst/>
              <a:rect r="r" b="b" t="t" l="l"/>
              <a:pathLst>
                <a:path h="63500" w="533400">
                  <a:moveTo>
                    <a:pt x="0" y="0"/>
                  </a:moveTo>
                  <a:lnTo>
                    <a:pt x="121227" y="0"/>
                  </a:lnTo>
                  <a:lnTo>
                    <a:pt x="121227" y="63500"/>
                  </a:lnTo>
                  <a:lnTo>
                    <a:pt x="0" y="63500"/>
                  </a:lnTo>
                  <a:close/>
                  <a:moveTo>
                    <a:pt x="206086" y="0"/>
                  </a:moveTo>
                  <a:lnTo>
                    <a:pt x="327314" y="0"/>
                  </a:lnTo>
                  <a:lnTo>
                    <a:pt x="327314" y="63500"/>
                  </a:lnTo>
                  <a:lnTo>
                    <a:pt x="206086" y="63500"/>
                  </a:lnTo>
                  <a:close/>
                  <a:moveTo>
                    <a:pt x="412173" y="0"/>
                  </a:moveTo>
                  <a:lnTo>
                    <a:pt x="533400" y="0"/>
                  </a:lnTo>
                  <a:lnTo>
                    <a:pt x="533400" y="63500"/>
                  </a:lnTo>
                  <a:lnTo>
                    <a:pt x="412173" y="63500"/>
                  </a:lnTo>
                  <a:close/>
                </a:path>
              </a:pathLst>
            </a:custGeom>
            <a:solidFill>
              <a:srgbClr val="EFF1E8"/>
            </a:solidFill>
          </p:spPr>
        </p:sp>
        <p:sp>
          <p:nvSpPr>
            <p:cNvPr name="TextBox 90" id="90"/>
            <p:cNvSpPr txBox="true"/>
            <p:nvPr/>
          </p:nvSpPr>
          <p:spPr>
            <a:xfrm>
              <a:off x="0" y="-28575"/>
              <a:ext cx="533400" cy="92075"/>
            </a:xfrm>
            <a:prstGeom prst="rect">
              <a:avLst/>
            </a:prstGeom>
          </p:spPr>
          <p:txBody>
            <a:bodyPr anchor="ctr" rtlCol="false" tIns="50800" lIns="50800" bIns="50800" rIns="50800"/>
            <a:lstStyle/>
            <a:p>
              <a:pPr algn="l">
                <a:lnSpc>
                  <a:spcPts val="1679"/>
                </a:lnSpc>
              </a:pPr>
            </a:p>
          </p:txBody>
        </p:sp>
      </p:grpSp>
      <p:grpSp>
        <p:nvGrpSpPr>
          <p:cNvPr name="Group 91" id="91"/>
          <p:cNvGrpSpPr/>
          <p:nvPr/>
        </p:nvGrpSpPr>
        <p:grpSpPr>
          <a:xfrm rot="0">
            <a:off x="15640050" y="5343525"/>
            <a:ext cx="171450" cy="171450"/>
            <a:chOff x="0" y="0"/>
            <a:chExt cx="228600" cy="228600"/>
          </a:xfrm>
        </p:grpSpPr>
        <p:sp>
          <p:nvSpPr>
            <p:cNvPr name="Freeform 92" id="92"/>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93" id="93"/>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94" id="94"/>
          <p:cNvGrpSpPr/>
          <p:nvPr/>
        </p:nvGrpSpPr>
        <p:grpSpPr>
          <a:xfrm rot="0">
            <a:off x="3238500" y="6210300"/>
            <a:ext cx="247650" cy="247650"/>
            <a:chOff x="0" y="0"/>
            <a:chExt cx="330200" cy="330200"/>
          </a:xfrm>
        </p:grpSpPr>
        <p:sp>
          <p:nvSpPr>
            <p:cNvPr name="Freeform 95" id="95"/>
            <p:cNvSpPr/>
            <p:nvPr/>
          </p:nvSpPr>
          <p:spPr>
            <a:xfrm flipH="false" flipV="false" rot="0">
              <a:off x="0" y="0"/>
              <a:ext cx="330200" cy="330200"/>
            </a:xfrm>
            <a:custGeom>
              <a:avLst/>
              <a:gdLst/>
              <a:ahLst/>
              <a:cxnLst/>
              <a:rect r="r" b="b" t="t" l="l"/>
              <a:pathLst>
                <a:path h="330200" w="330200">
                  <a:moveTo>
                    <a:pt x="165100" y="0"/>
                  </a:moveTo>
                  <a:cubicBezTo>
                    <a:pt x="73918" y="0"/>
                    <a:pt x="0" y="73918"/>
                    <a:pt x="0" y="165100"/>
                  </a:cubicBezTo>
                  <a:cubicBezTo>
                    <a:pt x="0" y="256282"/>
                    <a:pt x="73918" y="330200"/>
                    <a:pt x="165100" y="330200"/>
                  </a:cubicBezTo>
                  <a:cubicBezTo>
                    <a:pt x="256282" y="330200"/>
                    <a:pt x="330200" y="256282"/>
                    <a:pt x="330200" y="165100"/>
                  </a:cubicBezTo>
                  <a:cubicBezTo>
                    <a:pt x="330200" y="73918"/>
                    <a:pt x="256282" y="0"/>
                    <a:pt x="165100" y="0"/>
                  </a:cubicBezTo>
                  <a:close/>
                </a:path>
              </a:pathLst>
            </a:custGeom>
            <a:solidFill>
              <a:srgbClr val="70A1BD"/>
            </a:solidFill>
          </p:spPr>
        </p:sp>
        <p:sp>
          <p:nvSpPr>
            <p:cNvPr name="TextBox 96" id="96"/>
            <p:cNvSpPr txBox="true"/>
            <p:nvPr/>
          </p:nvSpPr>
          <p:spPr>
            <a:xfrm>
              <a:off x="0" y="-28575"/>
              <a:ext cx="330200" cy="358775"/>
            </a:xfrm>
            <a:prstGeom prst="rect">
              <a:avLst/>
            </a:prstGeom>
          </p:spPr>
          <p:txBody>
            <a:bodyPr anchor="ctr" rtlCol="false" tIns="50800" lIns="50800" bIns="50800" rIns="50800"/>
            <a:lstStyle/>
            <a:p>
              <a:pPr algn="l">
                <a:lnSpc>
                  <a:spcPts val="1679"/>
                </a:lnSpc>
              </a:pPr>
            </a:p>
          </p:txBody>
        </p:sp>
      </p:grpSp>
      <p:grpSp>
        <p:nvGrpSpPr>
          <p:cNvPr name="Group 97" id="97"/>
          <p:cNvGrpSpPr/>
          <p:nvPr/>
        </p:nvGrpSpPr>
        <p:grpSpPr>
          <a:xfrm rot="0">
            <a:off x="6067425" y="6572250"/>
            <a:ext cx="1238250" cy="571500"/>
            <a:chOff x="0" y="0"/>
            <a:chExt cx="1651000" cy="762000"/>
          </a:xfrm>
        </p:grpSpPr>
        <p:sp>
          <p:nvSpPr>
            <p:cNvPr name="Freeform 98" id="98"/>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99" id="99"/>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00" id="100"/>
          <p:cNvGrpSpPr/>
          <p:nvPr/>
        </p:nvGrpSpPr>
        <p:grpSpPr>
          <a:xfrm rot="0">
            <a:off x="8515350" y="6572250"/>
            <a:ext cx="1238250" cy="571500"/>
            <a:chOff x="0" y="0"/>
            <a:chExt cx="1651000" cy="762000"/>
          </a:xfrm>
        </p:grpSpPr>
        <p:sp>
          <p:nvSpPr>
            <p:cNvPr name="Freeform 101" id="101"/>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02" id="102"/>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03" id="103"/>
          <p:cNvGrpSpPr/>
          <p:nvPr/>
        </p:nvGrpSpPr>
        <p:grpSpPr>
          <a:xfrm rot="0">
            <a:off x="10963275" y="6572250"/>
            <a:ext cx="1238250" cy="571500"/>
            <a:chOff x="0" y="0"/>
            <a:chExt cx="1651000" cy="762000"/>
          </a:xfrm>
        </p:grpSpPr>
        <p:sp>
          <p:nvSpPr>
            <p:cNvPr name="Freeform 104" id="104"/>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05" id="105"/>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06" id="106"/>
          <p:cNvGrpSpPr/>
          <p:nvPr/>
        </p:nvGrpSpPr>
        <p:grpSpPr>
          <a:xfrm rot="0">
            <a:off x="7305675" y="6834188"/>
            <a:ext cx="1038225" cy="47625"/>
            <a:chOff x="0" y="0"/>
            <a:chExt cx="1384300" cy="63500"/>
          </a:xfrm>
        </p:grpSpPr>
        <p:sp>
          <p:nvSpPr>
            <p:cNvPr name="Freeform 107" id="107"/>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108" id="108"/>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109" id="109"/>
          <p:cNvGrpSpPr/>
          <p:nvPr/>
        </p:nvGrpSpPr>
        <p:grpSpPr>
          <a:xfrm rot="0">
            <a:off x="8343900" y="6772275"/>
            <a:ext cx="171450" cy="171450"/>
            <a:chOff x="0" y="0"/>
            <a:chExt cx="228600" cy="228600"/>
          </a:xfrm>
        </p:grpSpPr>
        <p:sp>
          <p:nvSpPr>
            <p:cNvPr name="Freeform 110" id="110"/>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11" id="111"/>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12" id="112"/>
          <p:cNvGrpSpPr/>
          <p:nvPr/>
        </p:nvGrpSpPr>
        <p:grpSpPr>
          <a:xfrm rot="0">
            <a:off x="9753600" y="6834188"/>
            <a:ext cx="1038225" cy="47625"/>
            <a:chOff x="0" y="0"/>
            <a:chExt cx="1384300" cy="63500"/>
          </a:xfrm>
        </p:grpSpPr>
        <p:sp>
          <p:nvSpPr>
            <p:cNvPr name="Freeform 113" id="113"/>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114" id="114"/>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115" id="115"/>
          <p:cNvGrpSpPr/>
          <p:nvPr/>
        </p:nvGrpSpPr>
        <p:grpSpPr>
          <a:xfrm rot="0">
            <a:off x="10791825" y="6772275"/>
            <a:ext cx="171450" cy="171450"/>
            <a:chOff x="0" y="0"/>
            <a:chExt cx="228600" cy="228600"/>
          </a:xfrm>
        </p:grpSpPr>
        <p:sp>
          <p:nvSpPr>
            <p:cNvPr name="Freeform 116" id="116"/>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17" id="117"/>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18" id="118"/>
          <p:cNvGrpSpPr/>
          <p:nvPr/>
        </p:nvGrpSpPr>
        <p:grpSpPr>
          <a:xfrm rot="0">
            <a:off x="571500" y="6572250"/>
            <a:ext cx="1905000" cy="571500"/>
            <a:chOff x="0" y="0"/>
            <a:chExt cx="2540000" cy="762000"/>
          </a:xfrm>
        </p:grpSpPr>
        <p:sp>
          <p:nvSpPr>
            <p:cNvPr name="Freeform 119" id="119"/>
            <p:cNvSpPr/>
            <p:nvPr/>
          </p:nvSpPr>
          <p:spPr>
            <a:xfrm flipH="false" flipV="false" rot="0">
              <a:off x="0" y="0"/>
              <a:ext cx="2540000" cy="762000"/>
            </a:xfrm>
            <a:custGeom>
              <a:avLst/>
              <a:gdLst/>
              <a:ahLst/>
              <a:cxnLst/>
              <a:rect r="r" b="b" t="t" l="l"/>
              <a:pathLst>
                <a:path h="762000" w="2540000">
                  <a:moveTo>
                    <a:pt x="121920" y="0"/>
                  </a:moveTo>
                  <a:lnTo>
                    <a:pt x="2418080" y="0"/>
                  </a:lnTo>
                  <a:cubicBezTo>
                    <a:pt x="2485415" y="0"/>
                    <a:pt x="2540000" y="54585"/>
                    <a:pt x="2540000" y="121920"/>
                  </a:cubicBezTo>
                  <a:lnTo>
                    <a:pt x="2540000" y="640080"/>
                  </a:lnTo>
                  <a:cubicBezTo>
                    <a:pt x="2540000" y="707415"/>
                    <a:pt x="2485415" y="762000"/>
                    <a:pt x="2418080" y="762000"/>
                  </a:cubicBezTo>
                  <a:lnTo>
                    <a:pt x="121920" y="762000"/>
                  </a:lnTo>
                  <a:cubicBezTo>
                    <a:pt x="54585" y="762000"/>
                    <a:pt x="0" y="707415"/>
                    <a:pt x="0" y="640080"/>
                  </a:cubicBezTo>
                  <a:lnTo>
                    <a:pt x="0" y="121920"/>
                  </a:lnTo>
                  <a:cubicBezTo>
                    <a:pt x="0" y="54585"/>
                    <a:pt x="54585" y="0"/>
                    <a:pt x="121920" y="0"/>
                  </a:cubicBezTo>
                  <a:close/>
                </a:path>
              </a:pathLst>
            </a:custGeom>
            <a:solidFill>
              <a:srgbClr val="EFF1E8"/>
            </a:solidFill>
          </p:spPr>
        </p:sp>
        <p:sp>
          <p:nvSpPr>
            <p:cNvPr name="TextBox 120" id="120"/>
            <p:cNvSpPr txBox="true"/>
            <p:nvPr/>
          </p:nvSpPr>
          <p:spPr>
            <a:xfrm>
              <a:off x="0" y="-28575"/>
              <a:ext cx="2540000" cy="790575"/>
            </a:xfrm>
            <a:prstGeom prst="rect">
              <a:avLst/>
            </a:prstGeom>
          </p:spPr>
          <p:txBody>
            <a:bodyPr anchor="ctr" rtlCol="false" tIns="50800" lIns="50800" bIns="50800" rIns="50800"/>
            <a:lstStyle/>
            <a:p>
              <a:pPr algn="l">
                <a:lnSpc>
                  <a:spcPts val="1679"/>
                </a:lnSpc>
              </a:pPr>
            </a:p>
          </p:txBody>
        </p:sp>
      </p:grpSp>
      <p:grpSp>
        <p:nvGrpSpPr>
          <p:cNvPr name="Group 121" id="121"/>
          <p:cNvGrpSpPr/>
          <p:nvPr/>
        </p:nvGrpSpPr>
        <p:grpSpPr>
          <a:xfrm rot="0">
            <a:off x="2476500" y="6834188"/>
            <a:ext cx="571500" cy="47625"/>
            <a:chOff x="0" y="0"/>
            <a:chExt cx="762000" cy="63500"/>
          </a:xfrm>
        </p:grpSpPr>
        <p:sp>
          <p:nvSpPr>
            <p:cNvPr name="Freeform 122" id="122"/>
            <p:cNvSpPr/>
            <p:nvPr/>
          </p:nvSpPr>
          <p:spPr>
            <a:xfrm flipH="false" flipV="false" rot="0">
              <a:off x="0" y="0"/>
              <a:ext cx="762000" cy="63500"/>
            </a:xfrm>
            <a:custGeom>
              <a:avLst/>
              <a:gdLst/>
              <a:ahLst/>
              <a:cxnLst/>
              <a:rect r="r" b="b" t="t" l="l"/>
              <a:pathLst>
                <a:path h="63500" w="762000">
                  <a:moveTo>
                    <a:pt x="0" y="0"/>
                  </a:moveTo>
                  <a:lnTo>
                    <a:pt x="124918" y="0"/>
                  </a:lnTo>
                  <a:lnTo>
                    <a:pt x="124918" y="63500"/>
                  </a:lnTo>
                  <a:lnTo>
                    <a:pt x="0" y="63500"/>
                  </a:lnTo>
                  <a:close/>
                  <a:moveTo>
                    <a:pt x="212361" y="0"/>
                  </a:moveTo>
                  <a:lnTo>
                    <a:pt x="337279" y="0"/>
                  </a:lnTo>
                  <a:lnTo>
                    <a:pt x="337279" y="63500"/>
                  </a:lnTo>
                  <a:lnTo>
                    <a:pt x="212361" y="63500"/>
                  </a:lnTo>
                  <a:close/>
                  <a:moveTo>
                    <a:pt x="424721" y="0"/>
                  </a:moveTo>
                  <a:lnTo>
                    <a:pt x="549639" y="0"/>
                  </a:lnTo>
                  <a:lnTo>
                    <a:pt x="549639" y="63500"/>
                  </a:lnTo>
                  <a:lnTo>
                    <a:pt x="424721" y="63500"/>
                  </a:lnTo>
                  <a:close/>
                  <a:moveTo>
                    <a:pt x="637082" y="0"/>
                  </a:moveTo>
                  <a:lnTo>
                    <a:pt x="762000" y="0"/>
                  </a:lnTo>
                  <a:lnTo>
                    <a:pt x="762000" y="63500"/>
                  </a:lnTo>
                  <a:lnTo>
                    <a:pt x="637082" y="63500"/>
                  </a:lnTo>
                  <a:close/>
                </a:path>
              </a:pathLst>
            </a:custGeom>
            <a:solidFill>
              <a:srgbClr val="EFF1E8"/>
            </a:solidFill>
          </p:spPr>
        </p:sp>
        <p:sp>
          <p:nvSpPr>
            <p:cNvPr name="TextBox 123" id="123"/>
            <p:cNvSpPr txBox="true"/>
            <p:nvPr/>
          </p:nvSpPr>
          <p:spPr>
            <a:xfrm>
              <a:off x="0" y="-28575"/>
              <a:ext cx="762000" cy="92075"/>
            </a:xfrm>
            <a:prstGeom prst="rect">
              <a:avLst/>
            </a:prstGeom>
          </p:spPr>
          <p:txBody>
            <a:bodyPr anchor="ctr" rtlCol="false" tIns="50800" lIns="50800" bIns="50800" rIns="50800"/>
            <a:lstStyle/>
            <a:p>
              <a:pPr algn="l">
                <a:lnSpc>
                  <a:spcPts val="1679"/>
                </a:lnSpc>
              </a:pPr>
            </a:p>
          </p:txBody>
        </p:sp>
      </p:grpSp>
      <p:grpSp>
        <p:nvGrpSpPr>
          <p:cNvPr name="Group 124" id="124"/>
          <p:cNvGrpSpPr/>
          <p:nvPr/>
        </p:nvGrpSpPr>
        <p:grpSpPr>
          <a:xfrm rot="0">
            <a:off x="3114675" y="6834188"/>
            <a:ext cx="2781300" cy="47625"/>
            <a:chOff x="0" y="0"/>
            <a:chExt cx="3708400" cy="63500"/>
          </a:xfrm>
        </p:grpSpPr>
        <p:sp>
          <p:nvSpPr>
            <p:cNvPr name="Freeform 125" id="125"/>
            <p:cNvSpPr/>
            <p:nvPr/>
          </p:nvSpPr>
          <p:spPr>
            <a:xfrm flipH="false" flipV="false" rot="0">
              <a:off x="0" y="0"/>
              <a:ext cx="3708400" cy="63500"/>
            </a:xfrm>
            <a:custGeom>
              <a:avLst/>
              <a:gdLst/>
              <a:ahLst/>
              <a:cxnLst/>
              <a:rect r="r" b="b" t="t" l="l"/>
              <a:pathLst>
                <a:path h="63500" w="3708400">
                  <a:moveTo>
                    <a:pt x="0" y="0"/>
                  </a:moveTo>
                  <a:lnTo>
                    <a:pt x="124027" y="0"/>
                  </a:lnTo>
                  <a:lnTo>
                    <a:pt x="124027" y="63500"/>
                  </a:lnTo>
                  <a:lnTo>
                    <a:pt x="0" y="63500"/>
                  </a:lnTo>
                  <a:close/>
                  <a:moveTo>
                    <a:pt x="210845" y="0"/>
                  </a:moveTo>
                  <a:lnTo>
                    <a:pt x="334872" y="0"/>
                  </a:lnTo>
                  <a:lnTo>
                    <a:pt x="334872" y="63500"/>
                  </a:lnTo>
                  <a:lnTo>
                    <a:pt x="210845" y="63500"/>
                  </a:lnTo>
                  <a:close/>
                  <a:moveTo>
                    <a:pt x="421691" y="0"/>
                  </a:moveTo>
                  <a:lnTo>
                    <a:pt x="545718" y="0"/>
                  </a:lnTo>
                  <a:lnTo>
                    <a:pt x="545718" y="63500"/>
                  </a:lnTo>
                  <a:lnTo>
                    <a:pt x="421691" y="63500"/>
                  </a:lnTo>
                  <a:close/>
                  <a:moveTo>
                    <a:pt x="632536" y="0"/>
                  </a:moveTo>
                  <a:lnTo>
                    <a:pt x="756563" y="0"/>
                  </a:lnTo>
                  <a:lnTo>
                    <a:pt x="756563" y="63500"/>
                  </a:lnTo>
                  <a:lnTo>
                    <a:pt x="632536" y="63500"/>
                  </a:lnTo>
                  <a:close/>
                  <a:moveTo>
                    <a:pt x="843382" y="0"/>
                  </a:moveTo>
                  <a:lnTo>
                    <a:pt x="967409" y="0"/>
                  </a:lnTo>
                  <a:lnTo>
                    <a:pt x="967409" y="63500"/>
                  </a:lnTo>
                  <a:lnTo>
                    <a:pt x="843382" y="63500"/>
                  </a:lnTo>
                  <a:close/>
                  <a:moveTo>
                    <a:pt x="1054227" y="0"/>
                  </a:moveTo>
                  <a:lnTo>
                    <a:pt x="1178254" y="0"/>
                  </a:lnTo>
                  <a:lnTo>
                    <a:pt x="1178254" y="63500"/>
                  </a:lnTo>
                  <a:lnTo>
                    <a:pt x="1054227" y="63500"/>
                  </a:lnTo>
                  <a:close/>
                  <a:moveTo>
                    <a:pt x="1265073" y="0"/>
                  </a:moveTo>
                  <a:lnTo>
                    <a:pt x="1389100" y="0"/>
                  </a:lnTo>
                  <a:lnTo>
                    <a:pt x="1389100" y="63500"/>
                  </a:lnTo>
                  <a:lnTo>
                    <a:pt x="1265073" y="63500"/>
                  </a:lnTo>
                  <a:close/>
                  <a:moveTo>
                    <a:pt x="1475918" y="0"/>
                  </a:moveTo>
                  <a:lnTo>
                    <a:pt x="1599945" y="0"/>
                  </a:lnTo>
                  <a:lnTo>
                    <a:pt x="1599945" y="63500"/>
                  </a:lnTo>
                  <a:lnTo>
                    <a:pt x="1475918" y="63500"/>
                  </a:lnTo>
                  <a:close/>
                  <a:moveTo>
                    <a:pt x="1686764" y="0"/>
                  </a:moveTo>
                  <a:lnTo>
                    <a:pt x="1810791" y="0"/>
                  </a:lnTo>
                  <a:lnTo>
                    <a:pt x="1810791" y="63500"/>
                  </a:lnTo>
                  <a:lnTo>
                    <a:pt x="1686764" y="63500"/>
                  </a:lnTo>
                  <a:close/>
                  <a:moveTo>
                    <a:pt x="1897609" y="0"/>
                  </a:moveTo>
                  <a:lnTo>
                    <a:pt x="2021636" y="0"/>
                  </a:lnTo>
                  <a:lnTo>
                    <a:pt x="2021636" y="63500"/>
                  </a:lnTo>
                  <a:lnTo>
                    <a:pt x="1897609" y="63500"/>
                  </a:lnTo>
                  <a:close/>
                  <a:moveTo>
                    <a:pt x="2108455" y="0"/>
                  </a:moveTo>
                  <a:lnTo>
                    <a:pt x="2232482" y="0"/>
                  </a:lnTo>
                  <a:lnTo>
                    <a:pt x="2232482" y="63500"/>
                  </a:lnTo>
                  <a:lnTo>
                    <a:pt x="2108455" y="63500"/>
                  </a:lnTo>
                  <a:close/>
                  <a:moveTo>
                    <a:pt x="2319300" y="0"/>
                  </a:moveTo>
                  <a:lnTo>
                    <a:pt x="2443327" y="0"/>
                  </a:lnTo>
                  <a:lnTo>
                    <a:pt x="2443327" y="63500"/>
                  </a:lnTo>
                  <a:lnTo>
                    <a:pt x="2319300" y="63500"/>
                  </a:lnTo>
                  <a:close/>
                  <a:moveTo>
                    <a:pt x="2530146" y="0"/>
                  </a:moveTo>
                  <a:lnTo>
                    <a:pt x="2654172" y="0"/>
                  </a:lnTo>
                  <a:lnTo>
                    <a:pt x="2654172" y="63500"/>
                  </a:lnTo>
                  <a:lnTo>
                    <a:pt x="2530146" y="63500"/>
                  </a:lnTo>
                  <a:close/>
                  <a:moveTo>
                    <a:pt x="2740991" y="0"/>
                  </a:moveTo>
                  <a:lnTo>
                    <a:pt x="2865018" y="0"/>
                  </a:lnTo>
                  <a:lnTo>
                    <a:pt x="2865018" y="63500"/>
                  </a:lnTo>
                  <a:lnTo>
                    <a:pt x="2740991" y="63500"/>
                  </a:lnTo>
                  <a:close/>
                  <a:moveTo>
                    <a:pt x="2951837" y="0"/>
                  </a:moveTo>
                  <a:lnTo>
                    <a:pt x="3075864" y="0"/>
                  </a:lnTo>
                  <a:lnTo>
                    <a:pt x="3075864" y="63500"/>
                  </a:lnTo>
                  <a:lnTo>
                    <a:pt x="2951837" y="63500"/>
                  </a:lnTo>
                  <a:close/>
                  <a:moveTo>
                    <a:pt x="3162682" y="0"/>
                  </a:moveTo>
                  <a:lnTo>
                    <a:pt x="3286709" y="0"/>
                  </a:lnTo>
                  <a:lnTo>
                    <a:pt x="3286709" y="63500"/>
                  </a:lnTo>
                  <a:lnTo>
                    <a:pt x="3162682" y="63500"/>
                  </a:lnTo>
                  <a:close/>
                  <a:moveTo>
                    <a:pt x="3373528" y="0"/>
                  </a:moveTo>
                  <a:lnTo>
                    <a:pt x="3497554" y="0"/>
                  </a:lnTo>
                  <a:lnTo>
                    <a:pt x="3497554" y="63500"/>
                  </a:lnTo>
                  <a:lnTo>
                    <a:pt x="3373528" y="63500"/>
                  </a:lnTo>
                  <a:close/>
                  <a:moveTo>
                    <a:pt x="3584373" y="0"/>
                  </a:moveTo>
                  <a:lnTo>
                    <a:pt x="3708400" y="0"/>
                  </a:lnTo>
                  <a:lnTo>
                    <a:pt x="3708400" y="63500"/>
                  </a:lnTo>
                  <a:lnTo>
                    <a:pt x="3584373" y="63500"/>
                  </a:lnTo>
                  <a:close/>
                </a:path>
              </a:pathLst>
            </a:custGeom>
            <a:solidFill>
              <a:srgbClr val="70A1BD"/>
            </a:solidFill>
          </p:spPr>
        </p:sp>
        <p:sp>
          <p:nvSpPr>
            <p:cNvPr name="TextBox 126" id="126"/>
            <p:cNvSpPr txBox="true"/>
            <p:nvPr/>
          </p:nvSpPr>
          <p:spPr>
            <a:xfrm>
              <a:off x="0" y="-28575"/>
              <a:ext cx="3708400" cy="92075"/>
            </a:xfrm>
            <a:prstGeom prst="rect">
              <a:avLst/>
            </a:prstGeom>
          </p:spPr>
          <p:txBody>
            <a:bodyPr anchor="ctr" rtlCol="false" tIns="50800" lIns="50800" bIns="50800" rIns="50800"/>
            <a:lstStyle/>
            <a:p>
              <a:pPr algn="l">
                <a:lnSpc>
                  <a:spcPts val="1679"/>
                </a:lnSpc>
              </a:pPr>
            </a:p>
          </p:txBody>
        </p:sp>
      </p:grpSp>
      <p:grpSp>
        <p:nvGrpSpPr>
          <p:cNvPr name="Group 127" id="127"/>
          <p:cNvGrpSpPr/>
          <p:nvPr/>
        </p:nvGrpSpPr>
        <p:grpSpPr>
          <a:xfrm rot="0">
            <a:off x="5895975" y="6772275"/>
            <a:ext cx="171450" cy="171450"/>
            <a:chOff x="0" y="0"/>
            <a:chExt cx="228600" cy="228600"/>
          </a:xfrm>
        </p:grpSpPr>
        <p:sp>
          <p:nvSpPr>
            <p:cNvPr name="Freeform 128" id="128"/>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29" id="129"/>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30" id="130"/>
          <p:cNvGrpSpPr/>
          <p:nvPr/>
        </p:nvGrpSpPr>
        <p:grpSpPr>
          <a:xfrm rot="0">
            <a:off x="13411200" y="6572250"/>
            <a:ext cx="1428750" cy="571500"/>
            <a:chOff x="0" y="0"/>
            <a:chExt cx="1905000" cy="762000"/>
          </a:xfrm>
        </p:grpSpPr>
        <p:sp>
          <p:nvSpPr>
            <p:cNvPr name="Freeform 131" id="131"/>
            <p:cNvSpPr/>
            <p:nvPr/>
          </p:nvSpPr>
          <p:spPr>
            <a:xfrm flipH="false" flipV="false" rot="0">
              <a:off x="0" y="0"/>
              <a:ext cx="1905000" cy="762000"/>
            </a:xfrm>
            <a:custGeom>
              <a:avLst/>
              <a:gdLst/>
              <a:ahLst/>
              <a:cxnLst/>
              <a:rect r="r" b="b" t="t" l="l"/>
              <a:pathLst>
                <a:path h="762000" w="1905000">
                  <a:moveTo>
                    <a:pt x="65024" y="0"/>
                  </a:moveTo>
                  <a:lnTo>
                    <a:pt x="1839976" y="0"/>
                  </a:lnTo>
                  <a:cubicBezTo>
                    <a:pt x="1857222" y="0"/>
                    <a:pt x="1873761" y="6851"/>
                    <a:pt x="1885955" y="19045"/>
                  </a:cubicBezTo>
                  <a:cubicBezTo>
                    <a:pt x="1898149" y="31239"/>
                    <a:pt x="1905000" y="47779"/>
                    <a:pt x="1905000" y="65024"/>
                  </a:cubicBezTo>
                  <a:lnTo>
                    <a:pt x="1905000" y="696976"/>
                  </a:lnTo>
                  <a:cubicBezTo>
                    <a:pt x="1905000" y="714221"/>
                    <a:pt x="1898149" y="730761"/>
                    <a:pt x="1885955" y="742955"/>
                  </a:cubicBezTo>
                  <a:cubicBezTo>
                    <a:pt x="1873761" y="755149"/>
                    <a:pt x="1857222" y="762000"/>
                    <a:pt x="1839976" y="762000"/>
                  </a:cubicBezTo>
                  <a:lnTo>
                    <a:pt x="65024" y="762000"/>
                  </a:lnTo>
                  <a:cubicBezTo>
                    <a:pt x="29112" y="762000"/>
                    <a:pt x="0" y="732888"/>
                    <a:pt x="0" y="696976"/>
                  </a:cubicBezTo>
                  <a:lnTo>
                    <a:pt x="0" y="65024"/>
                  </a:lnTo>
                  <a:cubicBezTo>
                    <a:pt x="0" y="29112"/>
                    <a:pt x="29112" y="0"/>
                    <a:pt x="65024" y="0"/>
                  </a:cubicBezTo>
                  <a:close/>
                </a:path>
              </a:pathLst>
            </a:custGeom>
            <a:solidFill>
              <a:srgbClr val="70A1BD"/>
            </a:solidFill>
          </p:spPr>
        </p:sp>
        <p:sp>
          <p:nvSpPr>
            <p:cNvPr name="TextBox 132" id="132"/>
            <p:cNvSpPr txBox="true"/>
            <p:nvPr/>
          </p:nvSpPr>
          <p:spPr>
            <a:xfrm>
              <a:off x="0" y="-28575"/>
              <a:ext cx="1905000" cy="790575"/>
            </a:xfrm>
            <a:prstGeom prst="rect">
              <a:avLst/>
            </a:prstGeom>
          </p:spPr>
          <p:txBody>
            <a:bodyPr anchor="ctr" rtlCol="false" tIns="50800" lIns="50800" bIns="50800" rIns="50800"/>
            <a:lstStyle/>
            <a:p>
              <a:pPr algn="l">
                <a:lnSpc>
                  <a:spcPts val="1679"/>
                </a:lnSpc>
              </a:pPr>
            </a:p>
          </p:txBody>
        </p:sp>
      </p:grpSp>
      <p:grpSp>
        <p:nvGrpSpPr>
          <p:cNvPr name="Group 133" id="133"/>
          <p:cNvGrpSpPr/>
          <p:nvPr/>
        </p:nvGrpSpPr>
        <p:grpSpPr>
          <a:xfrm rot="0">
            <a:off x="12201525" y="6834188"/>
            <a:ext cx="1038225" cy="47625"/>
            <a:chOff x="0" y="0"/>
            <a:chExt cx="1384300" cy="63500"/>
          </a:xfrm>
        </p:grpSpPr>
        <p:sp>
          <p:nvSpPr>
            <p:cNvPr name="Freeform 134" id="134"/>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135" id="135"/>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136" id="136"/>
          <p:cNvGrpSpPr/>
          <p:nvPr/>
        </p:nvGrpSpPr>
        <p:grpSpPr>
          <a:xfrm rot="0">
            <a:off x="13239750" y="6772275"/>
            <a:ext cx="171450" cy="171450"/>
            <a:chOff x="0" y="0"/>
            <a:chExt cx="228600" cy="228600"/>
          </a:xfrm>
        </p:grpSpPr>
        <p:sp>
          <p:nvSpPr>
            <p:cNvPr name="Freeform 137" id="137"/>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38" id="138"/>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39" id="139"/>
          <p:cNvGrpSpPr/>
          <p:nvPr/>
        </p:nvGrpSpPr>
        <p:grpSpPr>
          <a:xfrm rot="0">
            <a:off x="3238500" y="7639050"/>
            <a:ext cx="247650" cy="247650"/>
            <a:chOff x="0" y="0"/>
            <a:chExt cx="330200" cy="330200"/>
          </a:xfrm>
        </p:grpSpPr>
        <p:sp>
          <p:nvSpPr>
            <p:cNvPr name="Freeform 140" id="140"/>
            <p:cNvSpPr/>
            <p:nvPr/>
          </p:nvSpPr>
          <p:spPr>
            <a:xfrm flipH="false" flipV="false" rot="0">
              <a:off x="0" y="0"/>
              <a:ext cx="330200" cy="330200"/>
            </a:xfrm>
            <a:custGeom>
              <a:avLst/>
              <a:gdLst/>
              <a:ahLst/>
              <a:cxnLst/>
              <a:rect r="r" b="b" t="t" l="l"/>
              <a:pathLst>
                <a:path h="330200" w="330200">
                  <a:moveTo>
                    <a:pt x="165100" y="0"/>
                  </a:moveTo>
                  <a:cubicBezTo>
                    <a:pt x="73918" y="0"/>
                    <a:pt x="0" y="73918"/>
                    <a:pt x="0" y="165100"/>
                  </a:cubicBezTo>
                  <a:cubicBezTo>
                    <a:pt x="0" y="256282"/>
                    <a:pt x="73918" y="330200"/>
                    <a:pt x="165100" y="330200"/>
                  </a:cubicBezTo>
                  <a:cubicBezTo>
                    <a:pt x="256282" y="330200"/>
                    <a:pt x="330200" y="256282"/>
                    <a:pt x="330200" y="165100"/>
                  </a:cubicBezTo>
                  <a:cubicBezTo>
                    <a:pt x="330200" y="73918"/>
                    <a:pt x="256282" y="0"/>
                    <a:pt x="165100" y="0"/>
                  </a:cubicBezTo>
                  <a:close/>
                </a:path>
              </a:pathLst>
            </a:custGeom>
            <a:solidFill>
              <a:srgbClr val="70A1BD"/>
            </a:solidFill>
          </p:spPr>
        </p:sp>
        <p:sp>
          <p:nvSpPr>
            <p:cNvPr name="TextBox 141" id="141"/>
            <p:cNvSpPr txBox="true"/>
            <p:nvPr/>
          </p:nvSpPr>
          <p:spPr>
            <a:xfrm>
              <a:off x="0" y="-28575"/>
              <a:ext cx="330200" cy="358775"/>
            </a:xfrm>
            <a:prstGeom prst="rect">
              <a:avLst/>
            </a:prstGeom>
          </p:spPr>
          <p:txBody>
            <a:bodyPr anchor="ctr" rtlCol="false" tIns="50800" lIns="50800" bIns="50800" rIns="50800"/>
            <a:lstStyle/>
            <a:p>
              <a:pPr algn="l">
                <a:lnSpc>
                  <a:spcPts val="1679"/>
                </a:lnSpc>
              </a:pPr>
            </a:p>
          </p:txBody>
        </p:sp>
      </p:grpSp>
      <p:grpSp>
        <p:nvGrpSpPr>
          <p:cNvPr name="Group 142" id="142"/>
          <p:cNvGrpSpPr/>
          <p:nvPr/>
        </p:nvGrpSpPr>
        <p:grpSpPr>
          <a:xfrm rot="0">
            <a:off x="6067425" y="8001000"/>
            <a:ext cx="1238250" cy="571500"/>
            <a:chOff x="0" y="0"/>
            <a:chExt cx="1651000" cy="762000"/>
          </a:xfrm>
        </p:grpSpPr>
        <p:sp>
          <p:nvSpPr>
            <p:cNvPr name="Freeform 143" id="143"/>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44" id="144"/>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45" id="145"/>
          <p:cNvGrpSpPr/>
          <p:nvPr/>
        </p:nvGrpSpPr>
        <p:grpSpPr>
          <a:xfrm rot="0">
            <a:off x="8515350" y="8001000"/>
            <a:ext cx="1238250" cy="571500"/>
            <a:chOff x="0" y="0"/>
            <a:chExt cx="1651000" cy="762000"/>
          </a:xfrm>
        </p:grpSpPr>
        <p:sp>
          <p:nvSpPr>
            <p:cNvPr name="Freeform 146" id="146"/>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47" id="147"/>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48" id="148"/>
          <p:cNvGrpSpPr/>
          <p:nvPr/>
        </p:nvGrpSpPr>
        <p:grpSpPr>
          <a:xfrm rot="0">
            <a:off x="10963275" y="8001000"/>
            <a:ext cx="1238250" cy="571500"/>
            <a:chOff x="0" y="0"/>
            <a:chExt cx="1651000" cy="762000"/>
          </a:xfrm>
        </p:grpSpPr>
        <p:sp>
          <p:nvSpPr>
            <p:cNvPr name="Freeform 149" id="149"/>
            <p:cNvSpPr/>
            <p:nvPr/>
          </p:nvSpPr>
          <p:spPr>
            <a:xfrm flipH="false" flipV="false" rot="0">
              <a:off x="0" y="0"/>
              <a:ext cx="1651000" cy="762000"/>
            </a:xfrm>
            <a:custGeom>
              <a:avLst/>
              <a:gdLst/>
              <a:ahLst/>
              <a:cxnLst/>
              <a:rect r="r" b="b" t="t" l="l"/>
              <a:pathLst>
                <a:path h="762000" w="1651000">
                  <a:moveTo>
                    <a:pt x="187569" y="0"/>
                  </a:moveTo>
                  <a:lnTo>
                    <a:pt x="1463431" y="0"/>
                  </a:lnTo>
                  <a:cubicBezTo>
                    <a:pt x="1567022" y="0"/>
                    <a:pt x="1651000" y="83978"/>
                    <a:pt x="1651000" y="187569"/>
                  </a:cubicBezTo>
                  <a:lnTo>
                    <a:pt x="1651000" y="574431"/>
                  </a:lnTo>
                  <a:cubicBezTo>
                    <a:pt x="1651000" y="678022"/>
                    <a:pt x="1567022" y="762000"/>
                    <a:pt x="1463431" y="762000"/>
                  </a:cubicBezTo>
                  <a:lnTo>
                    <a:pt x="187569" y="762000"/>
                  </a:lnTo>
                  <a:cubicBezTo>
                    <a:pt x="83978" y="762000"/>
                    <a:pt x="0" y="678022"/>
                    <a:pt x="0" y="574431"/>
                  </a:cubicBezTo>
                  <a:lnTo>
                    <a:pt x="0" y="187569"/>
                  </a:lnTo>
                  <a:cubicBezTo>
                    <a:pt x="0" y="83978"/>
                    <a:pt x="83978" y="0"/>
                    <a:pt x="187569" y="0"/>
                  </a:cubicBezTo>
                  <a:close/>
                </a:path>
              </a:pathLst>
            </a:custGeom>
            <a:solidFill>
              <a:srgbClr val="70A1BD"/>
            </a:solidFill>
          </p:spPr>
        </p:sp>
        <p:sp>
          <p:nvSpPr>
            <p:cNvPr name="TextBox 150" id="150"/>
            <p:cNvSpPr txBox="true"/>
            <p:nvPr/>
          </p:nvSpPr>
          <p:spPr>
            <a:xfrm>
              <a:off x="0" y="-28575"/>
              <a:ext cx="1651000" cy="790575"/>
            </a:xfrm>
            <a:prstGeom prst="rect">
              <a:avLst/>
            </a:prstGeom>
          </p:spPr>
          <p:txBody>
            <a:bodyPr anchor="ctr" rtlCol="false" tIns="50800" lIns="50800" bIns="50800" rIns="50800"/>
            <a:lstStyle/>
            <a:p>
              <a:pPr algn="l">
                <a:lnSpc>
                  <a:spcPts val="1679"/>
                </a:lnSpc>
              </a:pPr>
            </a:p>
          </p:txBody>
        </p:sp>
      </p:grpSp>
      <p:grpSp>
        <p:nvGrpSpPr>
          <p:cNvPr name="Group 151" id="151"/>
          <p:cNvGrpSpPr/>
          <p:nvPr/>
        </p:nvGrpSpPr>
        <p:grpSpPr>
          <a:xfrm rot="0">
            <a:off x="7305675" y="8262938"/>
            <a:ext cx="1038225" cy="47625"/>
            <a:chOff x="0" y="0"/>
            <a:chExt cx="1384300" cy="63500"/>
          </a:xfrm>
        </p:grpSpPr>
        <p:sp>
          <p:nvSpPr>
            <p:cNvPr name="Freeform 152" id="152"/>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153" id="153"/>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154" id="154"/>
          <p:cNvGrpSpPr/>
          <p:nvPr/>
        </p:nvGrpSpPr>
        <p:grpSpPr>
          <a:xfrm rot="0">
            <a:off x="8343900" y="8201025"/>
            <a:ext cx="171450" cy="171450"/>
            <a:chOff x="0" y="0"/>
            <a:chExt cx="228600" cy="228600"/>
          </a:xfrm>
        </p:grpSpPr>
        <p:sp>
          <p:nvSpPr>
            <p:cNvPr name="Freeform 155" id="155"/>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56" id="156"/>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57" id="157"/>
          <p:cNvGrpSpPr/>
          <p:nvPr/>
        </p:nvGrpSpPr>
        <p:grpSpPr>
          <a:xfrm rot="0">
            <a:off x="9753600" y="8262938"/>
            <a:ext cx="1038225" cy="47625"/>
            <a:chOff x="0" y="0"/>
            <a:chExt cx="1384300" cy="63500"/>
          </a:xfrm>
        </p:grpSpPr>
        <p:sp>
          <p:nvSpPr>
            <p:cNvPr name="Freeform 158" id="158"/>
            <p:cNvSpPr/>
            <p:nvPr/>
          </p:nvSpPr>
          <p:spPr>
            <a:xfrm flipH="false" flipV="false" rot="0">
              <a:off x="0" y="0"/>
              <a:ext cx="1384300" cy="63500"/>
            </a:xfrm>
            <a:custGeom>
              <a:avLst/>
              <a:gdLst/>
              <a:ahLst/>
              <a:cxnLst/>
              <a:rect r="r" b="b" t="t" l="l"/>
              <a:pathLst>
                <a:path h="63500" w="1384300">
                  <a:moveTo>
                    <a:pt x="0" y="0"/>
                  </a:moveTo>
                  <a:lnTo>
                    <a:pt x="1384300" y="0"/>
                  </a:lnTo>
                  <a:lnTo>
                    <a:pt x="1384300" y="63500"/>
                  </a:lnTo>
                  <a:lnTo>
                    <a:pt x="0" y="63500"/>
                  </a:lnTo>
                  <a:close/>
                </a:path>
              </a:pathLst>
            </a:custGeom>
            <a:solidFill>
              <a:srgbClr val="70A1BD"/>
            </a:solidFill>
          </p:spPr>
        </p:sp>
        <p:sp>
          <p:nvSpPr>
            <p:cNvPr name="TextBox 159" id="159"/>
            <p:cNvSpPr txBox="true"/>
            <p:nvPr/>
          </p:nvSpPr>
          <p:spPr>
            <a:xfrm>
              <a:off x="0" y="-28575"/>
              <a:ext cx="1384300" cy="92075"/>
            </a:xfrm>
            <a:prstGeom prst="rect">
              <a:avLst/>
            </a:prstGeom>
          </p:spPr>
          <p:txBody>
            <a:bodyPr anchor="ctr" rtlCol="false" tIns="50800" lIns="50800" bIns="50800" rIns="50800"/>
            <a:lstStyle/>
            <a:p>
              <a:pPr algn="l">
                <a:lnSpc>
                  <a:spcPts val="1679"/>
                </a:lnSpc>
              </a:pPr>
            </a:p>
          </p:txBody>
        </p:sp>
      </p:grpSp>
      <p:grpSp>
        <p:nvGrpSpPr>
          <p:cNvPr name="Group 160" id="160"/>
          <p:cNvGrpSpPr/>
          <p:nvPr/>
        </p:nvGrpSpPr>
        <p:grpSpPr>
          <a:xfrm rot="0">
            <a:off x="10791825" y="8201025"/>
            <a:ext cx="171450" cy="171450"/>
            <a:chOff x="0" y="0"/>
            <a:chExt cx="228600" cy="228600"/>
          </a:xfrm>
        </p:grpSpPr>
        <p:sp>
          <p:nvSpPr>
            <p:cNvPr name="Freeform 161" id="161"/>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62" id="162"/>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63" id="163"/>
          <p:cNvGrpSpPr/>
          <p:nvPr/>
        </p:nvGrpSpPr>
        <p:grpSpPr>
          <a:xfrm rot="0">
            <a:off x="571500" y="8001000"/>
            <a:ext cx="1905000" cy="571500"/>
            <a:chOff x="0" y="0"/>
            <a:chExt cx="2540000" cy="762000"/>
          </a:xfrm>
        </p:grpSpPr>
        <p:sp>
          <p:nvSpPr>
            <p:cNvPr name="Freeform 164" id="164"/>
            <p:cNvSpPr/>
            <p:nvPr/>
          </p:nvSpPr>
          <p:spPr>
            <a:xfrm flipH="false" flipV="false" rot="0">
              <a:off x="0" y="0"/>
              <a:ext cx="2540000" cy="762000"/>
            </a:xfrm>
            <a:custGeom>
              <a:avLst/>
              <a:gdLst/>
              <a:ahLst/>
              <a:cxnLst/>
              <a:rect r="r" b="b" t="t" l="l"/>
              <a:pathLst>
                <a:path h="762000" w="2540000">
                  <a:moveTo>
                    <a:pt x="121920" y="0"/>
                  </a:moveTo>
                  <a:lnTo>
                    <a:pt x="2418080" y="0"/>
                  </a:lnTo>
                  <a:cubicBezTo>
                    <a:pt x="2485415" y="0"/>
                    <a:pt x="2540000" y="54585"/>
                    <a:pt x="2540000" y="121920"/>
                  </a:cubicBezTo>
                  <a:lnTo>
                    <a:pt x="2540000" y="640080"/>
                  </a:lnTo>
                  <a:cubicBezTo>
                    <a:pt x="2540000" y="707415"/>
                    <a:pt x="2485415" y="762000"/>
                    <a:pt x="2418080" y="762000"/>
                  </a:cubicBezTo>
                  <a:lnTo>
                    <a:pt x="121920" y="762000"/>
                  </a:lnTo>
                  <a:cubicBezTo>
                    <a:pt x="54585" y="762000"/>
                    <a:pt x="0" y="707415"/>
                    <a:pt x="0" y="640080"/>
                  </a:cubicBezTo>
                  <a:lnTo>
                    <a:pt x="0" y="121920"/>
                  </a:lnTo>
                  <a:cubicBezTo>
                    <a:pt x="0" y="54585"/>
                    <a:pt x="54585" y="0"/>
                    <a:pt x="121920" y="0"/>
                  </a:cubicBezTo>
                  <a:close/>
                </a:path>
              </a:pathLst>
            </a:custGeom>
            <a:solidFill>
              <a:srgbClr val="EFF1E8"/>
            </a:solidFill>
          </p:spPr>
        </p:sp>
        <p:sp>
          <p:nvSpPr>
            <p:cNvPr name="TextBox 165" id="165"/>
            <p:cNvSpPr txBox="true"/>
            <p:nvPr/>
          </p:nvSpPr>
          <p:spPr>
            <a:xfrm>
              <a:off x="0" y="-28575"/>
              <a:ext cx="2540000" cy="790575"/>
            </a:xfrm>
            <a:prstGeom prst="rect">
              <a:avLst/>
            </a:prstGeom>
          </p:spPr>
          <p:txBody>
            <a:bodyPr anchor="ctr" rtlCol="false" tIns="50800" lIns="50800" bIns="50800" rIns="50800"/>
            <a:lstStyle/>
            <a:p>
              <a:pPr algn="l">
                <a:lnSpc>
                  <a:spcPts val="1679"/>
                </a:lnSpc>
              </a:pPr>
            </a:p>
          </p:txBody>
        </p:sp>
      </p:grpSp>
      <p:grpSp>
        <p:nvGrpSpPr>
          <p:cNvPr name="Group 166" id="166"/>
          <p:cNvGrpSpPr/>
          <p:nvPr/>
        </p:nvGrpSpPr>
        <p:grpSpPr>
          <a:xfrm rot="0">
            <a:off x="2476500" y="8262938"/>
            <a:ext cx="571500" cy="47625"/>
            <a:chOff x="0" y="0"/>
            <a:chExt cx="762000" cy="63500"/>
          </a:xfrm>
        </p:grpSpPr>
        <p:sp>
          <p:nvSpPr>
            <p:cNvPr name="Freeform 167" id="167"/>
            <p:cNvSpPr/>
            <p:nvPr/>
          </p:nvSpPr>
          <p:spPr>
            <a:xfrm flipH="false" flipV="false" rot="0">
              <a:off x="0" y="0"/>
              <a:ext cx="762000" cy="63500"/>
            </a:xfrm>
            <a:custGeom>
              <a:avLst/>
              <a:gdLst/>
              <a:ahLst/>
              <a:cxnLst/>
              <a:rect r="r" b="b" t="t" l="l"/>
              <a:pathLst>
                <a:path h="63500" w="762000">
                  <a:moveTo>
                    <a:pt x="0" y="0"/>
                  </a:moveTo>
                  <a:lnTo>
                    <a:pt x="124918" y="0"/>
                  </a:lnTo>
                  <a:lnTo>
                    <a:pt x="124918" y="63500"/>
                  </a:lnTo>
                  <a:lnTo>
                    <a:pt x="0" y="63500"/>
                  </a:lnTo>
                  <a:close/>
                  <a:moveTo>
                    <a:pt x="212361" y="0"/>
                  </a:moveTo>
                  <a:lnTo>
                    <a:pt x="337279" y="0"/>
                  </a:lnTo>
                  <a:lnTo>
                    <a:pt x="337279" y="63500"/>
                  </a:lnTo>
                  <a:lnTo>
                    <a:pt x="212361" y="63500"/>
                  </a:lnTo>
                  <a:close/>
                  <a:moveTo>
                    <a:pt x="424721" y="0"/>
                  </a:moveTo>
                  <a:lnTo>
                    <a:pt x="549639" y="0"/>
                  </a:lnTo>
                  <a:lnTo>
                    <a:pt x="549639" y="63500"/>
                  </a:lnTo>
                  <a:lnTo>
                    <a:pt x="424721" y="63500"/>
                  </a:lnTo>
                  <a:close/>
                  <a:moveTo>
                    <a:pt x="637082" y="0"/>
                  </a:moveTo>
                  <a:lnTo>
                    <a:pt x="762000" y="0"/>
                  </a:lnTo>
                  <a:lnTo>
                    <a:pt x="762000" y="63500"/>
                  </a:lnTo>
                  <a:lnTo>
                    <a:pt x="637082" y="63500"/>
                  </a:lnTo>
                  <a:close/>
                </a:path>
              </a:pathLst>
            </a:custGeom>
            <a:solidFill>
              <a:srgbClr val="EFF1E8"/>
            </a:solidFill>
          </p:spPr>
        </p:sp>
        <p:sp>
          <p:nvSpPr>
            <p:cNvPr name="TextBox 168" id="168"/>
            <p:cNvSpPr txBox="true"/>
            <p:nvPr/>
          </p:nvSpPr>
          <p:spPr>
            <a:xfrm>
              <a:off x="0" y="-28575"/>
              <a:ext cx="762000" cy="92075"/>
            </a:xfrm>
            <a:prstGeom prst="rect">
              <a:avLst/>
            </a:prstGeom>
          </p:spPr>
          <p:txBody>
            <a:bodyPr anchor="ctr" rtlCol="false" tIns="50800" lIns="50800" bIns="50800" rIns="50800"/>
            <a:lstStyle/>
            <a:p>
              <a:pPr algn="l">
                <a:lnSpc>
                  <a:spcPts val="1679"/>
                </a:lnSpc>
              </a:pPr>
            </a:p>
          </p:txBody>
        </p:sp>
      </p:grpSp>
      <p:grpSp>
        <p:nvGrpSpPr>
          <p:cNvPr name="Group 169" id="169"/>
          <p:cNvGrpSpPr/>
          <p:nvPr/>
        </p:nvGrpSpPr>
        <p:grpSpPr>
          <a:xfrm rot="0">
            <a:off x="3114675" y="8262938"/>
            <a:ext cx="2781300" cy="47625"/>
            <a:chOff x="0" y="0"/>
            <a:chExt cx="3708400" cy="63500"/>
          </a:xfrm>
        </p:grpSpPr>
        <p:sp>
          <p:nvSpPr>
            <p:cNvPr name="Freeform 170" id="170"/>
            <p:cNvSpPr/>
            <p:nvPr/>
          </p:nvSpPr>
          <p:spPr>
            <a:xfrm flipH="false" flipV="false" rot="0">
              <a:off x="0" y="0"/>
              <a:ext cx="3708400" cy="63500"/>
            </a:xfrm>
            <a:custGeom>
              <a:avLst/>
              <a:gdLst/>
              <a:ahLst/>
              <a:cxnLst/>
              <a:rect r="r" b="b" t="t" l="l"/>
              <a:pathLst>
                <a:path h="63500" w="3708400">
                  <a:moveTo>
                    <a:pt x="0" y="0"/>
                  </a:moveTo>
                  <a:lnTo>
                    <a:pt x="124027" y="0"/>
                  </a:lnTo>
                  <a:lnTo>
                    <a:pt x="124027" y="63500"/>
                  </a:lnTo>
                  <a:lnTo>
                    <a:pt x="0" y="63500"/>
                  </a:lnTo>
                  <a:close/>
                  <a:moveTo>
                    <a:pt x="210845" y="0"/>
                  </a:moveTo>
                  <a:lnTo>
                    <a:pt x="334872" y="0"/>
                  </a:lnTo>
                  <a:lnTo>
                    <a:pt x="334872" y="63500"/>
                  </a:lnTo>
                  <a:lnTo>
                    <a:pt x="210845" y="63500"/>
                  </a:lnTo>
                  <a:close/>
                  <a:moveTo>
                    <a:pt x="421691" y="0"/>
                  </a:moveTo>
                  <a:lnTo>
                    <a:pt x="545718" y="0"/>
                  </a:lnTo>
                  <a:lnTo>
                    <a:pt x="545718" y="63500"/>
                  </a:lnTo>
                  <a:lnTo>
                    <a:pt x="421691" y="63500"/>
                  </a:lnTo>
                  <a:close/>
                  <a:moveTo>
                    <a:pt x="632536" y="0"/>
                  </a:moveTo>
                  <a:lnTo>
                    <a:pt x="756563" y="0"/>
                  </a:lnTo>
                  <a:lnTo>
                    <a:pt x="756563" y="63500"/>
                  </a:lnTo>
                  <a:lnTo>
                    <a:pt x="632536" y="63500"/>
                  </a:lnTo>
                  <a:close/>
                  <a:moveTo>
                    <a:pt x="843382" y="0"/>
                  </a:moveTo>
                  <a:lnTo>
                    <a:pt x="967409" y="0"/>
                  </a:lnTo>
                  <a:lnTo>
                    <a:pt x="967409" y="63500"/>
                  </a:lnTo>
                  <a:lnTo>
                    <a:pt x="843382" y="63500"/>
                  </a:lnTo>
                  <a:close/>
                  <a:moveTo>
                    <a:pt x="1054227" y="0"/>
                  </a:moveTo>
                  <a:lnTo>
                    <a:pt x="1178254" y="0"/>
                  </a:lnTo>
                  <a:lnTo>
                    <a:pt x="1178254" y="63500"/>
                  </a:lnTo>
                  <a:lnTo>
                    <a:pt x="1054227" y="63500"/>
                  </a:lnTo>
                  <a:close/>
                  <a:moveTo>
                    <a:pt x="1265073" y="0"/>
                  </a:moveTo>
                  <a:lnTo>
                    <a:pt x="1389100" y="0"/>
                  </a:lnTo>
                  <a:lnTo>
                    <a:pt x="1389100" y="63500"/>
                  </a:lnTo>
                  <a:lnTo>
                    <a:pt x="1265073" y="63500"/>
                  </a:lnTo>
                  <a:close/>
                  <a:moveTo>
                    <a:pt x="1475918" y="0"/>
                  </a:moveTo>
                  <a:lnTo>
                    <a:pt x="1599945" y="0"/>
                  </a:lnTo>
                  <a:lnTo>
                    <a:pt x="1599945" y="63500"/>
                  </a:lnTo>
                  <a:lnTo>
                    <a:pt x="1475918" y="63500"/>
                  </a:lnTo>
                  <a:close/>
                  <a:moveTo>
                    <a:pt x="1686764" y="0"/>
                  </a:moveTo>
                  <a:lnTo>
                    <a:pt x="1810791" y="0"/>
                  </a:lnTo>
                  <a:lnTo>
                    <a:pt x="1810791" y="63500"/>
                  </a:lnTo>
                  <a:lnTo>
                    <a:pt x="1686764" y="63500"/>
                  </a:lnTo>
                  <a:close/>
                  <a:moveTo>
                    <a:pt x="1897609" y="0"/>
                  </a:moveTo>
                  <a:lnTo>
                    <a:pt x="2021636" y="0"/>
                  </a:lnTo>
                  <a:lnTo>
                    <a:pt x="2021636" y="63500"/>
                  </a:lnTo>
                  <a:lnTo>
                    <a:pt x="1897609" y="63500"/>
                  </a:lnTo>
                  <a:close/>
                  <a:moveTo>
                    <a:pt x="2108455" y="0"/>
                  </a:moveTo>
                  <a:lnTo>
                    <a:pt x="2232482" y="0"/>
                  </a:lnTo>
                  <a:lnTo>
                    <a:pt x="2232482" y="63500"/>
                  </a:lnTo>
                  <a:lnTo>
                    <a:pt x="2108455" y="63500"/>
                  </a:lnTo>
                  <a:close/>
                  <a:moveTo>
                    <a:pt x="2319300" y="0"/>
                  </a:moveTo>
                  <a:lnTo>
                    <a:pt x="2443327" y="0"/>
                  </a:lnTo>
                  <a:lnTo>
                    <a:pt x="2443327" y="63500"/>
                  </a:lnTo>
                  <a:lnTo>
                    <a:pt x="2319300" y="63500"/>
                  </a:lnTo>
                  <a:close/>
                  <a:moveTo>
                    <a:pt x="2530146" y="0"/>
                  </a:moveTo>
                  <a:lnTo>
                    <a:pt x="2654172" y="0"/>
                  </a:lnTo>
                  <a:lnTo>
                    <a:pt x="2654172" y="63500"/>
                  </a:lnTo>
                  <a:lnTo>
                    <a:pt x="2530146" y="63500"/>
                  </a:lnTo>
                  <a:close/>
                  <a:moveTo>
                    <a:pt x="2740991" y="0"/>
                  </a:moveTo>
                  <a:lnTo>
                    <a:pt x="2865018" y="0"/>
                  </a:lnTo>
                  <a:lnTo>
                    <a:pt x="2865018" y="63500"/>
                  </a:lnTo>
                  <a:lnTo>
                    <a:pt x="2740991" y="63500"/>
                  </a:lnTo>
                  <a:close/>
                  <a:moveTo>
                    <a:pt x="2951837" y="0"/>
                  </a:moveTo>
                  <a:lnTo>
                    <a:pt x="3075864" y="0"/>
                  </a:lnTo>
                  <a:lnTo>
                    <a:pt x="3075864" y="63500"/>
                  </a:lnTo>
                  <a:lnTo>
                    <a:pt x="2951837" y="63500"/>
                  </a:lnTo>
                  <a:close/>
                  <a:moveTo>
                    <a:pt x="3162682" y="0"/>
                  </a:moveTo>
                  <a:lnTo>
                    <a:pt x="3286709" y="0"/>
                  </a:lnTo>
                  <a:lnTo>
                    <a:pt x="3286709" y="63500"/>
                  </a:lnTo>
                  <a:lnTo>
                    <a:pt x="3162682" y="63500"/>
                  </a:lnTo>
                  <a:close/>
                  <a:moveTo>
                    <a:pt x="3373528" y="0"/>
                  </a:moveTo>
                  <a:lnTo>
                    <a:pt x="3497554" y="0"/>
                  </a:lnTo>
                  <a:lnTo>
                    <a:pt x="3497554" y="63500"/>
                  </a:lnTo>
                  <a:lnTo>
                    <a:pt x="3373528" y="63500"/>
                  </a:lnTo>
                  <a:close/>
                  <a:moveTo>
                    <a:pt x="3584373" y="0"/>
                  </a:moveTo>
                  <a:lnTo>
                    <a:pt x="3708400" y="0"/>
                  </a:lnTo>
                  <a:lnTo>
                    <a:pt x="3708400" y="63500"/>
                  </a:lnTo>
                  <a:lnTo>
                    <a:pt x="3584373" y="63500"/>
                  </a:lnTo>
                  <a:close/>
                </a:path>
              </a:pathLst>
            </a:custGeom>
            <a:solidFill>
              <a:srgbClr val="70A1BD"/>
            </a:solidFill>
          </p:spPr>
        </p:sp>
        <p:sp>
          <p:nvSpPr>
            <p:cNvPr name="TextBox 171" id="171"/>
            <p:cNvSpPr txBox="true"/>
            <p:nvPr/>
          </p:nvSpPr>
          <p:spPr>
            <a:xfrm>
              <a:off x="0" y="-28575"/>
              <a:ext cx="3708400" cy="92075"/>
            </a:xfrm>
            <a:prstGeom prst="rect">
              <a:avLst/>
            </a:prstGeom>
          </p:spPr>
          <p:txBody>
            <a:bodyPr anchor="ctr" rtlCol="false" tIns="50800" lIns="50800" bIns="50800" rIns="50800"/>
            <a:lstStyle/>
            <a:p>
              <a:pPr algn="l">
                <a:lnSpc>
                  <a:spcPts val="1679"/>
                </a:lnSpc>
              </a:pPr>
            </a:p>
          </p:txBody>
        </p:sp>
      </p:grpSp>
      <p:grpSp>
        <p:nvGrpSpPr>
          <p:cNvPr name="Group 172" id="172"/>
          <p:cNvGrpSpPr/>
          <p:nvPr/>
        </p:nvGrpSpPr>
        <p:grpSpPr>
          <a:xfrm rot="0">
            <a:off x="5895975" y="8201025"/>
            <a:ext cx="171450" cy="171450"/>
            <a:chOff x="0" y="0"/>
            <a:chExt cx="228600" cy="228600"/>
          </a:xfrm>
        </p:grpSpPr>
        <p:sp>
          <p:nvSpPr>
            <p:cNvPr name="Freeform 173" id="173"/>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74" id="174"/>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75" id="175"/>
          <p:cNvGrpSpPr/>
          <p:nvPr/>
        </p:nvGrpSpPr>
        <p:grpSpPr>
          <a:xfrm rot="0">
            <a:off x="15811500" y="8001000"/>
            <a:ext cx="1905000" cy="571500"/>
            <a:chOff x="0" y="0"/>
            <a:chExt cx="2540000" cy="762000"/>
          </a:xfrm>
        </p:grpSpPr>
        <p:sp>
          <p:nvSpPr>
            <p:cNvPr name="Freeform 176" id="176"/>
            <p:cNvSpPr/>
            <p:nvPr/>
          </p:nvSpPr>
          <p:spPr>
            <a:xfrm flipH="false" flipV="false" rot="0">
              <a:off x="0" y="0"/>
              <a:ext cx="2540000" cy="762000"/>
            </a:xfrm>
            <a:custGeom>
              <a:avLst/>
              <a:gdLst/>
              <a:ahLst/>
              <a:cxnLst/>
              <a:rect r="r" b="b" t="t" l="l"/>
              <a:pathLst>
                <a:path h="762000" w="2540000">
                  <a:moveTo>
                    <a:pt x="121920" y="0"/>
                  </a:moveTo>
                  <a:lnTo>
                    <a:pt x="2418080" y="0"/>
                  </a:lnTo>
                  <a:cubicBezTo>
                    <a:pt x="2485415" y="0"/>
                    <a:pt x="2540000" y="54585"/>
                    <a:pt x="2540000" y="121920"/>
                  </a:cubicBezTo>
                  <a:lnTo>
                    <a:pt x="2540000" y="640080"/>
                  </a:lnTo>
                  <a:cubicBezTo>
                    <a:pt x="2540000" y="707415"/>
                    <a:pt x="2485415" y="762000"/>
                    <a:pt x="2418080" y="762000"/>
                  </a:cubicBezTo>
                  <a:lnTo>
                    <a:pt x="121920" y="762000"/>
                  </a:lnTo>
                  <a:cubicBezTo>
                    <a:pt x="54585" y="762000"/>
                    <a:pt x="0" y="707415"/>
                    <a:pt x="0" y="640080"/>
                  </a:cubicBezTo>
                  <a:lnTo>
                    <a:pt x="0" y="121920"/>
                  </a:lnTo>
                  <a:cubicBezTo>
                    <a:pt x="0" y="54585"/>
                    <a:pt x="54585" y="0"/>
                    <a:pt x="121920" y="0"/>
                  </a:cubicBezTo>
                  <a:close/>
                </a:path>
              </a:pathLst>
            </a:custGeom>
            <a:solidFill>
              <a:srgbClr val="EFF1E8"/>
            </a:solidFill>
          </p:spPr>
        </p:sp>
        <p:sp>
          <p:nvSpPr>
            <p:cNvPr name="TextBox 177" id="177"/>
            <p:cNvSpPr txBox="true"/>
            <p:nvPr/>
          </p:nvSpPr>
          <p:spPr>
            <a:xfrm>
              <a:off x="0" y="-28575"/>
              <a:ext cx="2540000" cy="790575"/>
            </a:xfrm>
            <a:prstGeom prst="rect">
              <a:avLst/>
            </a:prstGeom>
          </p:spPr>
          <p:txBody>
            <a:bodyPr anchor="ctr" rtlCol="false" tIns="50800" lIns="50800" bIns="50800" rIns="50800"/>
            <a:lstStyle/>
            <a:p>
              <a:pPr algn="l">
                <a:lnSpc>
                  <a:spcPts val="1679"/>
                </a:lnSpc>
              </a:pPr>
            </a:p>
          </p:txBody>
        </p:sp>
      </p:grpSp>
      <p:grpSp>
        <p:nvGrpSpPr>
          <p:cNvPr name="Group 178" id="178"/>
          <p:cNvGrpSpPr/>
          <p:nvPr/>
        </p:nvGrpSpPr>
        <p:grpSpPr>
          <a:xfrm rot="0">
            <a:off x="12201525" y="8262938"/>
            <a:ext cx="2971800" cy="47625"/>
            <a:chOff x="0" y="0"/>
            <a:chExt cx="3962400" cy="63500"/>
          </a:xfrm>
        </p:grpSpPr>
        <p:sp>
          <p:nvSpPr>
            <p:cNvPr name="Freeform 179" id="179"/>
            <p:cNvSpPr/>
            <p:nvPr/>
          </p:nvSpPr>
          <p:spPr>
            <a:xfrm flipH="false" flipV="false" rot="0">
              <a:off x="0" y="0"/>
              <a:ext cx="3962400" cy="63500"/>
            </a:xfrm>
            <a:custGeom>
              <a:avLst/>
              <a:gdLst/>
              <a:ahLst/>
              <a:cxnLst/>
              <a:rect r="r" b="b" t="t" l="l"/>
              <a:pathLst>
                <a:path h="63500" w="3962400">
                  <a:moveTo>
                    <a:pt x="0" y="0"/>
                  </a:moveTo>
                  <a:lnTo>
                    <a:pt x="125392" y="0"/>
                  </a:lnTo>
                  <a:lnTo>
                    <a:pt x="125392" y="63500"/>
                  </a:lnTo>
                  <a:lnTo>
                    <a:pt x="0" y="63500"/>
                  </a:lnTo>
                  <a:close/>
                  <a:moveTo>
                    <a:pt x="213167" y="0"/>
                  </a:moveTo>
                  <a:lnTo>
                    <a:pt x="338559" y="0"/>
                  </a:lnTo>
                  <a:lnTo>
                    <a:pt x="338559" y="63500"/>
                  </a:lnTo>
                  <a:lnTo>
                    <a:pt x="213167" y="63500"/>
                  </a:lnTo>
                  <a:close/>
                  <a:moveTo>
                    <a:pt x="426334" y="0"/>
                  </a:moveTo>
                  <a:lnTo>
                    <a:pt x="551727" y="0"/>
                  </a:lnTo>
                  <a:lnTo>
                    <a:pt x="551727" y="63500"/>
                  </a:lnTo>
                  <a:lnTo>
                    <a:pt x="426334" y="63500"/>
                  </a:lnTo>
                  <a:close/>
                  <a:moveTo>
                    <a:pt x="639501" y="0"/>
                  </a:moveTo>
                  <a:lnTo>
                    <a:pt x="764894" y="0"/>
                  </a:lnTo>
                  <a:lnTo>
                    <a:pt x="764894" y="63500"/>
                  </a:lnTo>
                  <a:lnTo>
                    <a:pt x="639501" y="63500"/>
                  </a:lnTo>
                  <a:close/>
                  <a:moveTo>
                    <a:pt x="852668" y="0"/>
                  </a:moveTo>
                  <a:lnTo>
                    <a:pt x="978061" y="0"/>
                  </a:lnTo>
                  <a:lnTo>
                    <a:pt x="978061" y="63500"/>
                  </a:lnTo>
                  <a:lnTo>
                    <a:pt x="852668" y="63500"/>
                  </a:lnTo>
                  <a:close/>
                  <a:moveTo>
                    <a:pt x="1065835" y="0"/>
                  </a:moveTo>
                  <a:lnTo>
                    <a:pt x="1191228" y="0"/>
                  </a:lnTo>
                  <a:lnTo>
                    <a:pt x="1191228" y="63500"/>
                  </a:lnTo>
                  <a:lnTo>
                    <a:pt x="1065835" y="63500"/>
                  </a:lnTo>
                  <a:close/>
                  <a:moveTo>
                    <a:pt x="1279003" y="0"/>
                  </a:moveTo>
                  <a:lnTo>
                    <a:pt x="1404395" y="0"/>
                  </a:lnTo>
                  <a:lnTo>
                    <a:pt x="1404395" y="63500"/>
                  </a:lnTo>
                  <a:lnTo>
                    <a:pt x="1279003" y="63500"/>
                  </a:lnTo>
                  <a:close/>
                  <a:moveTo>
                    <a:pt x="1492170" y="0"/>
                  </a:moveTo>
                  <a:lnTo>
                    <a:pt x="1617562" y="0"/>
                  </a:lnTo>
                  <a:lnTo>
                    <a:pt x="1617562" y="63500"/>
                  </a:lnTo>
                  <a:lnTo>
                    <a:pt x="1492170" y="63500"/>
                  </a:lnTo>
                  <a:close/>
                  <a:moveTo>
                    <a:pt x="1705337" y="0"/>
                  </a:moveTo>
                  <a:lnTo>
                    <a:pt x="1830729" y="0"/>
                  </a:lnTo>
                  <a:lnTo>
                    <a:pt x="1830729" y="63500"/>
                  </a:lnTo>
                  <a:lnTo>
                    <a:pt x="1705337" y="63500"/>
                  </a:lnTo>
                  <a:close/>
                  <a:moveTo>
                    <a:pt x="1918504" y="0"/>
                  </a:moveTo>
                  <a:lnTo>
                    <a:pt x="2043896" y="0"/>
                  </a:lnTo>
                  <a:lnTo>
                    <a:pt x="2043896" y="63500"/>
                  </a:lnTo>
                  <a:lnTo>
                    <a:pt x="1918504" y="63500"/>
                  </a:lnTo>
                  <a:close/>
                  <a:moveTo>
                    <a:pt x="2131671" y="0"/>
                  </a:moveTo>
                  <a:lnTo>
                    <a:pt x="2257063" y="0"/>
                  </a:lnTo>
                  <a:lnTo>
                    <a:pt x="2257063" y="63500"/>
                  </a:lnTo>
                  <a:lnTo>
                    <a:pt x="2131671" y="63500"/>
                  </a:lnTo>
                  <a:close/>
                  <a:moveTo>
                    <a:pt x="2344838" y="0"/>
                  </a:moveTo>
                  <a:lnTo>
                    <a:pt x="2470230" y="0"/>
                  </a:lnTo>
                  <a:lnTo>
                    <a:pt x="2470230" y="63500"/>
                  </a:lnTo>
                  <a:lnTo>
                    <a:pt x="2344838" y="63500"/>
                  </a:lnTo>
                  <a:close/>
                  <a:moveTo>
                    <a:pt x="2558005" y="0"/>
                  </a:moveTo>
                  <a:lnTo>
                    <a:pt x="2683397" y="0"/>
                  </a:lnTo>
                  <a:lnTo>
                    <a:pt x="2683397" y="63500"/>
                  </a:lnTo>
                  <a:lnTo>
                    <a:pt x="2558005" y="63500"/>
                  </a:lnTo>
                  <a:close/>
                  <a:moveTo>
                    <a:pt x="2771172" y="0"/>
                  </a:moveTo>
                  <a:lnTo>
                    <a:pt x="2896564" y="0"/>
                  </a:lnTo>
                  <a:lnTo>
                    <a:pt x="2896564" y="63500"/>
                  </a:lnTo>
                  <a:lnTo>
                    <a:pt x="2771172" y="63500"/>
                  </a:lnTo>
                  <a:close/>
                  <a:moveTo>
                    <a:pt x="2984339" y="0"/>
                  </a:moveTo>
                  <a:lnTo>
                    <a:pt x="3109732" y="0"/>
                  </a:lnTo>
                  <a:lnTo>
                    <a:pt x="3109732" y="63500"/>
                  </a:lnTo>
                  <a:lnTo>
                    <a:pt x="2984339" y="63500"/>
                  </a:lnTo>
                  <a:close/>
                  <a:moveTo>
                    <a:pt x="3197506" y="0"/>
                  </a:moveTo>
                  <a:lnTo>
                    <a:pt x="3322899" y="0"/>
                  </a:lnTo>
                  <a:lnTo>
                    <a:pt x="3322899" y="63500"/>
                  </a:lnTo>
                  <a:lnTo>
                    <a:pt x="3197506" y="63500"/>
                  </a:lnTo>
                  <a:close/>
                  <a:moveTo>
                    <a:pt x="3410674" y="0"/>
                  </a:moveTo>
                  <a:lnTo>
                    <a:pt x="3536066" y="0"/>
                  </a:lnTo>
                  <a:lnTo>
                    <a:pt x="3536066" y="63500"/>
                  </a:lnTo>
                  <a:lnTo>
                    <a:pt x="3410674" y="63500"/>
                  </a:lnTo>
                  <a:close/>
                  <a:moveTo>
                    <a:pt x="3623840" y="0"/>
                  </a:moveTo>
                  <a:lnTo>
                    <a:pt x="3749233" y="0"/>
                  </a:lnTo>
                  <a:lnTo>
                    <a:pt x="3749233" y="63500"/>
                  </a:lnTo>
                  <a:lnTo>
                    <a:pt x="3623840" y="63500"/>
                  </a:lnTo>
                  <a:close/>
                  <a:moveTo>
                    <a:pt x="3837008" y="0"/>
                  </a:moveTo>
                  <a:lnTo>
                    <a:pt x="3962400" y="0"/>
                  </a:lnTo>
                  <a:lnTo>
                    <a:pt x="3962400" y="63500"/>
                  </a:lnTo>
                  <a:lnTo>
                    <a:pt x="3837008" y="63500"/>
                  </a:lnTo>
                  <a:close/>
                </a:path>
              </a:pathLst>
            </a:custGeom>
            <a:solidFill>
              <a:srgbClr val="70A1BD"/>
            </a:solidFill>
          </p:spPr>
        </p:sp>
        <p:sp>
          <p:nvSpPr>
            <p:cNvPr name="TextBox 180" id="180"/>
            <p:cNvSpPr txBox="true"/>
            <p:nvPr/>
          </p:nvSpPr>
          <p:spPr>
            <a:xfrm>
              <a:off x="0" y="-28575"/>
              <a:ext cx="3962400" cy="92075"/>
            </a:xfrm>
            <a:prstGeom prst="rect">
              <a:avLst/>
            </a:prstGeom>
          </p:spPr>
          <p:txBody>
            <a:bodyPr anchor="ctr" rtlCol="false" tIns="50800" lIns="50800" bIns="50800" rIns="50800"/>
            <a:lstStyle/>
            <a:p>
              <a:pPr algn="l">
                <a:lnSpc>
                  <a:spcPts val="1679"/>
                </a:lnSpc>
              </a:pPr>
            </a:p>
          </p:txBody>
        </p:sp>
      </p:grpSp>
      <p:grpSp>
        <p:nvGrpSpPr>
          <p:cNvPr name="Group 181" id="181"/>
          <p:cNvGrpSpPr/>
          <p:nvPr/>
        </p:nvGrpSpPr>
        <p:grpSpPr>
          <a:xfrm rot="0">
            <a:off x="15240000" y="8262938"/>
            <a:ext cx="400050" cy="47625"/>
            <a:chOff x="0" y="0"/>
            <a:chExt cx="533400" cy="63500"/>
          </a:xfrm>
        </p:grpSpPr>
        <p:sp>
          <p:nvSpPr>
            <p:cNvPr name="Freeform 182" id="182"/>
            <p:cNvSpPr/>
            <p:nvPr/>
          </p:nvSpPr>
          <p:spPr>
            <a:xfrm flipH="false" flipV="false" rot="0">
              <a:off x="0" y="0"/>
              <a:ext cx="533400" cy="63500"/>
            </a:xfrm>
            <a:custGeom>
              <a:avLst/>
              <a:gdLst/>
              <a:ahLst/>
              <a:cxnLst/>
              <a:rect r="r" b="b" t="t" l="l"/>
              <a:pathLst>
                <a:path h="63500" w="533400">
                  <a:moveTo>
                    <a:pt x="0" y="0"/>
                  </a:moveTo>
                  <a:lnTo>
                    <a:pt x="121227" y="0"/>
                  </a:lnTo>
                  <a:lnTo>
                    <a:pt x="121227" y="63500"/>
                  </a:lnTo>
                  <a:lnTo>
                    <a:pt x="0" y="63500"/>
                  </a:lnTo>
                  <a:close/>
                  <a:moveTo>
                    <a:pt x="206086" y="0"/>
                  </a:moveTo>
                  <a:lnTo>
                    <a:pt x="327314" y="0"/>
                  </a:lnTo>
                  <a:lnTo>
                    <a:pt x="327314" y="63500"/>
                  </a:lnTo>
                  <a:lnTo>
                    <a:pt x="206086" y="63500"/>
                  </a:lnTo>
                  <a:close/>
                  <a:moveTo>
                    <a:pt x="412173" y="0"/>
                  </a:moveTo>
                  <a:lnTo>
                    <a:pt x="533400" y="0"/>
                  </a:lnTo>
                  <a:lnTo>
                    <a:pt x="533400" y="63500"/>
                  </a:lnTo>
                  <a:lnTo>
                    <a:pt x="412173" y="63500"/>
                  </a:lnTo>
                  <a:close/>
                </a:path>
              </a:pathLst>
            </a:custGeom>
            <a:solidFill>
              <a:srgbClr val="EFF1E8"/>
            </a:solidFill>
          </p:spPr>
        </p:sp>
        <p:sp>
          <p:nvSpPr>
            <p:cNvPr name="TextBox 183" id="183"/>
            <p:cNvSpPr txBox="true"/>
            <p:nvPr/>
          </p:nvSpPr>
          <p:spPr>
            <a:xfrm>
              <a:off x="0" y="-28575"/>
              <a:ext cx="533400" cy="92075"/>
            </a:xfrm>
            <a:prstGeom prst="rect">
              <a:avLst/>
            </a:prstGeom>
          </p:spPr>
          <p:txBody>
            <a:bodyPr anchor="ctr" rtlCol="false" tIns="50800" lIns="50800" bIns="50800" rIns="50800"/>
            <a:lstStyle/>
            <a:p>
              <a:pPr algn="l">
                <a:lnSpc>
                  <a:spcPts val="1679"/>
                </a:lnSpc>
              </a:pPr>
            </a:p>
          </p:txBody>
        </p:sp>
      </p:grpSp>
      <p:grpSp>
        <p:nvGrpSpPr>
          <p:cNvPr name="Group 184" id="184"/>
          <p:cNvGrpSpPr/>
          <p:nvPr/>
        </p:nvGrpSpPr>
        <p:grpSpPr>
          <a:xfrm rot="0">
            <a:off x="15640050" y="8201025"/>
            <a:ext cx="171450" cy="171450"/>
            <a:chOff x="0" y="0"/>
            <a:chExt cx="228600" cy="228600"/>
          </a:xfrm>
        </p:grpSpPr>
        <p:sp>
          <p:nvSpPr>
            <p:cNvPr name="Freeform 185" id="185"/>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186" id="186"/>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sp>
        <p:nvSpPr>
          <p:cNvPr name="TextBox 187" id="187"/>
          <p:cNvSpPr txBox="true"/>
          <p:nvPr/>
        </p:nvSpPr>
        <p:spPr>
          <a:xfrm rot="0">
            <a:off x="3429000" y="2838450"/>
            <a:ext cx="3810000" cy="325755"/>
          </a:xfrm>
          <a:prstGeom prst="rect">
            <a:avLst/>
          </a:prstGeom>
        </p:spPr>
        <p:txBody>
          <a:bodyPr anchor="t" rtlCol="false" tIns="0" lIns="0" bIns="0" rIns="0">
            <a:spAutoFit/>
          </a:bodyPr>
          <a:lstStyle/>
          <a:p>
            <a:pPr algn="l">
              <a:lnSpc>
                <a:spcPts val="2520"/>
              </a:lnSpc>
            </a:pPr>
            <a:r>
              <a:rPr lang="en-US" sz="1800" b="true">
                <a:solidFill>
                  <a:srgbClr val="70A1BD"/>
                </a:solidFill>
                <a:latin typeface="Poppins Bold"/>
                <a:ea typeface="Poppins Bold"/>
                <a:cs typeface="Poppins Bold"/>
                <a:sym typeface="Poppins Bold"/>
              </a:rPr>
              <a:t>Inside Kyriba</a:t>
            </a:r>
          </a:p>
        </p:txBody>
      </p:sp>
      <p:sp>
        <p:nvSpPr>
          <p:cNvPr name="TextBox 188" id="188"/>
          <p:cNvSpPr txBox="true"/>
          <p:nvPr/>
        </p:nvSpPr>
        <p:spPr>
          <a:xfrm rot="0">
            <a:off x="571500" y="2809875"/>
            <a:ext cx="1905000" cy="291465"/>
          </a:xfrm>
          <a:prstGeom prst="rect">
            <a:avLst/>
          </a:prstGeom>
        </p:spPr>
        <p:txBody>
          <a:bodyPr anchor="t" rtlCol="false" tIns="0" lIns="0" bIns="0" rIns="0">
            <a:spAutoFit/>
          </a:bodyPr>
          <a:lstStyle/>
          <a:p>
            <a:pPr algn="ctr">
              <a:lnSpc>
                <a:spcPts val="2310"/>
              </a:lnSpc>
            </a:pPr>
            <a:r>
              <a:rPr lang="en-US" sz="1650" b="true">
                <a:solidFill>
                  <a:srgbClr val="EFF1E8"/>
                </a:solidFill>
                <a:latin typeface="Poppins Bold"/>
                <a:ea typeface="Poppins Bold"/>
                <a:cs typeface="Poppins Bold"/>
                <a:sym typeface="Poppins Bold"/>
              </a:rPr>
              <a:t>Real cash in</a:t>
            </a:r>
          </a:p>
        </p:txBody>
      </p:sp>
      <p:sp>
        <p:nvSpPr>
          <p:cNvPr name="TextBox 189" id="189"/>
          <p:cNvSpPr txBox="true"/>
          <p:nvPr/>
        </p:nvSpPr>
        <p:spPr>
          <a:xfrm rot="0">
            <a:off x="15811500" y="2809875"/>
            <a:ext cx="1905000" cy="291465"/>
          </a:xfrm>
          <a:prstGeom prst="rect">
            <a:avLst/>
          </a:prstGeom>
        </p:spPr>
        <p:txBody>
          <a:bodyPr anchor="t" rtlCol="false" tIns="0" lIns="0" bIns="0" rIns="0">
            <a:spAutoFit/>
          </a:bodyPr>
          <a:lstStyle/>
          <a:p>
            <a:pPr algn="ctr">
              <a:lnSpc>
                <a:spcPts val="2310"/>
              </a:lnSpc>
            </a:pPr>
            <a:r>
              <a:rPr lang="en-US" sz="1650" b="true">
                <a:solidFill>
                  <a:srgbClr val="EFF1E8"/>
                </a:solidFill>
                <a:latin typeface="Poppins Bold"/>
                <a:ea typeface="Poppins Bold"/>
                <a:cs typeface="Poppins Bold"/>
                <a:sym typeface="Poppins Bold"/>
              </a:rPr>
              <a:t>Real cash out</a:t>
            </a:r>
          </a:p>
        </p:txBody>
      </p:sp>
      <p:sp>
        <p:nvSpPr>
          <p:cNvPr name="TextBox 190" id="190"/>
          <p:cNvSpPr txBox="true"/>
          <p:nvPr/>
        </p:nvSpPr>
        <p:spPr>
          <a:xfrm rot="0">
            <a:off x="3238500" y="3352800"/>
            <a:ext cx="247650" cy="182880"/>
          </a:xfrm>
          <a:prstGeom prst="rect">
            <a:avLst/>
          </a:prstGeom>
        </p:spPr>
        <p:txBody>
          <a:bodyPr anchor="t" rtlCol="false" tIns="0" lIns="0" bIns="0" rIns="0">
            <a:spAutoFit/>
          </a:bodyPr>
          <a:lstStyle/>
          <a:p>
            <a:pPr algn="ctr">
              <a:lnSpc>
                <a:spcPts val="1470"/>
              </a:lnSpc>
            </a:pPr>
            <a:r>
              <a:rPr lang="en-US" sz="1050" b="true">
                <a:solidFill>
                  <a:srgbClr val="EFF1E8"/>
                </a:solidFill>
                <a:latin typeface="Poppins Bold"/>
                <a:ea typeface="Poppins Bold"/>
                <a:cs typeface="Poppins Bold"/>
                <a:sym typeface="Poppins Bold"/>
              </a:rPr>
              <a:t>1</a:t>
            </a:r>
          </a:p>
        </p:txBody>
      </p:sp>
      <p:sp>
        <p:nvSpPr>
          <p:cNvPr name="TextBox 191" id="191"/>
          <p:cNvSpPr txBox="true"/>
          <p:nvPr/>
        </p:nvSpPr>
        <p:spPr>
          <a:xfrm rot="0">
            <a:off x="3600450" y="3305175"/>
            <a:ext cx="8572500" cy="276225"/>
          </a:xfrm>
          <a:prstGeom prst="rect">
            <a:avLst/>
          </a:prstGeom>
        </p:spPr>
        <p:txBody>
          <a:bodyPr anchor="t" rtlCol="false" tIns="0" lIns="0" bIns="0" rIns="0">
            <a:spAutoFit/>
          </a:bodyPr>
          <a:lstStyle/>
          <a:p>
            <a:pPr algn="l">
              <a:lnSpc>
                <a:spcPts val="2100"/>
              </a:lnSpc>
            </a:pPr>
            <a:r>
              <a:rPr lang="en-US" sz="1500" b="true">
                <a:solidFill>
                  <a:srgbClr val="70A1BD"/>
                </a:solidFill>
                <a:latin typeface="Poppins Bold"/>
                <a:ea typeface="Poppins Bold"/>
                <a:cs typeface="Poppins Bold"/>
                <a:sym typeface="Poppins Bold"/>
              </a:rPr>
              <a:t>A has a deposit with Treasury. C invests with Treasury.</a:t>
            </a:r>
          </a:p>
        </p:txBody>
      </p:sp>
      <p:sp>
        <p:nvSpPr>
          <p:cNvPr name="TextBox 192" id="192"/>
          <p:cNvSpPr txBox="true"/>
          <p:nvPr/>
        </p:nvSpPr>
        <p:spPr>
          <a:xfrm rot="0">
            <a:off x="6067425" y="381952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A</a:t>
            </a:r>
          </a:p>
        </p:txBody>
      </p:sp>
      <p:sp>
        <p:nvSpPr>
          <p:cNvPr name="TextBox 193" id="193"/>
          <p:cNvSpPr txBox="true"/>
          <p:nvPr/>
        </p:nvSpPr>
        <p:spPr>
          <a:xfrm rot="0">
            <a:off x="8515350" y="381952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B</a:t>
            </a:r>
          </a:p>
        </p:txBody>
      </p:sp>
      <p:sp>
        <p:nvSpPr>
          <p:cNvPr name="TextBox 194" id="194"/>
          <p:cNvSpPr txBox="true"/>
          <p:nvPr/>
        </p:nvSpPr>
        <p:spPr>
          <a:xfrm rot="0">
            <a:off x="10963275" y="381952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C</a:t>
            </a:r>
          </a:p>
        </p:txBody>
      </p:sp>
      <p:sp>
        <p:nvSpPr>
          <p:cNvPr name="TextBox 195" id="195"/>
          <p:cNvSpPr txBox="true"/>
          <p:nvPr/>
        </p:nvSpPr>
        <p:spPr>
          <a:xfrm rot="0">
            <a:off x="7305675" y="366712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196" id="196"/>
          <p:cNvSpPr txBox="true"/>
          <p:nvPr/>
        </p:nvSpPr>
        <p:spPr>
          <a:xfrm rot="0">
            <a:off x="9753600" y="366712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197" id="197"/>
          <p:cNvSpPr txBox="true"/>
          <p:nvPr/>
        </p:nvSpPr>
        <p:spPr>
          <a:xfrm rot="0">
            <a:off x="3429000" y="3781425"/>
            <a:ext cx="1428750" cy="401479"/>
          </a:xfrm>
          <a:prstGeom prst="rect">
            <a:avLst/>
          </a:prstGeom>
        </p:spPr>
        <p:txBody>
          <a:bodyPr anchor="t" rtlCol="false" tIns="0" lIns="0" bIns="0" rIns="0">
            <a:spAutoFit/>
          </a:bodyPr>
          <a:lstStyle/>
          <a:p>
            <a:pPr algn="ctr">
              <a:lnSpc>
                <a:spcPts val="1593"/>
              </a:lnSpc>
            </a:pPr>
            <a:r>
              <a:rPr lang="en-US" sz="1275" b="true">
                <a:solidFill>
                  <a:srgbClr val="EFF1E8"/>
                </a:solidFill>
                <a:latin typeface="Poppins Bold"/>
                <a:ea typeface="Poppins Bold"/>
                <a:cs typeface="Poppins Bold"/>
                <a:sym typeface="Poppins Bold"/>
              </a:rPr>
              <a:t>Deposit with Treasury</a:t>
            </a:r>
          </a:p>
        </p:txBody>
      </p:sp>
      <p:sp>
        <p:nvSpPr>
          <p:cNvPr name="TextBox 198" id="198"/>
          <p:cNvSpPr txBox="true"/>
          <p:nvPr/>
        </p:nvSpPr>
        <p:spPr>
          <a:xfrm rot="0">
            <a:off x="4857750" y="366712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withdraws</a:t>
            </a:r>
          </a:p>
        </p:txBody>
      </p:sp>
      <p:sp>
        <p:nvSpPr>
          <p:cNvPr name="TextBox 199" id="199"/>
          <p:cNvSpPr txBox="true"/>
          <p:nvPr/>
        </p:nvSpPr>
        <p:spPr>
          <a:xfrm rot="0">
            <a:off x="571500" y="3838575"/>
            <a:ext cx="1905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No cash in</a:t>
            </a:r>
          </a:p>
        </p:txBody>
      </p:sp>
      <p:sp>
        <p:nvSpPr>
          <p:cNvPr name="TextBox 200" id="200"/>
          <p:cNvSpPr txBox="true"/>
          <p:nvPr/>
        </p:nvSpPr>
        <p:spPr>
          <a:xfrm rot="0">
            <a:off x="13411200" y="3781425"/>
            <a:ext cx="1428750" cy="401479"/>
          </a:xfrm>
          <a:prstGeom prst="rect">
            <a:avLst/>
          </a:prstGeom>
        </p:spPr>
        <p:txBody>
          <a:bodyPr anchor="t" rtlCol="false" tIns="0" lIns="0" bIns="0" rIns="0">
            <a:spAutoFit/>
          </a:bodyPr>
          <a:lstStyle/>
          <a:p>
            <a:pPr algn="ctr">
              <a:lnSpc>
                <a:spcPts val="1593"/>
              </a:lnSpc>
            </a:pPr>
            <a:r>
              <a:rPr lang="en-US" sz="1275" b="true">
                <a:solidFill>
                  <a:srgbClr val="EFF1E8"/>
                </a:solidFill>
                <a:latin typeface="Poppins Bold"/>
                <a:ea typeface="Poppins Bold"/>
                <a:cs typeface="Poppins Bold"/>
                <a:sym typeface="Poppins Bold"/>
              </a:rPr>
              <a:t>Deposit with Treasury</a:t>
            </a:r>
          </a:p>
        </p:txBody>
      </p:sp>
      <p:sp>
        <p:nvSpPr>
          <p:cNvPr name="TextBox 201" id="201"/>
          <p:cNvSpPr txBox="true"/>
          <p:nvPr/>
        </p:nvSpPr>
        <p:spPr>
          <a:xfrm rot="0">
            <a:off x="12201525" y="366712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deposits</a:t>
            </a:r>
          </a:p>
        </p:txBody>
      </p:sp>
      <p:sp>
        <p:nvSpPr>
          <p:cNvPr name="TextBox 202" id="202"/>
          <p:cNvSpPr txBox="true"/>
          <p:nvPr/>
        </p:nvSpPr>
        <p:spPr>
          <a:xfrm rot="0">
            <a:off x="15811500" y="3838575"/>
            <a:ext cx="1905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No cash out</a:t>
            </a:r>
          </a:p>
        </p:txBody>
      </p:sp>
      <p:sp>
        <p:nvSpPr>
          <p:cNvPr name="TextBox 203" id="203"/>
          <p:cNvSpPr txBox="true"/>
          <p:nvPr/>
        </p:nvSpPr>
        <p:spPr>
          <a:xfrm rot="0">
            <a:off x="3238500" y="4781550"/>
            <a:ext cx="247650" cy="182880"/>
          </a:xfrm>
          <a:prstGeom prst="rect">
            <a:avLst/>
          </a:prstGeom>
        </p:spPr>
        <p:txBody>
          <a:bodyPr anchor="t" rtlCol="false" tIns="0" lIns="0" bIns="0" rIns="0">
            <a:spAutoFit/>
          </a:bodyPr>
          <a:lstStyle/>
          <a:p>
            <a:pPr algn="ctr">
              <a:lnSpc>
                <a:spcPts val="1470"/>
              </a:lnSpc>
            </a:pPr>
            <a:r>
              <a:rPr lang="en-US" sz="1050" b="true">
                <a:solidFill>
                  <a:srgbClr val="EFF1E8"/>
                </a:solidFill>
                <a:latin typeface="Poppins Bold"/>
                <a:ea typeface="Poppins Bold"/>
                <a:cs typeface="Poppins Bold"/>
                <a:sym typeface="Poppins Bold"/>
              </a:rPr>
              <a:t>2</a:t>
            </a:r>
          </a:p>
        </p:txBody>
      </p:sp>
      <p:sp>
        <p:nvSpPr>
          <p:cNvPr name="TextBox 204" id="204"/>
          <p:cNvSpPr txBox="true"/>
          <p:nvPr/>
        </p:nvSpPr>
        <p:spPr>
          <a:xfrm rot="0">
            <a:off x="3600450" y="4733925"/>
            <a:ext cx="8572500" cy="276225"/>
          </a:xfrm>
          <a:prstGeom prst="rect">
            <a:avLst/>
          </a:prstGeom>
        </p:spPr>
        <p:txBody>
          <a:bodyPr anchor="t" rtlCol="false" tIns="0" lIns="0" bIns="0" rIns="0">
            <a:spAutoFit/>
          </a:bodyPr>
          <a:lstStyle/>
          <a:p>
            <a:pPr algn="l">
              <a:lnSpc>
                <a:spcPts val="2100"/>
              </a:lnSpc>
            </a:pPr>
            <a:r>
              <a:rPr lang="en-US" sz="1500" b="true">
                <a:solidFill>
                  <a:srgbClr val="70A1BD"/>
                </a:solidFill>
                <a:latin typeface="Poppins Bold"/>
                <a:ea typeface="Poppins Bold"/>
                <a:cs typeface="Poppins Bold"/>
                <a:sym typeface="Poppins Bold"/>
              </a:rPr>
              <a:t>A has a deposit with Treasury. C does not invest.</a:t>
            </a:r>
          </a:p>
        </p:txBody>
      </p:sp>
      <p:sp>
        <p:nvSpPr>
          <p:cNvPr name="TextBox 205" id="205"/>
          <p:cNvSpPr txBox="true"/>
          <p:nvPr/>
        </p:nvSpPr>
        <p:spPr>
          <a:xfrm rot="0">
            <a:off x="6067425" y="524827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A</a:t>
            </a:r>
          </a:p>
        </p:txBody>
      </p:sp>
      <p:sp>
        <p:nvSpPr>
          <p:cNvPr name="TextBox 206" id="206"/>
          <p:cNvSpPr txBox="true"/>
          <p:nvPr/>
        </p:nvSpPr>
        <p:spPr>
          <a:xfrm rot="0">
            <a:off x="8515350" y="524827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B</a:t>
            </a:r>
          </a:p>
        </p:txBody>
      </p:sp>
      <p:sp>
        <p:nvSpPr>
          <p:cNvPr name="TextBox 207" id="207"/>
          <p:cNvSpPr txBox="true"/>
          <p:nvPr/>
        </p:nvSpPr>
        <p:spPr>
          <a:xfrm rot="0">
            <a:off x="10963275" y="524827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C</a:t>
            </a:r>
          </a:p>
        </p:txBody>
      </p:sp>
      <p:sp>
        <p:nvSpPr>
          <p:cNvPr name="TextBox 208" id="208"/>
          <p:cNvSpPr txBox="true"/>
          <p:nvPr/>
        </p:nvSpPr>
        <p:spPr>
          <a:xfrm rot="0">
            <a:off x="7305675" y="509587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209" id="209"/>
          <p:cNvSpPr txBox="true"/>
          <p:nvPr/>
        </p:nvSpPr>
        <p:spPr>
          <a:xfrm rot="0">
            <a:off x="9753600" y="509587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210" id="210"/>
          <p:cNvSpPr txBox="true"/>
          <p:nvPr/>
        </p:nvSpPr>
        <p:spPr>
          <a:xfrm rot="0">
            <a:off x="3429000" y="5210175"/>
            <a:ext cx="1428750" cy="401479"/>
          </a:xfrm>
          <a:prstGeom prst="rect">
            <a:avLst/>
          </a:prstGeom>
        </p:spPr>
        <p:txBody>
          <a:bodyPr anchor="t" rtlCol="false" tIns="0" lIns="0" bIns="0" rIns="0">
            <a:spAutoFit/>
          </a:bodyPr>
          <a:lstStyle/>
          <a:p>
            <a:pPr algn="ctr">
              <a:lnSpc>
                <a:spcPts val="1593"/>
              </a:lnSpc>
            </a:pPr>
            <a:r>
              <a:rPr lang="en-US" sz="1275" b="true">
                <a:solidFill>
                  <a:srgbClr val="EFF1E8"/>
                </a:solidFill>
                <a:latin typeface="Poppins Bold"/>
                <a:ea typeface="Poppins Bold"/>
                <a:cs typeface="Poppins Bold"/>
                <a:sym typeface="Poppins Bold"/>
              </a:rPr>
              <a:t>Deposit with Treasury</a:t>
            </a:r>
          </a:p>
        </p:txBody>
      </p:sp>
      <p:sp>
        <p:nvSpPr>
          <p:cNvPr name="TextBox 211" id="211"/>
          <p:cNvSpPr txBox="true"/>
          <p:nvPr/>
        </p:nvSpPr>
        <p:spPr>
          <a:xfrm rot="0">
            <a:off x="4857750" y="509587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withdraws</a:t>
            </a:r>
          </a:p>
        </p:txBody>
      </p:sp>
      <p:sp>
        <p:nvSpPr>
          <p:cNvPr name="TextBox 212" id="212"/>
          <p:cNvSpPr txBox="true"/>
          <p:nvPr/>
        </p:nvSpPr>
        <p:spPr>
          <a:xfrm rot="0">
            <a:off x="571500" y="5267325"/>
            <a:ext cx="1905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No cash in</a:t>
            </a:r>
          </a:p>
        </p:txBody>
      </p:sp>
      <p:sp>
        <p:nvSpPr>
          <p:cNvPr name="TextBox 213" id="213"/>
          <p:cNvSpPr txBox="true"/>
          <p:nvPr/>
        </p:nvSpPr>
        <p:spPr>
          <a:xfrm rot="0">
            <a:off x="15811500" y="5267325"/>
            <a:ext cx="1905000" cy="241935"/>
          </a:xfrm>
          <a:prstGeom prst="rect">
            <a:avLst/>
          </a:prstGeom>
        </p:spPr>
        <p:txBody>
          <a:bodyPr anchor="t" rtlCol="false" tIns="0" lIns="0" bIns="0" rIns="0">
            <a:spAutoFit/>
          </a:bodyPr>
          <a:lstStyle/>
          <a:p>
            <a:pPr algn="ctr">
              <a:lnSpc>
                <a:spcPts val="1889"/>
              </a:lnSpc>
            </a:pPr>
            <a:r>
              <a:rPr lang="en-US" sz="1350" b="true">
                <a:solidFill>
                  <a:srgbClr val="70A1BD"/>
                </a:solidFill>
                <a:latin typeface="Poppins Bold"/>
                <a:ea typeface="Poppins Bold"/>
                <a:cs typeface="Poppins Bold"/>
                <a:sym typeface="Poppins Bold"/>
              </a:rPr>
              <a:t>Entity C's bank</a:t>
            </a:r>
          </a:p>
        </p:txBody>
      </p:sp>
      <p:sp>
        <p:nvSpPr>
          <p:cNvPr name="TextBox 214" id="214"/>
          <p:cNvSpPr txBox="true"/>
          <p:nvPr/>
        </p:nvSpPr>
        <p:spPr>
          <a:xfrm rot="0">
            <a:off x="12201525" y="5095875"/>
            <a:ext cx="2971800"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payment to Entity C</a:t>
            </a:r>
          </a:p>
        </p:txBody>
      </p:sp>
      <p:sp>
        <p:nvSpPr>
          <p:cNvPr name="TextBox 215" id="215"/>
          <p:cNvSpPr txBox="true"/>
          <p:nvPr/>
        </p:nvSpPr>
        <p:spPr>
          <a:xfrm rot="0">
            <a:off x="3238500" y="6210300"/>
            <a:ext cx="247650" cy="182880"/>
          </a:xfrm>
          <a:prstGeom prst="rect">
            <a:avLst/>
          </a:prstGeom>
        </p:spPr>
        <p:txBody>
          <a:bodyPr anchor="t" rtlCol="false" tIns="0" lIns="0" bIns="0" rIns="0">
            <a:spAutoFit/>
          </a:bodyPr>
          <a:lstStyle/>
          <a:p>
            <a:pPr algn="ctr">
              <a:lnSpc>
                <a:spcPts val="1470"/>
              </a:lnSpc>
            </a:pPr>
            <a:r>
              <a:rPr lang="en-US" sz="1050" b="true">
                <a:solidFill>
                  <a:srgbClr val="EFF1E8"/>
                </a:solidFill>
                <a:latin typeface="Poppins Bold"/>
                <a:ea typeface="Poppins Bold"/>
                <a:cs typeface="Poppins Bold"/>
                <a:sym typeface="Poppins Bold"/>
              </a:rPr>
              <a:t>3</a:t>
            </a:r>
          </a:p>
        </p:txBody>
      </p:sp>
      <p:sp>
        <p:nvSpPr>
          <p:cNvPr name="TextBox 216" id="216"/>
          <p:cNvSpPr txBox="true"/>
          <p:nvPr/>
        </p:nvSpPr>
        <p:spPr>
          <a:xfrm rot="0">
            <a:off x="3600450" y="6162675"/>
            <a:ext cx="8572500" cy="276225"/>
          </a:xfrm>
          <a:prstGeom prst="rect">
            <a:avLst/>
          </a:prstGeom>
        </p:spPr>
        <p:txBody>
          <a:bodyPr anchor="t" rtlCol="false" tIns="0" lIns="0" bIns="0" rIns="0">
            <a:spAutoFit/>
          </a:bodyPr>
          <a:lstStyle/>
          <a:p>
            <a:pPr algn="l">
              <a:lnSpc>
                <a:spcPts val="2100"/>
              </a:lnSpc>
            </a:pPr>
            <a:r>
              <a:rPr lang="en-US" sz="1500" b="true">
                <a:solidFill>
                  <a:srgbClr val="70A1BD"/>
                </a:solidFill>
                <a:latin typeface="Poppins Bold"/>
                <a:ea typeface="Poppins Bold"/>
                <a:cs typeface="Poppins Bold"/>
                <a:sym typeface="Poppins Bold"/>
              </a:rPr>
              <a:t>A has no cash with Treasury. C invests with Treasury.</a:t>
            </a:r>
          </a:p>
        </p:txBody>
      </p:sp>
      <p:sp>
        <p:nvSpPr>
          <p:cNvPr name="TextBox 217" id="217"/>
          <p:cNvSpPr txBox="true"/>
          <p:nvPr/>
        </p:nvSpPr>
        <p:spPr>
          <a:xfrm rot="0">
            <a:off x="6067425" y="667702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A</a:t>
            </a:r>
          </a:p>
        </p:txBody>
      </p:sp>
      <p:sp>
        <p:nvSpPr>
          <p:cNvPr name="TextBox 218" id="218"/>
          <p:cNvSpPr txBox="true"/>
          <p:nvPr/>
        </p:nvSpPr>
        <p:spPr>
          <a:xfrm rot="0">
            <a:off x="8515350" y="667702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B</a:t>
            </a:r>
          </a:p>
        </p:txBody>
      </p:sp>
      <p:sp>
        <p:nvSpPr>
          <p:cNvPr name="TextBox 219" id="219"/>
          <p:cNvSpPr txBox="true"/>
          <p:nvPr/>
        </p:nvSpPr>
        <p:spPr>
          <a:xfrm rot="0">
            <a:off x="10963275" y="667702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C</a:t>
            </a:r>
          </a:p>
        </p:txBody>
      </p:sp>
      <p:sp>
        <p:nvSpPr>
          <p:cNvPr name="TextBox 220" id="220"/>
          <p:cNvSpPr txBox="true"/>
          <p:nvPr/>
        </p:nvSpPr>
        <p:spPr>
          <a:xfrm rot="0">
            <a:off x="7305675" y="652462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221" id="221"/>
          <p:cNvSpPr txBox="true"/>
          <p:nvPr/>
        </p:nvSpPr>
        <p:spPr>
          <a:xfrm rot="0">
            <a:off x="9753600" y="652462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222" id="222"/>
          <p:cNvSpPr txBox="true"/>
          <p:nvPr/>
        </p:nvSpPr>
        <p:spPr>
          <a:xfrm rot="0">
            <a:off x="571500" y="6696075"/>
            <a:ext cx="1905000" cy="241935"/>
          </a:xfrm>
          <a:prstGeom prst="rect">
            <a:avLst/>
          </a:prstGeom>
        </p:spPr>
        <p:txBody>
          <a:bodyPr anchor="t" rtlCol="false" tIns="0" lIns="0" bIns="0" rIns="0">
            <a:spAutoFit/>
          </a:bodyPr>
          <a:lstStyle/>
          <a:p>
            <a:pPr algn="ctr">
              <a:lnSpc>
                <a:spcPts val="1889"/>
              </a:lnSpc>
            </a:pPr>
            <a:r>
              <a:rPr lang="en-US" sz="1350" b="true">
                <a:solidFill>
                  <a:srgbClr val="70A1BD"/>
                </a:solidFill>
                <a:latin typeface="Poppins Bold"/>
                <a:ea typeface="Poppins Bold"/>
                <a:cs typeface="Poppins Bold"/>
                <a:sym typeface="Poppins Bold"/>
              </a:rPr>
              <a:t>Entity A's bank</a:t>
            </a:r>
          </a:p>
        </p:txBody>
      </p:sp>
      <p:sp>
        <p:nvSpPr>
          <p:cNvPr name="TextBox 223" id="223"/>
          <p:cNvSpPr txBox="true"/>
          <p:nvPr/>
        </p:nvSpPr>
        <p:spPr>
          <a:xfrm rot="0">
            <a:off x="3095625" y="6524625"/>
            <a:ext cx="2762250"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sends cash to Treasury</a:t>
            </a:r>
          </a:p>
        </p:txBody>
      </p:sp>
      <p:sp>
        <p:nvSpPr>
          <p:cNvPr name="TextBox 224" id="224"/>
          <p:cNvSpPr txBox="true"/>
          <p:nvPr/>
        </p:nvSpPr>
        <p:spPr>
          <a:xfrm rot="0">
            <a:off x="13411200" y="6638925"/>
            <a:ext cx="1428750" cy="401479"/>
          </a:xfrm>
          <a:prstGeom prst="rect">
            <a:avLst/>
          </a:prstGeom>
        </p:spPr>
        <p:txBody>
          <a:bodyPr anchor="t" rtlCol="false" tIns="0" lIns="0" bIns="0" rIns="0">
            <a:spAutoFit/>
          </a:bodyPr>
          <a:lstStyle/>
          <a:p>
            <a:pPr algn="ctr">
              <a:lnSpc>
                <a:spcPts val="1593"/>
              </a:lnSpc>
            </a:pPr>
            <a:r>
              <a:rPr lang="en-US" sz="1275" b="true">
                <a:solidFill>
                  <a:srgbClr val="EFF1E8"/>
                </a:solidFill>
                <a:latin typeface="Poppins Bold"/>
                <a:ea typeface="Poppins Bold"/>
                <a:cs typeface="Poppins Bold"/>
                <a:sym typeface="Poppins Bold"/>
              </a:rPr>
              <a:t>Deposit with Treasury</a:t>
            </a:r>
          </a:p>
        </p:txBody>
      </p:sp>
      <p:sp>
        <p:nvSpPr>
          <p:cNvPr name="TextBox 225" id="225"/>
          <p:cNvSpPr txBox="true"/>
          <p:nvPr/>
        </p:nvSpPr>
        <p:spPr>
          <a:xfrm rot="0">
            <a:off x="12201525" y="652462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deposits</a:t>
            </a:r>
          </a:p>
        </p:txBody>
      </p:sp>
      <p:sp>
        <p:nvSpPr>
          <p:cNvPr name="TextBox 226" id="226"/>
          <p:cNvSpPr txBox="true"/>
          <p:nvPr/>
        </p:nvSpPr>
        <p:spPr>
          <a:xfrm rot="0">
            <a:off x="15811500" y="6696075"/>
            <a:ext cx="1905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No cash out</a:t>
            </a:r>
          </a:p>
        </p:txBody>
      </p:sp>
      <p:sp>
        <p:nvSpPr>
          <p:cNvPr name="TextBox 227" id="227"/>
          <p:cNvSpPr txBox="true"/>
          <p:nvPr/>
        </p:nvSpPr>
        <p:spPr>
          <a:xfrm rot="0">
            <a:off x="3238500" y="7639050"/>
            <a:ext cx="247650" cy="182880"/>
          </a:xfrm>
          <a:prstGeom prst="rect">
            <a:avLst/>
          </a:prstGeom>
        </p:spPr>
        <p:txBody>
          <a:bodyPr anchor="t" rtlCol="false" tIns="0" lIns="0" bIns="0" rIns="0">
            <a:spAutoFit/>
          </a:bodyPr>
          <a:lstStyle/>
          <a:p>
            <a:pPr algn="ctr">
              <a:lnSpc>
                <a:spcPts val="1470"/>
              </a:lnSpc>
            </a:pPr>
            <a:r>
              <a:rPr lang="en-US" sz="1050" b="true">
                <a:solidFill>
                  <a:srgbClr val="EFF1E8"/>
                </a:solidFill>
                <a:latin typeface="Poppins Bold"/>
                <a:ea typeface="Poppins Bold"/>
                <a:cs typeface="Poppins Bold"/>
                <a:sym typeface="Poppins Bold"/>
              </a:rPr>
              <a:t>4</a:t>
            </a:r>
          </a:p>
        </p:txBody>
      </p:sp>
      <p:sp>
        <p:nvSpPr>
          <p:cNvPr name="TextBox 228" id="228"/>
          <p:cNvSpPr txBox="true"/>
          <p:nvPr/>
        </p:nvSpPr>
        <p:spPr>
          <a:xfrm rot="0">
            <a:off x="3600450" y="7591425"/>
            <a:ext cx="8572500" cy="276225"/>
          </a:xfrm>
          <a:prstGeom prst="rect">
            <a:avLst/>
          </a:prstGeom>
        </p:spPr>
        <p:txBody>
          <a:bodyPr anchor="t" rtlCol="false" tIns="0" lIns="0" bIns="0" rIns="0">
            <a:spAutoFit/>
          </a:bodyPr>
          <a:lstStyle/>
          <a:p>
            <a:pPr algn="l">
              <a:lnSpc>
                <a:spcPts val="2100"/>
              </a:lnSpc>
            </a:pPr>
            <a:r>
              <a:rPr lang="en-US" sz="1500" b="true">
                <a:solidFill>
                  <a:srgbClr val="70A1BD"/>
                </a:solidFill>
                <a:latin typeface="Poppins Bold"/>
                <a:ea typeface="Poppins Bold"/>
                <a:cs typeface="Poppins Bold"/>
                <a:sym typeface="Poppins Bold"/>
              </a:rPr>
              <a:t>A has no cash with Treasury. C does not invest.</a:t>
            </a:r>
          </a:p>
        </p:txBody>
      </p:sp>
      <p:sp>
        <p:nvSpPr>
          <p:cNvPr name="TextBox 229" id="229"/>
          <p:cNvSpPr txBox="true"/>
          <p:nvPr/>
        </p:nvSpPr>
        <p:spPr>
          <a:xfrm rot="0">
            <a:off x="6067425" y="810577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A</a:t>
            </a:r>
          </a:p>
        </p:txBody>
      </p:sp>
      <p:sp>
        <p:nvSpPr>
          <p:cNvPr name="TextBox 230" id="230"/>
          <p:cNvSpPr txBox="true"/>
          <p:nvPr/>
        </p:nvSpPr>
        <p:spPr>
          <a:xfrm rot="0">
            <a:off x="8515350" y="810577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B</a:t>
            </a:r>
          </a:p>
        </p:txBody>
      </p:sp>
      <p:sp>
        <p:nvSpPr>
          <p:cNvPr name="TextBox 231" id="231"/>
          <p:cNvSpPr txBox="true"/>
          <p:nvPr/>
        </p:nvSpPr>
        <p:spPr>
          <a:xfrm rot="0">
            <a:off x="10963275" y="8105775"/>
            <a:ext cx="1238250" cy="276225"/>
          </a:xfrm>
          <a:prstGeom prst="rect">
            <a:avLst/>
          </a:prstGeom>
        </p:spPr>
        <p:txBody>
          <a:bodyPr anchor="t" rtlCol="false" tIns="0" lIns="0" bIns="0" rIns="0">
            <a:spAutoFit/>
          </a:bodyPr>
          <a:lstStyle/>
          <a:p>
            <a:pPr algn="ctr">
              <a:lnSpc>
                <a:spcPts val="2100"/>
              </a:lnSpc>
            </a:pPr>
            <a:r>
              <a:rPr lang="en-US" sz="1500" b="true">
                <a:solidFill>
                  <a:srgbClr val="EFF1E8"/>
                </a:solidFill>
                <a:latin typeface="Poppins Bold"/>
                <a:ea typeface="Poppins Bold"/>
                <a:cs typeface="Poppins Bold"/>
                <a:sym typeface="Poppins Bold"/>
              </a:rPr>
              <a:t>Entity C</a:t>
            </a:r>
          </a:p>
        </p:txBody>
      </p:sp>
      <p:sp>
        <p:nvSpPr>
          <p:cNvPr name="TextBox 232" id="232"/>
          <p:cNvSpPr txBox="true"/>
          <p:nvPr/>
        </p:nvSpPr>
        <p:spPr>
          <a:xfrm rot="0">
            <a:off x="7305675" y="795337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233" id="233"/>
          <p:cNvSpPr txBox="true"/>
          <p:nvPr/>
        </p:nvSpPr>
        <p:spPr>
          <a:xfrm rot="0">
            <a:off x="9753600" y="7953375"/>
            <a:ext cx="1209675"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pays</a:t>
            </a:r>
          </a:p>
        </p:txBody>
      </p:sp>
      <p:sp>
        <p:nvSpPr>
          <p:cNvPr name="TextBox 234" id="234"/>
          <p:cNvSpPr txBox="true"/>
          <p:nvPr/>
        </p:nvSpPr>
        <p:spPr>
          <a:xfrm rot="0">
            <a:off x="571500" y="8124825"/>
            <a:ext cx="1905000" cy="241935"/>
          </a:xfrm>
          <a:prstGeom prst="rect">
            <a:avLst/>
          </a:prstGeom>
        </p:spPr>
        <p:txBody>
          <a:bodyPr anchor="t" rtlCol="false" tIns="0" lIns="0" bIns="0" rIns="0">
            <a:spAutoFit/>
          </a:bodyPr>
          <a:lstStyle/>
          <a:p>
            <a:pPr algn="ctr">
              <a:lnSpc>
                <a:spcPts val="1889"/>
              </a:lnSpc>
            </a:pPr>
            <a:r>
              <a:rPr lang="en-US" sz="1350" b="true">
                <a:solidFill>
                  <a:srgbClr val="70A1BD"/>
                </a:solidFill>
                <a:latin typeface="Poppins Bold"/>
                <a:ea typeface="Poppins Bold"/>
                <a:cs typeface="Poppins Bold"/>
                <a:sym typeface="Poppins Bold"/>
              </a:rPr>
              <a:t>Entity A's bank</a:t>
            </a:r>
          </a:p>
        </p:txBody>
      </p:sp>
      <p:sp>
        <p:nvSpPr>
          <p:cNvPr name="TextBox 235" id="235"/>
          <p:cNvSpPr txBox="true"/>
          <p:nvPr/>
        </p:nvSpPr>
        <p:spPr>
          <a:xfrm rot="0">
            <a:off x="3095625" y="7953375"/>
            <a:ext cx="2762250"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sends cash to Treasury</a:t>
            </a:r>
          </a:p>
        </p:txBody>
      </p:sp>
      <p:sp>
        <p:nvSpPr>
          <p:cNvPr name="TextBox 236" id="236"/>
          <p:cNvSpPr txBox="true"/>
          <p:nvPr/>
        </p:nvSpPr>
        <p:spPr>
          <a:xfrm rot="0">
            <a:off x="15811500" y="8124825"/>
            <a:ext cx="1905000" cy="241935"/>
          </a:xfrm>
          <a:prstGeom prst="rect">
            <a:avLst/>
          </a:prstGeom>
        </p:spPr>
        <p:txBody>
          <a:bodyPr anchor="t" rtlCol="false" tIns="0" lIns="0" bIns="0" rIns="0">
            <a:spAutoFit/>
          </a:bodyPr>
          <a:lstStyle/>
          <a:p>
            <a:pPr algn="ctr">
              <a:lnSpc>
                <a:spcPts val="1889"/>
              </a:lnSpc>
            </a:pPr>
            <a:r>
              <a:rPr lang="en-US" sz="1350" b="true">
                <a:solidFill>
                  <a:srgbClr val="70A1BD"/>
                </a:solidFill>
                <a:latin typeface="Poppins Bold"/>
                <a:ea typeface="Poppins Bold"/>
                <a:cs typeface="Poppins Bold"/>
                <a:sym typeface="Poppins Bold"/>
              </a:rPr>
              <a:t>Entity C's bank</a:t>
            </a:r>
          </a:p>
        </p:txBody>
      </p:sp>
      <p:sp>
        <p:nvSpPr>
          <p:cNvPr name="TextBox 237" id="237"/>
          <p:cNvSpPr txBox="true"/>
          <p:nvPr/>
        </p:nvSpPr>
        <p:spPr>
          <a:xfrm rot="0">
            <a:off x="12201525" y="7953375"/>
            <a:ext cx="2971800"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payment to Entity C</a:t>
            </a:r>
          </a:p>
        </p:txBody>
      </p:sp>
      <p:sp>
        <p:nvSpPr>
          <p:cNvPr name="TextBox 238" id="238"/>
          <p:cNvSpPr txBox="true"/>
          <p:nvPr/>
        </p:nvSpPr>
        <p:spPr>
          <a:xfrm rot="0">
            <a:off x="1028700" y="9267825"/>
            <a:ext cx="16192500" cy="291465"/>
          </a:xfrm>
          <a:prstGeom prst="rect">
            <a:avLst/>
          </a:prstGeom>
        </p:spPr>
        <p:txBody>
          <a:bodyPr anchor="t" rtlCol="false" tIns="0" lIns="0" bIns="0" rIns="0">
            <a:spAutoFit/>
          </a:bodyPr>
          <a:lstStyle/>
          <a:p>
            <a:pPr algn="l">
              <a:lnSpc>
                <a:spcPts val="2310"/>
              </a:lnSpc>
            </a:pPr>
            <a:r>
              <a:rPr lang="en-US" sz="1650">
                <a:solidFill>
                  <a:srgbClr val="EFF1E8"/>
                </a:solidFill>
                <a:latin typeface="Poppins"/>
                <a:ea typeface="Poppins"/>
                <a:cs typeface="Poppins"/>
                <a:sym typeface="Poppins"/>
              </a:rPr>
              <a:t>Cash moves through the bank only when it enters or leaves Treasury. Payments between entities are netted inside Kyriba.</a:t>
            </a:r>
          </a:p>
        </p:txBody>
      </p:sp>
      <p:grpSp>
        <p:nvGrpSpPr>
          <p:cNvPr name="Group 239" id="239"/>
          <p:cNvGrpSpPr/>
          <p:nvPr/>
        </p:nvGrpSpPr>
        <p:grpSpPr>
          <a:xfrm rot="0">
            <a:off x="3333750" y="4695825"/>
            <a:ext cx="11620500" cy="19050"/>
            <a:chOff x="0" y="0"/>
            <a:chExt cx="15494000" cy="25400"/>
          </a:xfrm>
        </p:grpSpPr>
        <p:sp>
          <p:nvSpPr>
            <p:cNvPr name="Freeform 240" id="240"/>
            <p:cNvSpPr/>
            <p:nvPr/>
          </p:nvSpPr>
          <p:spPr>
            <a:xfrm flipH="false" flipV="false" rot="0">
              <a:off x="0" y="0"/>
              <a:ext cx="15494000" cy="25400"/>
            </a:xfrm>
            <a:custGeom>
              <a:avLst/>
              <a:gdLst/>
              <a:ahLst/>
              <a:cxnLst/>
              <a:rect r="r" b="b" t="t" l="l"/>
              <a:pathLst>
                <a:path h="25400" w="15494000">
                  <a:moveTo>
                    <a:pt x="0" y="0"/>
                  </a:moveTo>
                  <a:lnTo>
                    <a:pt x="15494000" y="0"/>
                  </a:lnTo>
                  <a:lnTo>
                    <a:pt x="15494000" y="25400"/>
                  </a:lnTo>
                  <a:lnTo>
                    <a:pt x="0" y="25400"/>
                  </a:lnTo>
                  <a:close/>
                </a:path>
              </a:pathLst>
            </a:custGeom>
            <a:solidFill>
              <a:srgbClr val="70A1BD">
                <a:alpha val="34902"/>
              </a:srgbClr>
            </a:solidFill>
          </p:spPr>
        </p:sp>
        <p:sp>
          <p:nvSpPr>
            <p:cNvPr name="TextBox 241" id="241"/>
            <p:cNvSpPr txBox="true"/>
            <p:nvPr/>
          </p:nvSpPr>
          <p:spPr>
            <a:xfrm>
              <a:off x="0" y="-38100"/>
              <a:ext cx="15494000" cy="63500"/>
            </a:xfrm>
            <a:prstGeom prst="rect">
              <a:avLst/>
            </a:prstGeom>
          </p:spPr>
          <p:txBody>
            <a:bodyPr anchor="ctr" rtlCol="false" tIns="50800" lIns="50800" bIns="50800" rIns="50800"/>
            <a:lstStyle/>
            <a:p>
              <a:pPr algn="l">
                <a:lnSpc>
                  <a:spcPts val="1679"/>
                </a:lnSpc>
              </a:pPr>
            </a:p>
          </p:txBody>
        </p:sp>
      </p:grpSp>
      <p:grpSp>
        <p:nvGrpSpPr>
          <p:cNvPr name="Group 242" id="242"/>
          <p:cNvGrpSpPr/>
          <p:nvPr/>
        </p:nvGrpSpPr>
        <p:grpSpPr>
          <a:xfrm rot="0">
            <a:off x="3333750" y="6124575"/>
            <a:ext cx="11620500" cy="19050"/>
            <a:chOff x="0" y="0"/>
            <a:chExt cx="15494000" cy="25400"/>
          </a:xfrm>
        </p:grpSpPr>
        <p:sp>
          <p:nvSpPr>
            <p:cNvPr name="Freeform 243" id="243"/>
            <p:cNvSpPr/>
            <p:nvPr/>
          </p:nvSpPr>
          <p:spPr>
            <a:xfrm flipH="false" flipV="false" rot="0">
              <a:off x="0" y="0"/>
              <a:ext cx="15494000" cy="25400"/>
            </a:xfrm>
            <a:custGeom>
              <a:avLst/>
              <a:gdLst/>
              <a:ahLst/>
              <a:cxnLst/>
              <a:rect r="r" b="b" t="t" l="l"/>
              <a:pathLst>
                <a:path h="25400" w="15494000">
                  <a:moveTo>
                    <a:pt x="0" y="0"/>
                  </a:moveTo>
                  <a:lnTo>
                    <a:pt x="15494000" y="0"/>
                  </a:lnTo>
                  <a:lnTo>
                    <a:pt x="15494000" y="25400"/>
                  </a:lnTo>
                  <a:lnTo>
                    <a:pt x="0" y="25400"/>
                  </a:lnTo>
                  <a:close/>
                </a:path>
              </a:pathLst>
            </a:custGeom>
            <a:solidFill>
              <a:srgbClr val="70A1BD">
                <a:alpha val="34902"/>
              </a:srgbClr>
            </a:solidFill>
          </p:spPr>
        </p:sp>
        <p:sp>
          <p:nvSpPr>
            <p:cNvPr name="TextBox 244" id="244"/>
            <p:cNvSpPr txBox="true"/>
            <p:nvPr/>
          </p:nvSpPr>
          <p:spPr>
            <a:xfrm>
              <a:off x="0" y="-38100"/>
              <a:ext cx="15494000" cy="63500"/>
            </a:xfrm>
            <a:prstGeom prst="rect">
              <a:avLst/>
            </a:prstGeom>
          </p:spPr>
          <p:txBody>
            <a:bodyPr anchor="ctr" rtlCol="false" tIns="50800" lIns="50800" bIns="50800" rIns="50800"/>
            <a:lstStyle/>
            <a:p>
              <a:pPr algn="l">
                <a:lnSpc>
                  <a:spcPts val="1679"/>
                </a:lnSpc>
              </a:pPr>
            </a:p>
          </p:txBody>
        </p:sp>
      </p:grpSp>
      <p:grpSp>
        <p:nvGrpSpPr>
          <p:cNvPr name="Group 245" id="245"/>
          <p:cNvGrpSpPr/>
          <p:nvPr/>
        </p:nvGrpSpPr>
        <p:grpSpPr>
          <a:xfrm rot="0">
            <a:off x="3333750" y="7553325"/>
            <a:ext cx="11620500" cy="19050"/>
            <a:chOff x="0" y="0"/>
            <a:chExt cx="15494000" cy="25400"/>
          </a:xfrm>
        </p:grpSpPr>
        <p:sp>
          <p:nvSpPr>
            <p:cNvPr name="Freeform 246" id="246"/>
            <p:cNvSpPr/>
            <p:nvPr/>
          </p:nvSpPr>
          <p:spPr>
            <a:xfrm flipH="false" flipV="false" rot="0">
              <a:off x="0" y="0"/>
              <a:ext cx="15494000" cy="25400"/>
            </a:xfrm>
            <a:custGeom>
              <a:avLst/>
              <a:gdLst/>
              <a:ahLst/>
              <a:cxnLst/>
              <a:rect r="r" b="b" t="t" l="l"/>
              <a:pathLst>
                <a:path h="25400" w="15494000">
                  <a:moveTo>
                    <a:pt x="0" y="0"/>
                  </a:moveTo>
                  <a:lnTo>
                    <a:pt x="15494000" y="0"/>
                  </a:lnTo>
                  <a:lnTo>
                    <a:pt x="15494000" y="25400"/>
                  </a:lnTo>
                  <a:lnTo>
                    <a:pt x="0" y="25400"/>
                  </a:lnTo>
                  <a:close/>
                </a:path>
              </a:pathLst>
            </a:custGeom>
            <a:solidFill>
              <a:srgbClr val="70A1BD">
                <a:alpha val="34902"/>
              </a:srgbClr>
            </a:solidFill>
          </p:spPr>
        </p:sp>
        <p:sp>
          <p:nvSpPr>
            <p:cNvPr name="TextBox 247" id="247"/>
            <p:cNvSpPr txBox="true"/>
            <p:nvPr/>
          </p:nvSpPr>
          <p:spPr>
            <a:xfrm>
              <a:off x="0" y="-38100"/>
              <a:ext cx="15494000" cy="635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70A1BD"/>
        </a:solidFill>
      </p:bgPr>
    </p:bg>
    <p:spTree>
      <p:nvGrpSpPr>
        <p:cNvPr id="1" name=""/>
        <p:cNvGrpSpPr/>
        <p:nvPr/>
      </p:nvGrpSpPr>
      <p:grpSpPr>
        <a:xfrm>
          <a:off x="0" y="0"/>
          <a:ext cx="0" cy="0"/>
          <a:chOff x="0" y="0"/>
          <a:chExt cx="0" cy="0"/>
        </a:xfrm>
      </p:grpSpPr>
      <p:sp>
        <p:nvSpPr>
          <p:cNvPr name="TextBox 2" id="2"/>
          <p:cNvSpPr txBox="true"/>
          <p:nvPr/>
        </p:nvSpPr>
        <p:spPr>
          <a:xfrm rot="0">
            <a:off x="1028700" y="1181100"/>
            <a:ext cx="16839856" cy="1396989"/>
          </a:xfrm>
          <a:prstGeom prst="rect">
            <a:avLst/>
          </a:prstGeom>
        </p:spPr>
        <p:txBody>
          <a:bodyPr anchor="t" rtlCol="false" tIns="0" lIns="0" bIns="0" rIns="0">
            <a:spAutoFit/>
          </a:bodyPr>
          <a:lstStyle/>
          <a:p>
            <a:pPr algn="l">
              <a:lnSpc>
                <a:spcPts val="5499"/>
              </a:lnSpc>
            </a:pPr>
            <a:r>
              <a:rPr lang="en-US" sz="4999" b="true">
                <a:solidFill>
                  <a:srgbClr val="EFF1E8"/>
                </a:solidFill>
                <a:latin typeface="Montserrat Bold"/>
                <a:ea typeface="Montserrat Bold"/>
                <a:cs typeface="Montserrat Bold"/>
                <a:sym typeface="Montserrat Bold"/>
              </a:rPr>
              <a:t>From Manual Files to Direct Bank Connectivity</a:t>
            </a:r>
          </a:p>
          <a:p>
            <a:pPr algn="l">
              <a:lnSpc>
                <a:spcPts val="5499"/>
              </a:lnSpc>
            </a:pPr>
          </a:p>
        </p:txBody>
      </p:sp>
      <p:sp>
        <p:nvSpPr>
          <p:cNvPr name="TextBox 3" id="3"/>
          <p:cNvSpPr txBox="true"/>
          <p:nvPr/>
        </p:nvSpPr>
        <p:spPr>
          <a:xfrm rot="0">
            <a:off x="1028700" y="1999937"/>
            <a:ext cx="11590121" cy="358750"/>
          </a:xfrm>
          <a:prstGeom prst="rect">
            <a:avLst/>
          </a:prstGeom>
        </p:spPr>
        <p:txBody>
          <a:bodyPr anchor="t" rtlCol="false" tIns="0" lIns="0" bIns="0" rIns="0">
            <a:spAutoFit/>
          </a:bodyPr>
          <a:lstStyle/>
          <a:p>
            <a:pPr algn="l">
              <a:lnSpc>
                <a:spcPts val="2798"/>
              </a:lnSpc>
            </a:pPr>
            <a:r>
              <a:rPr lang="en-US" sz="1998">
                <a:solidFill>
                  <a:srgbClr val="EFF1E8"/>
                </a:solidFill>
                <a:latin typeface="Poppins"/>
                <a:ea typeface="Poppins"/>
                <a:cs typeface="Poppins"/>
                <a:sym typeface="Poppins"/>
              </a:rPr>
              <a:t>How payments moved from manual uploads to a direct bank connection</a:t>
            </a:r>
          </a:p>
        </p:txBody>
      </p:sp>
      <p:sp>
        <p:nvSpPr>
          <p:cNvPr name="TextBox 4" id="4"/>
          <p:cNvSpPr txBox="true"/>
          <p:nvPr/>
        </p:nvSpPr>
        <p:spPr>
          <a:xfrm rot="0">
            <a:off x="1028700" y="4133850"/>
            <a:ext cx="7429500" cy="342242"/>
          </a:xfrm>
          <a:prstGeom prst="rect">
            <a:avLst/>
          </a:prstGeom>
        </p:spPr>
        <p:txBody>
          <a:bodyPr anchor="t" rtlCol="false" tIns="0" lIns="0" bIns="0" rIns="0">
            <a:spAutoFit/>
          </a:bodyPr>
          <a:lstStyle/>
          <a:p>
            <a:pPr algn="l" marL="409994" indent="-204997" lvl="1">
              <a:lnSpc>
                <a:spcPts val="2658"/>
              </a:lnSpc>
              <a:buAutoNum type="arabicPeriod" startAt="1"/>
            </a:pPr>
            <a:r>
              <a:rPr lang="en-US" sz="1899">
                <a:solidFill>
                  <a:srgbClr val="EFF1E8"/>
                </a:solidFill>
                <a:latin typeface="Poppins"/>
                <a:ea typeface="Poppins"/>
                <a:cs typeface="Poppins"/>
                <a:sym typeface="Poppins"/>
              </a:rPr>
              <a:t>Netting is automatic; report downloaded manually</a:t>
            </a:r>
          </a:p>
        </p:txBody>
      </p:sp>
      <p:sp>
        <p:nvSpPr>
          <p:cNvPr name="TextBox 5" id="5"/>
          <p:cNvSpPr txBox="true"/>
          <p:nvPr/>
        </p:nvSpPr>
        <p:spPr>
          <a:xfrm rot="0">
            <a:off x="1028700" y="3295650"/>
            <a:ext cx="7429500" cy="396179"/>
          </a:xfrm>
          <a:prstGeom prst="rect">
            <a:avLst/>
          </a:prstGeom>
        </p:spPr>
        <p:txBody>
          <a:bodyPr anchor="t" rtlCol="false" tIns="0" lIns="0" bIns="0" rIns="0">
            <a:spAutoFit/>
          </a:bodyPr>
          <a:lstStyle/>
          <a:p>
            <a:pPr algn="l">
              <a:lnSpc>
                <a:spcPts val="3360"/>
              </a:lnSpc>
            </a:pPr>
            <a:r>
              <a:rPr lang="en-US" sz="2400" b="true">
                <a:solidFill>
                  <a:srgbClr val="EFF1E8"/>
                </a:solidFill>
                <a:latin typeface="Montserrat Bold"/>
                <a:ea typeface="Montserrat Bold"/>
                <a:cs typeface="Montserrat Bold"/>
                <a:sym typeface="Montserrat Bold"/>
              </a:rPr>
              <a:t>Before | Manual process</a:t>
            </a:r>
          </a:p>
        </p:txBody>
      </p:sp>
      <p:sp>
        <p:nvSpPr>
          <p:cNvPr name="TextBox 6" id="6"/>
          <p:cNvSpPr txBox="true"/>
          <p:nvPr/>
        </p:nvSpPr>
        <p:spPr>
          <a:xfrm rot="0">
            <a:off x="1028700" y="4800600"/>
            <a:ext cx="7429500" cy="675617"/>
          </a:xfrm>
          <a:prstGeom prst="rect">
            <a:avLst/>
          </a:prstGeom>
        </p:spPr>
        <p:txBody>
          <a:bodyPr anchor="t" rtlCol="false" tIns="0" lIns="0" bIns="0" rIns="0">
            <a:spAutoFit/>
          </a:bodyPr>
          <a:lstStyle/>
          <a:p>
            <a:pPr algn="l" marL="409994" indent="-204997" lvl="1">
              <a:lnSpc>
                <a:spcPts val="2658"/>
              </a:lnSpc>
              <a:buAutoNum type="arabicPeriod" startAt="1"/>
            </a:pPr>
            <a:r>
              <a:rPr lang="en-US" sz="1899">
                <a:solidFill>
                  <a:srgbClr val="EFF1E8"/>
                </a:solidFill>
                <a:latin typeface="Poppins"/>
                <a:ea typeface="Poppins"/>
                <a:cs typeface="Poppins"/>
                <a:sym typeface="Poppins"/>
              </a:rPr>
              <a:t>File downloaded and re-uploaded to the legacy TMS, which sends payments to the bank: </a:t>
            </a:r>
            <a:r>
              <a:rPr lang="en-US" b="true" sz="1899">
                <a:solidFill>
                  <a:srgbClr val="EFF1E8"/>
                </a:solidFill>
                <a:latin typeface="Poppins Bold"/>
                <a:ea typeface="Poppins Bold"/>
                <a:cs typeface="Poppins Bold"/>
                <a:sym typeface="Poppins Bold"/>
              </a:rPr>
              <a:t>manual handling</a:t>
            </a:r>
          </a:p>
        </p:txBody>
      </p:sp>
      <p:sp>
        <p:nvSpPr>
          <p:cNvPr name="TextBox 7" id="7"/>
          <p:cNvSpPr txBox="true"/>
          <p:nvPr/>
        </p:nvSpPr>
        <p:spPr>
          <a:xfrm rot="0">
            <a:off x="1028700" y="5800725"/>
            <a:ext cx="7429500" cy="675617"/>
          </a:xfrm>
          <a:prstGeom prst="rect">
            <a:avLst/>
          </a:prstGeom>
        </p:spPr>
        <p:txBody>
          <a:bodyPr anchor="t" rtlCol="false" tIns="0" lIns="0" bIns="0" rIns="0">
            <a:spAutoFit/>
          </a:bodyPr>
          <a:lstStyle/>
          <a:p>
            <a:pPr algn="l" marL="409994" indent="-204997" lvl="1">
              <a:lnSpc>
                <a:spcPts val="2658"/>
              </a:lnSpc>
              <a:spcBef>
                <a:spcPct val="0"/>
              </a:spcBef>
              <a:buAutoNum type="arabicPeriod" startAt="1"/>
            </a:pPr>
            <a:r>
              <a:rPr lang="en-US" sz="1899" strike="noStrike" u="none">
                <a:solidFill>
                  <a:srgbClr val="EFF1E8"/>
                </a:solidFill>
                <a:latin typeface="Poppins"/>
                <a:ea typeface="Poppins"/>
                <a:cs typeface="Poppins"/>
                <a:sym typeface="Poppins"/>
              </a:rPr>
              <a:t>Third party and other non-netted payments </a:t>
            </a:r>
            <a:r>
              <a:rPr lang="en-US" b="true" sz="1899" strike="noStrike" u="none">
                <a:solidFill>
                  <a:srgbClr val="EFF1E8"/>
                </a:solidFill>
                <a:latin typeface="Poppins Bold"/>
                <a:ea typeface="Poppins Bold"/>
                <a:cs typeface="Poppins Bold"/>
                <a:sym typeface="Poppins Bold"/>
              </a:rPr>
              <a:t>instructed </a:t>
            </a:r>
            <a:r>
              <a:rPr lang="en-US" sz="1899" strike="noStrike" u="none">
                <a:solidFill>
                  <a:srgbClr val="EFF1E8"/>
                </a:solidFill>
                <a:latin typeface="Poppins"/>
                <a:ea typeface="Poppins"/>
                <a:cs typeface="Poppins"/>
                <a:sym typeface="Poppins"/>
              </a:rPr>
              <a:t>manually in the </a:t>
            </a:r>
            <a:r>
              <a:rPr lang="en-US" b="true" sz="1899" strike="noStrike" u="none">
                <a:solidFill>
                  <a:srgbClr val="EFF1E8"/>
                </a:solidFill>
                <a:latin typeface="Poppins Bold"/>
                <a:ea typeface="Poppins Bold"/>
                <a:cs typeface="Poppins Bold"/>
                <a:sym typeface="Poppins Bold"/>
              </a:rPr>
              <a:t>bank portal</a:t>
            </a:r>
          </a:p>
        </p:txBody>
      </p:sp>
      <p:sp>
        <p:nvSpPr>
          <p:cNvPr name="TextBox 8" id="8"/>
          <p:cNvSpPr txBox="true"/>
          <p:nvPr/>
        </p:nvSpPr>
        <p:spPr>
          <a:xfrm rot="0">
            <a:off x="1028700" y="6800850"/>
            <a:ext cx="7429500" cy="675617"/>
          </a:xfrm>
          <a:prstGeom prst="rect">
            <a:avLst/>
          </a:prstGeom>
        </p:spPr>
        <p:txBody>
          <a:bodyPr anchor="t" rtlCol="false" tIns="0" lIns="0" bIns="0" rIns="0">
            <a:spAutoFit/>
          </a:bodyPr>
          <a:lstStyle/>
          <a:p>
            <a:pPr algn="l" marL="409994" indent="-204997" lvl="1">
              <a:lnSpc>
                <a:spcPts val="2658"/>
              </a:lnSpc>
              <a:spcBef>
                <a:spcPct val="0"/>
              </a:spcBef>
              <a:buAutoNum type="arabicPeriod" startAt="1"/>
            </a:pPr>
            <a:r>
              <a:rPr lang="en-US" sz="1899" strike="noStrike" u="none">
                <a:solidFill>
                  <a:srgbClr val="EFF1E8"/>
                </a:solidFill>
                <a:latin typeface="Poppins"/>
                <a:ea typeface="Poppins"/>
                <a:cs typeface="Poppins"/>
                <a:sym typeface="Poppins"/>
              </a:rPr>
              <a:t>Treasury transfers between Bank A and Bank B instructed manually (portal, or fax and email to the Bank B team)</a:t>
            </a:r>
          </a:p>
        </p:txBody>
      </p:sp>
      <p:sp>
        <p:nvSpPr>
          <p:cNvPr name="TextBox 9" id="9"/>
          <p:cNvSpPr txBox="true"/>
          <p:nvPr/>
        </p:nvSpPr>
        <p:spPr>
          <a:xfrm rot="0">
            <a:off x="1028700" y="7800975"/>
            <a:ext cx="7429500" cy="675617"/>
          </a:xfrm>
          <a:prstGeom prst="rect">
            <a:avLst/>
          </a:prstGeom>
        </p:spPr>
        <p:txBody>
          <a:bodyPr anchor="t" rtlCol="false" tIns="0" lIns="0" bIns="0" rIns="0">
            <a:spAutoFit/>
          </a:bodyPr>
          <a:lstStyle/>
          <a:p>
            <a:pPr algn="l" marL="409994" indent="-204997" lvl="1">
              <a:lnSpc>
                <a:spcPts val="2658"/>
              </a:lnSpc>
              <a:spcBef>
                <a:spcPct val="0"/>
              </a:spcBef>
              <a:buAutoNum type="arabicPeriod" startAt="1"/>
            </a:pPr>
            <a:r>
              <a:rPr lang="en-US" sz="1899" strike="noStrike" u="none">
                <a:solidFill>
                  <a:srgbClr val="EFF1E8"/>
                </a:solidFill>
                <a:latin typeface="Poppins"/>
                <a:ea typeface="Poppins"/>
                <a:cs typeface="Poppins"/>
                <a:sym typeface="Poppins"/>
              </a:rPr>
              <a:t>Payments checked manually in the bank portal, then sent for approval</a:t>
            </a:r>
          </a:p>
        </p:txBody>
      </p:sp>
      <p:grpSp>
        <p:nvGrpSpPr>
          <p:cNvPr name="Group 10" id="10"/>
          <p:cNvGrpSpPr/>
          <p:nvPr/>
        </p:nvGrpSpPr>
        <p:grpSpPr>
          <a:xfrm rot="0">
            <a:off x="9144000" y="2857500"/>
            <a:ext cx="9144000" cy="7429500"/>
            <a:chOff x="0" y="0"/>
            <a:chExt cx="12192000" cy="9906000"/>
          </a:xfrm>
        </p:grpSpPr>
        <p:sp>
          <p:nvSpPr>
            <p:cNvPr name="Freeform 11" id="11"/>
            <p:cNvSpPr/>
            <p:nvPr/>
          </p:nvSpPr>
          <p:spPr>
            <a:xfrm flipH="false" flipV="false" rot="0">
              <a:off x="0" y="0"/>
              <a:ext cx="12192000" cy="9906000"/>
            </a:xfrm>
            <a:custGeom>
              <a:avLst/>
              <a:gdLst/>
              <a:ahLst/>
              <a:cxnLst/>
              <a:rect r="r" b="b" t="t" l="l"/>
              <a:pathLst>
                <a:path h="9906000" w="12192000">
                  <a:moveTo>
                    <a:pt x="609600" y="0"/>
                  </a:moveTo>
                  <a:lnTo>
                    <a:pt x="12192000" y="0"/>
                  </a:lnTo>
                  <a:lnTo>
                    <a:pt x="12192000" y="9906000"/>
                  </a:lnTo>
                  <a:lnTo>
                    <a:pt x="0" y="9906000"/>
                  </a:lnTo>
                  <a:lnTo>
                    <a:pt x="0" y="609600"/>
                  </a:lnTo>
                  <a:cubicBezTo>
                    <a:pt x="0" y="272927"/>
                    <a:pt x="272927" y="0"/>
                    <a:pt x="609600" y="0"/>
                  </a:cubicBezTo>
                  <a:close/>
                </a:path>
              </a:pathLst>
            </a:custGeom>
            <a:solidFill>
              <a:srgbClr val="EFF1E8"/>
            </a:solidFill>
          </p:spPr>
        </p:sp>
        <p:sp>
          <p:nvSpPr>
            <p:cNvPr name="TextBox 12" id="12"/>
            <p:cNvSpPr txBox="true"/>
            <p:nvPr/>
          </p:nvSpPr>
          <p:spPr>
            <a:xfrm>
              <a:off x="0" y="-38100"/>
              <a:ext cx="12192000" cy="9944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028700" y="3829050"/>
            <a:ext cx="1143000" cy="38100"/>
            <a:chOff x="0" y="0"/>
            <a:chExt cx="1524000" cy="50800"/>
          </a:xfrm>
        </p:grpSpPr>
        <p:sp>
          <p:nvSpPr>
            <p:cNvPr name="Freeform 14" id="14"/>
            <p:cNvSpPr/>
            <p:nvPr/>
          </p:nvSpPr>
          <p:spPr>
            <a:xfrm flipH="false" flipV="false" rot="0">
              <a:off x="0" y="0"/>
              <a:ext cx="1524000" cy="50800"/>
            </a:xfrm>
            <a:custGeom>
              <a:avLst/>
              <a:gdLst/>
              <a:ahLst/>
              <a:cxnLst/>
              <a:rect r="r" b="b" t="t" l="l"/>
              <a:pathLst>
                <a:path h="50800" w="1524000">
                  <a:moveTo>
                    <a:pt x="0" y="0"/>
                  </a:moveTo>
                  <a:lnTo>
                    <a:pt x="1524000" y="0"/>
                  </a:lnTo>
                  <a:lnTo>
                    <a:pt x="1524000" y="50800"/>
                  </a:lnTo>
                  <a:lnTo>
                    <a:pt x="0" y="50800"/>
                  </a:lnTo>
                  <a:close/>
                </a:path>
              </a:pathLst>
            </a:custGeom>
            <a:solidFill>
              <a:srgbClr val="EFF1E8"/>
            </a:solidFill>
          </p:spPr>
        </p:sp>
        <p:sp>
          <p:nvSpPr>
            <p:cNvPr name="TextBox 15" id="15"/>
            <p:cNvSpPr txBox="true"/>
            <p:nvPr/>
          </p:nvSpPr>
          <p:spPr>
            <a:xfrm>
              <a:off x="0" y="-38100"/>
              <a:ext cx="1524000" cy="889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9906000" y="3829050"/>
            <a:ext cx="1143000" cy="38100"/>
            <a:chOff x="0" y="0"/>
            <a:chExt cx="1524000" cy="50800"/>
          </a:xfrm>
        </p:grpSpPr>
        <p:sp>
          <p:nvSpPr>
            <p:cNvPr name="Freeform 17" id="17"/>
            <p:cNvSpPr/>
            <p:nvPr/>
          </p:nvSpPr>
          <p:spPr>
            <a:xfrm flipH="false" flipV="false" rot="0">
              <a:off x="0" y="0"/>
              <a:ext cx="1524000" cy="50800"/>
            </a:xfrm>
            <a:custGeom>
              <a:avLst/>
              <a:gdLst/>
              <a:ahLst/>
              <a:cxnLst/>
              <a:rect r="r" b="b" t="t" l="l"/>
              <a:pathLst>
                <a:path h="50800" w="1524000">
                  <a:moveTo>
                    <a:pt x="0" y="0"/>
                  </a:moveTo>
                  <a:lnTo>
                    <a:pt x="1524000" y="0"/>
                  </a:lnTo>
                  <a:lnTo>
                    <a:pt x="1524000" y="50800"/>
                  </a:lnTo>
                  <a:lnTo>
                    <a:pt x="0" y="50800"/>
                  </a:lnTo>
                  <a:close/>
                </a:path>
              </a:pathLst>
            </a:custGeom>
            <a:solidFill>
              <a:srgbClr val="70A1BD"/>
            </a:solidFill>
          </p:spPr>
        </p:sp>
        <p:sp>
          <p:nvSpPr>
            <p:cNvPr name="TextBox 18" id="18"/>
            <p:cNvSpPr txBox="true"/>
            <p:nvPr/>
          </p:nvSpPr>
          <p:spPr>
            <a:xfrm>
              <a:off x="0" y="-38100"/>
              <a:ext cx="1524000" cy="88900"/>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8715375" y="5905500"/>
            <a:ext cx="857250" cy="857250"/>
            <a:chOff x="0" y="0"/>
            <a:chExt cx="1143000" cy="1143000"/>
          </a:xfrm>
        </p:grpSpPr>
        <p:sp>
          <p:nvSpPr>
            <p:cNvPr name="Freeform 20" id="20"/>
            <p:cNvSpPr/>
            <p:nvPr/>
          </p:nvSpPr>
          <p:spPr>
            <a:xfrm flipH="false" flipV="false" rot="0">
              <a:off x="0" y="0"/>
              <a:ext cx="1143000" cy="1143000"/>
            </a:xfrm>
            <a:custGeom>
              <a:avLst/>
              <a:gdLst/>
              <a:ahLst/>
              <a:cxnLst/>
              <a:rect r="r" b="b" t="t" l="l"/>
              <a:pathLst>
                <a:path h="1143000" w="1143000">
                  <a:moveTo>
                    <a:pt x="571500" y="0"/>
                  </a:moveTo>
                  <a:cubicBezTo>
                    <a:pt x="255869" y="0"/>
                    <a:pt x="0" y="255869"/>
                    <a:pt x="0" y="571500"/>
                  </a:cubicBezTo>
                  <a:cubicBezTo>
                    <a:pt x="0" y="887131"/>
                    <a:pt x="255869" y="1143000"/>
                    <a:pt x="571500" y="1143000"/>
                  </a:cubicBezTo>
                  <a:cubicBezTo>
                    <a:pt x="887131" y="1143000"/>
                    <a:pt x="1143000" y="887131"/>
                    <a:pt x="1143000" y="571500"/>
                  </a:cubicBezTo>
                  <a:cubicBezTo>
                    <a:pt x="1143000" y="255869"/>
                    <a:pt x="887131" y="0"/>
                    <a:pt x="571500" y="0"/>
                  </a:cubicBezTo>
                  <a:close/>
                </a:path>
              </a:pathLst>
            </a:custGeom>
            <a:solidFill>
              <a:srgbClr val="70A1BD"/>
            </a:solidFill>
            <a:ln w="38100" cap="sq">
              <a:solidFill>
                <a:srgbClr val="EFF1E8"/>
              </a:solidFill>
              <a:prstDash val="solid"/>
              <a:miter/>
            </a:ln>
          </p:spPr>
        </p:sp>
        <p:sp>
          <p:nvSpPr>
            <p:cNvPr name="TextBox 21" id="21"/>
            <p:cNvSpPr txBox="true"/>
            <p:nvPr/>
          </p:nvSpPr>
          <p:spPr>
            <a:xfrm>
              <a:off x="0" y="-38100"/>
              <a:ext cx="1143000" cy="1181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9048750" y="6191250"/>
            <a:ext cx="247650" cy="285750"/>
            <a:chOff x="0" y="0"/>
            <a:chExt cx="330200" cy="381000"/>
          </a:xfrm>
        </p:grpSpPr>
        <p:sp>
          <p:nvSpPr>
            <p:cNvPr name="Freeform 23" id="23"/>
            <p:cNvSpPr/>
            <p:nvPr/>
          </p:nvSpPr>
          <p:spPr>
            <a:xfrm flipH="false" flipV="false" rot="0">
              <a:off x="0" y="0"/>
              <a:ext cx="330200" cy="381000"/>
            </a:xfrm>
            <a:custGeom>
              <a:avLst/>
              <a:gdLst/>
              <a:ahLst/>
              <a:cxnLst/>
              <a:rect r="r" b="b" t="t" l="l"/>
              <a:pathLst>
                <a:path h="381000" w="330200">
                  <a:moveTo>
                    <a:pt x="0" y="0"/>
                  </a:moveTo>
                  <a:lnTo>
                    <a:pt x="330200" y="190500"/>
                  </a:lnTo>
                  <a:lnTo>
                    <a:pt x="0" y="381000"/>
                  </a:lnTo>
                  <a:close/>
                </a:path>
              </a:pathLst>
            </a:custGeom>
            <a:solidFill>
              <a:srgbClr val="EFF1E8"/>
            </a:solidFill>
          </p:spPr>
        </p:sp>
        <p:sp>
          <p:nvSpPr>
            <p:cNvPr name="TextBox 24" id="24"/>
            <p:cNvSpPr txBox="true"/>
            <p:nvPr/>
          </p:nvSpPr>
          <p:spPr>
            <a:xfrm>
              <a:off x="0" y="-38100"/>
              <a:ext cx="330200" cy="419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9906000" y="3295650"/>
            <a:ext cx="7429500" cy="396179"/>
          </a:xfrm>
          <a:prstGeom prst="rect">
            <a:avLst/>
          </a:prstGeom>
        </p:spPr>
        <p:txBody>
          <a:bodyPr anchor="t" rtlCol="false" tIns="0" lIns="0" bIns="0" rIns="0">
            <a:spAutoFit/>
          </a:bodyPr>
          <a:lstStyle/>
          <a:p>
            <a:pPr algn="l">
              <a:lnSpc>
                <a:spcPts val="3360"/>
              </a:lnSpc>
            </a:pPr>
            <a:r>
              <a:rPr lang="en-US" sz="2400" b="true">
                <a:solidFill>
                  <a:srgbClr val="70A1BD"/>
                </a:solidFill>
                <a:latin typeface="Montserrat Bold"/>
                <a:ea typeface="Montserrat Bold"/>
                <a:cs typeface="Montserrat Bold"/>
                <a:sym typeface="Montserrat Bold"/>
              </a:rPr>
              <a:t>After | Bank connectivity</a:t>
            </a:r>
          </a:p>
        </p:txBody>
      </p:sp>
      <p:sp>
        <p:nvSpPr>
          <p:cNvPr name="TextBox 26" id="26"/>
          <p:cNvSpPr txBox="true"/>
          <p:nvPr/>
        </p:nvSpPr>
        <p:spPr>
          <a:xfrm rot="0">
            <a:off x="9906000" y="4133850"/>
            <a:ext cx="7429500" cy="675617"/>
          </a:xfrm>
          <a:prstGeom prst="rect">
            <a:avLst/>
          </a:prstGeom>
        </p:spPr>
        <p:txBody>
          <a:bodyPr anchor="t" rtlCol="false" tIns="0" lIns="0" bIns="0" rIns="0">
            <a:spAutoFit/>
          </a:bodyPr>
          <a:lstStyle/>
          <a:p>
            <a:pPr algn="l" marL="409994" indent="-204997" lvl="1">
              <a:lnSpc>
                <a:spcPts val="2658"/>
              </a:lnSpc>
              <a:buAutoNum type="arabicPeriod" startAt="1"/>
            </a:pPr>
            <a:r>
              <a:rPr lang="en-US" sz="1899">
                <a:solidFill>
                  <a:srgbClr val="70A1BD"/>
                </a:solidFill>
                <a:latin typeface="Poppins"/>
                <a:ea typeface="Poppins"/>
                <a:cs typeface="Poppins"/>
                <a:sym typeface="Poppins"/>
              </a:rPr>
              <a:t>Netting process is </a:t>
            </a:r>
            <a:r>
              <a:rPr lang="en-US" b="true" sz="1899">
                <a:solidFill>
                  <a:srgbClr val="70A1BD"/>
                </a:solidFill>
                <a:latin typeface="Poppins Bold"/>
                <a:ea typeface="Poppins Bold"/>
                <a:cs typeface="Poppins Bold"/>
                <a:sym typeface="Poppins Bold"/>
              </a:rPr>
              <a:t>scheduled </a:t>
            </a:r>
            <a:r>
              <a:rPr lang="en-US" sz="1899">
                <a:solidFill>
                  <a:srgbClr val="70A1BD"/>
                </a:solidFill>
                <a:latin typeface="Poppins"/>
                <a:ea typeface="Poppins"/>
                <a:cs typeface="Poppins"/>
                <a:sym typeface="Poppins"/>
              </a:rPr>
              <a:t>(or can be manually triggered by the user) in Kyriba</a:t>
            </a:r>
            <a:r>
              <a:rPr lang="en-US" sz="1899">
                <a:solidFill>
                  <a:srgbClr val="70A1BD"/>
                </a:solidFill>
                <a:latin typeface="Poppins"/>
                <a:ea typeface="Poppins"/>
                <a:cs typeface="Poppins"/>
                <a:sym typeface="Poppins"/>
              </a:rPr>
              <a:t> </a:t>
            </a:r>
          </a:p>
        </p:txBody>
      </p:sp>
      <p:sp>
        <p:nvSpPr>
          <p:cNvPr name="TextBox 27" id="27"/>
          <p:cNvSpPr txBox="true"/>
          <p:nvPr/>
        </p:nvSpPr>
        <p:spPr>
          <a:xfrm rot="0">
            <a:off x="9906000" y="5057775"/>
            <a:ext cx="7429500" cy="675617"/>
          </a:xfrm>
          <a:prstGeom prst="rect">
            <a:avLst/>
          </a:prstGeom>
        </p:spPr>
        <p:txBody>
          <a:bodyPr anchor="t" rtlCol="false" tIns="0" lIns="0" bIns="0" rIns="0">
            <a:spAutoFit/>
          </a:bodyPr>
          <a:lstStyle/>
          <a:p>
            <a:pPr algn="l" marL="409994" indent="-204997" lvl="1">
              <a:lnSpc>
                <a:spcPts val="2658"/>
              </a:lnSpc>
              <a:buAutoNum type="arabicPeriod" startAt="1"/>
            </a:pPr>
            <a:r>
              <a:rPr lang="en-US" sz="1899">
                <a:solidFill>
                  <a:srgbClr val="70A1BD"/>
                </a:solidFill>
                <a:latin typeface="Poppins"/>
                <a:ea typeface="Poppins"/>
                <a:cs typeface="Poppins"/>
                <a:sym typeface="Poppins"/>
              </a:rPr>
              <a:t>Third party payments </a:t>
            </a:r>
            <a:r>
              <a:rPr lang="en-US" b="true" sz="1899">
                <a:solidFill>
                  <a:srgbClr val="70A1BD"/>
                </a:solidFill>
                <a:latin typeface="Poppins Bold"/>
                <a:ea typeface="Poppins Bold"/>
                <a:cs typeface="Poppins Bold"/>
                <a:sym typeface="Poppins Bold"/>
              </a:rPr>
              <a:t>instructed in Kyriba </a:t>
            </a:r>
            <a:r>
              <a:rPr lang="en-US" sz="1899">
                <a:solidFill>
                  <a:srgbClr val="70A1BD"/>
                </a:solidFill>
                <a:latin typeface="Poppins"/>
                <a:ea typeface="Poppins"/>
                <a:cs typeface="Poppins"/>
                <a:sym typeface="Poppins"/>
              </a:rPr>
              <a:t>via templates directly in the Payments module</a:t>
            </a:r>
          </a:p>
        </p:txBody>
      </p:sp>
      <p:sp>
        <p:nvSpPr>
          <p:cNvPr name="TextBox 28" id="28"/>
          <p:cNvSpPr txBox="true"/>
          <p:nvPr/>
        </p:nvSpPr>
        <p:spPr>
          <a:xfrm rot="0">
            <a:off x="9906000" y="5981700"/>
            <a:ext cx="7429500" cy="675617"/>
          </a:xfrm>
          <a:prstGeom prst="rect">
            <a:avLst/>
          </a:prstGeom>
        </p:spPr>
        <p:txBody>
          <a:bodyPr anchor="t" rtlCol="false" tIns="0" lIns="0" bIns="0" rIns="0">
            <a:spAutoFit/>
          </a:bodyPr>
          <a:lstStyle/>
          <a:p>
            <a:pPr algn="l" marL="409994" indent="-204997" lvl="1">
              <a:lnSpc>
                <a:spcPts val="2658"/>
              </a:lnSpc>
              <a:spcBef>
                <a:spcPct val="0"/>
              </a:spcBef>
              <a:buAutoNum type="arabicPeriod" startAt="1"/>
            </a:pPr>
            <a:r>
              <a:rPr lang="en-US" sz="1899" strike="noStrike" u="none">
                <a:solidFill>
                  <a:srgbClr val="70A1BD"/>
                </a:solidFill>
                <a:latin typeface="Poppins"/>
                <a:ea typeface="Poppins"/>
                <a:cs typeface="Poppins"/>
                <a:sym typeface="Poppins"/>
              </a:rPr>
              <a:t>Treasury transfers between Bank A and Bank B </a:t>
            </a:r>
            <a:r>
              <a:rPr lang="en-US" b="true" sz="1899" strike="noStrike" u="none">
                <a:solidFill>
                  <a:srgbClr val="70A1BD"/>
                </a:solidFill>
                <a:latin typeface="Poppins Bold"/>
                <a:ea typeface="Poppins Bold"/>
                <a:cs typeface="Poppins Bold"/>
                <a:sym typeface="Poppins Bold"/>
              </a:rPr>
              <a:t>instructed </a:t>
            </a:r>
            <a:r>
              <a:rPr lang="en-US" sz="1899" strike="noStrike" u="none">
                <a:solidFill>
                  <a:srgbClr val="70A1BD"/>
                </a:solidFill>
                <a:latin typeface="Poppins"/>
                <a:ea typeface="Poppins"/>
                <a:cs typeface="Poppins"/>
                <a:sym typeface="Poppins"/>
              </a:rPr>
              <a:t>in the Cash &amp; Liquidity module in </a:t>
            </a:r>
            <a:r>
              <a:rPr lang="en-US" b="true" sz="1899" strike="noStrike" u="none">
                <a:solidFill>
                  <a:srgbClr val="70A1BD"/>
                </a:solidFill>
                <a:latin typeface="Poppins Bold"/>
                <a:ea typeface="Poppins Bold"/>
                <a:cs typeface="Poppins Bold"/>
                <a:sym typeface="Poppins Bold"/>
              </a:rPr>
              <a:t>Kyriba</a:t>
            </a:r>
          </a:p>
        </p:txBody>
      </p:sp>
      <p:sp>
        <p:nvSpPr>
          <p:cNvPr name="TextBox 29" id="29"/>
          <p:cNvSpPr txBox="true"/>
          <p:nvPr/>
        </p:nvSpPr>
        <p:spPr>
          <a:xfrm rot="0">
            <a:off x="9906000" y="6905625"/>
            <a:ext cx="7429500" cy="342242"/>
          </a:xfrm>
          <a:prstGeom prst="rect">
            <a:avLst/>
          </a:prstGeom>
        </p:spPr>
        <p:txBody>
          <a:bodyPr anchor="t" rtlCol="false" tIns="0" lIns="0" bIns="0" rIns="0">
            <a:spAutoFit/>
          </a:bodyPr>
          <a:lstStyle/>
          <a:p>
            <a:pPr algn="l" marL="409994" indent="-204997" lvl="1">
              <a:lnSpc>
                <a:spcPts val="2658"/>
              </a:lnSpc>
              <a:spcBef>
                <a:spcPct val="0"/>
              </a:spcBef>
              <a:buAutoNum type="arabicPeriod" startAt="1"/>
            </a:pPr>
            <a:r>
              <a:rPr lang="en-US" sz="1899" strike="noStrike" u="none">
                <a:solidFill>
                  <a:srgbClr val="70A1BD"/>
                </a:solidFill>
                <a:latin typeface="Poppins"/>
                <a:ea typeface="Poppins"/>
                <a:cs typeface="Poppins"/>
                <a:sym typeface="Poppins"/>
              </a:rPr>
              <a:t>Payments reviewed and sent for approval</a:t>
            </a:r>
          </a:p>
        </p:txBody>
      </p:sp>
      <p:sp>
        <p:nvSpPr>
          <p:cNvPr name="TextBox 30" id="30"/>
          <p:cNvSpPr txBox="true"/>
          <p:nvPr/>
        </p:nvSpPr>
        <p:spPr>
          <a:xfrm rot="0">
            <a:off x="9906000" y="7496175"/>
            <a:ext cx="7429500" cy="675617"/>
          </a:xfrm>
          <a:prstGeom prst="rect">
            <a:avLst/>
          </a:prstGeom>
        </p:spPr>
        <p:txBody>
          <a:bodyPr anchor="t" rtlCol="false" tIns="0" lIns="0" bIns="0" rIns="0">
            <a:spAutoFit/>
          </a:bodyPr>
          <a:lstStyle/>
          <a:p>
            <a:pPr algn="l" marL="409994" indent="-204997" lvl="1">
              <a:lnSpc>
                <a:spcPts val="2658"/>
              </a:lnSpc>
              <a:spcBef>
                <a:spcPct val="0"/>
              </a:spcBef>
              <a:buAutoNum type="arabicPeriod" startAt="1"/>
            </a:pPr>
            <a:r>
              <a:rPr lang="en-US" sz="1899" strike="noStrike" u="none">
                <a:solidFill>
                  <a:srgbClr val="70A1BD"/>
                </a:solidFill>
                <a:latin typeface="Poppins"/>
                <a:ea typeface="Poppins"/>
                <a:cs typeface="Poppins"/>
                <a:sym typeface="Poppins"/>
              </a:rPr>
              <a:t>Once approved, </a:t>
            </a:r>
            <a:r>
              <a:rPr lang="en-US" b="true" sz="1899" strike="noStrike" u="none">
                <a:solidFill>
                  <a:srgbClr val="70A1BD"/>
                </a:solidFill>
                <a:latin typeface="Poppins Bold"/>
                <a:ea typeface="Poppins Bold"/>
                <a:cs typeface="Poppins Bold"/>
                <a:sym typeface="Poppins Bold"/>
              </a:rPr>
              <a:t>pain.001</a:t>
            </a:r>
            <a:r>
              <a:rPr lang="en-US" sz="1899" strike="noStrike" u="none">
                <a:solidFill>
                  <a:srgbClr val="70A1BD"/>
                </a:solidFill>
                <a:latin typeface="Poppins"/>
                <a:ea typeface="Poppins"/>
                <a:cs typeface="Poppins"/>
                <a:sym typeface="Poppins"/>
              </a:rPr>
              <a:t> goes to Bank A (or to Bank B for treasury transfers from Bank B to Bank A)</a:t>
            </a:r>
          </a:p>
        </p:txBody>
      </p:sp>
      <p:sp>
        <p:nvSpPr>
          <p:cNvPr name="TextBox 31" id="31"/>
          <p:cNvSpPr txBox="true"/>
          <p:nvPr/>
        </p:nvSpPr>
        <p:spPr>
          <a:xfrm rot="0">
            <a:off x="9906000" y="8420100"/>
            <a:ext cx="7429500" cy="675617"/>
          </a:xfrm>
          <a:prstGeom prst="rect">
            <a:avLst/>
          </a:prstGeom>
        </p:spPr>
        <p:txBody>
          <a:bodyPr anchor="t" rtlCol="false" tIns="0" lIns="0" bIns="0" rIns="0">
            <a:spAutoFit/>
          </a:bodyPr>
          <a:lstStyle/>
          <a:p>
            <a:pPr algn="l" marL="409994" indent="-204997" lvl="1">
              <a:lnSpc>
                <a:spcPts val="2658"/>
              </a:lnSpc>
              <a:spcBef>
                <a:spcPct val="0"/>
              </a:spcBef>
              <a:buAutoNum type="arabicPeriod" startAt="1"/>
            </a:pPr>
            <a:r>
              <a:rPr lang="en-US" sz="1899" strike="noStrike" u="none">
                <a:solidFill>
                  <a:srgbClr val="70A1BD"/>
                </a:solidFill>
                <a:latin typeface="Poppins"/>
                <a:ea typeface="Poppins"/>
                <a:cs typeface="Poppins"/>
                <a:sym typeface="Poppins"/>
              </a:rPr>
              <a:t>Kyriba receives </a:t>
            </a:r>
            <a:r>
              <a:rPr lang="en-US" b="true" sz="1899" strike="noStrike" u="none">
                <a:solidFill>
                  <a:srgbClr val="70A1BD"/>
                </a:solidFill>
                <a:latin typeface="Poppins Bold"/>
                <a:ea typeface="Poppins Bold"/>
                <a:cs typeface="Poppins Bold"/>
                <a:sym typeface="Poppins Bold"/>
              </a:rPr>
              <a:t>pain.002</a:t>
            </a:r>
            <a:r>
              <a:rPr lang="en-US" sz="1899" strike="noStrike" u="none">
                <a:solidFill>
                  <a:srgbClr val="70A1BD"/>
                </a:solidFill>
                <a:latin typeface="Poppins"/>
                <a:ea typeface="Poppins"/>
                <a:cs typeface="Poppins"/>
                <a:sym typeface="Poppins"/>
              </a:rPr>
              <a:t> feedback from the bank; the bank also emails feedback on the XML file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4478000" y="2333625"/>
            <a:ext cx="1619250" cy="571500"/>
            <a:chOff x="0" y="0"/>
            <a:chExt cx="2159000" cy="762000"/>
          </a:xfrm>
        </p:grpSpPr>
        <p:sp>
          <p:nvSpPr>
            <p:cNvPr name="Freeform 3" id="3"/>
            <p:cNvSpPr/>
            <p:nvPr/>
          </p:nvSpPr>
          <p:spPr>
            <a:xfrm flipH="false" flipV="false" rot="0">
              <a:off x="0" y="0"/>
              <a:ext cx="2159000" cy="762000"/>
            </a:xfrm>
            <a:custGeom>
              <a:avLst/>
              <a:gdLst/>
              <a:ahLst/>
              <a:cxnLst/>
              <a:rect r="r" b="b" t="t" l="l"/>
              <a:pathLst>
                <a:path h="762000" w="2159000">
                  <a:moveTo>
                    <a:pt x="143435" y="0"/>
                  </a:moveTo>
                  <a:lnTo>
                    <a:pt x="2015565" y="0"/>
                  </a:lnTo>
                  <a:cubicBezTo>
                    <a:pt x="2094782" y="0"/>
                    <a:pt x="2159000" y="64218"/>
                    <a:pt x="2159000" y="143435"/>
                  </a:cubicBezTo>
                  <a:lnTo>
                    <a:pt x="2159000" y="618565"/>
                  </a:lnTo>
                  <a:cubicBezTo>
                    <a:pt x="2159000" y="697782"/>
                    <a:pt x="2094782" y="762000"/>
                    <a:pt x="2015565" y="762000"/>
                  </a:cubicBezTo>
                  <a:lnTo>
                    <a:pt x="143435" y="762000"/>
                  </a:lnTo>
                  <a:cubicBezTo>
                    <a:pt x="64218" y="762000"/>
                    <a:pt x="0" y="697782"/>
                    <a:pt x="0" y="618565"/>
                  </a:cubicBezTo>
                  <a:lnTo>
                    <a:pt x="0" y="143435"/>
                  </a:lnTo>
                  <a:cubicBezTo>
                    <a:pt x="0" y="64218"/>
                    <a:pt x="64218" y="0"/>
                    <a:pt x="143435" y="0"/>
                  </a:cubicBezTo>
                  <a:close/>
                </a:path>
              </a:pathLst>
            </a:custGeom>
            <a:solidFill>
              <a:srgbClr val="EFF1E8"/>
            </a:solidFill>
          </p:spPr>
        </p:sp>
        <p:sp>
          <p:nvSpPr>
            <p:cNvPr name="TextBox 4" id="4"/>
            <p:cNvSpPr txBox="true"/>
            <p:nvPr/>
          </p:nvSpPr>
          <p:spPr>
            <a:xfrm>
              <a:off x="0" y="-28575"/>
              <a:ext cx="2159000" cy="790575"/>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6287750" y="2333625"/>
            <a:ext cx="1619250" cy="571500"/>
            <a:chOff x="0" y="0"/>
            <a:chExt cx="2159000" cy="762000"/>
          </a:xfrm>
        </p:grpSpPr>
        <p:sp>
          <p:nvSpPr>
            <p:cNvPr name="Freeform 6" id="6"/>
            <p:cNvSpPr/>
            <p:nvPr/>
          </p:nvSpPr>
          <p:spPr>
            <a:xfrm flipH="false" flipV="false" rot="0">
              <a:off x="0" y="0"/>
              <a:ext cx="2159000" cy="762000"/>
            </a:xfrm>
            <a:custGeom>
              <a:avLst/>
              <a:gdLst/>
              <a:ahLst/>
              <a:cxnLst/>
              <a:rect r="r" b="b" t="t" l="l"/>
              <a:pathLst>
                <a:path h="762000" w="2159000">
                  <a:moveTo>
                    <a:pt x="143435" y="0"/>
                  </a:moveTo>
                  <a:lnTo>
                    <a:pt x="2015565" y="0"/>
                  </a:lnTo>
                  <a:cubicBezTo>
                    <a:pt x="2094782" y="0"/>
                    <a:pt x="2159000" y="64218"/>
                    <a:pt x="2159000" y="143435"/>
                  </a:cubicBezTo>
                  <a:lnTo>
                    <a:pt x="2159000" y="618565"/>
                  </a:lnTo>
                  <a:cubicBezTo>
                    <a:pt x="2159000" y="697782"/>
                    <a:pt x="2094782" y="762000"/>
                    <a:pt x="2015565" y="762000"/>
                  </a:cubicBezTo>
                  <a:lnTo>
                    <a:pt x="143435" y="762000"/>
                  </a:lnTo>
                  <a:cubicBezTo>
                    <a:pt x="64218" y="762000"/>
                    <a:pt x="0" y="697782"/>
                    <a:pt x="0" y="618565"/>
                  </a:cubicBezTo>
                  <a:lnTo>
                    <a:pt x="0" y="143435"/>
                  </a:lnTo>
                  <a:cubicBezTo>
                    <a:pt x="0" y="64218"/>
                    <a:pt x="64218" y="0"/>
                    <a:pt x="143435" y="0"/>
                  </a:cubicBezTo>
                  <a:close/>
                </a:path>
              </a:pathLst>
            </a:custGeom>
            <a:solidFill>
              <a:srgbClr val="EFF1E8"/>
            </a:solidFill>
          </p:spPr>
        </p:sp>
        <p:sp>
          <p:nvSpPr>
            <p:cNvPr name="TextBox 7" id="7"/>
            <p:cNvSpPr txBox="true"/>
            <p:nvPr/>
          </p:nvSpPr>
          <p:spPr>
            <a:xfrm>
              <a:off x="0" y="-28575"/>
              <a:ext cx="2159000" cy="790575"/>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5273338" y="3076575"/>
            <a:ext cx="47625" cy="571500"/>
            <a:chOff x="0" y="0"/>
            <a:chExt cx="63500" cy="762000"/>
          </a:xfrm>
        </p:grpSpPr>
        <p:sp>
          <p:nvSpPr>
            <p:cNvPr name="Freeform 9" id="9"/>
            <p:cNvSpPr/>
            <p:nvPr/>
          </p:nvSpPr>
          <p:spPr>
            <a:xfrm flipH="false" flipV="false" rot="0">
              <a:off x="0" y="0"/>
              <a:ext cx="63500" cy="762000"/>
            </a:xfrm>
            <a:custGeom>
              <a:avLst/>
              <a:gdLst/>
              <a:ahLst/>
              <a:cxnLst/>
              <a:rect r="r" b="b" t="t" l="l"/>
              <a:pathLst>
                <a:path h="762000" w="63500">
                  <a:moveTo>
                    <a:pt x="0" y="0"/>
                  </a:moveTo>
                  <a:lnTo>
                    <a:pt x="63500" y="0"/>
                  </a:lnTo>
                  <a:lnTo>
                    <a:pt x="63500" y="124918"/>
                  </a:lnTo>
                  <a:lnTo>
                    <a:pt x="0" y="124918"/>
                  </a:lnTo>
                  <a:close/>
                  <a:moveTo>
                    <a:pt x="0" y="212361"/>
                  </a:moveTo>
                  <a:lnTo>
                    <a:pt x="63500" y="212361"/>
                  </a:lnTo>
                  <a:lnTo>
                    <a:pt x="63500" y="337279"/>
                  </a:lnTo>
                  <a:lnTo>
                    <a:pt x="0" y="337279"/>
                  </a:lnTo>
                  <a:close/>
                  <a:moveTo>
                    <a:pt x="0" y="424721"/>
                  </a:moveTo>
                  <a:lnTo>
                    <a:pt x="63500" y="424721"/>
                  </a:lnTo>
                  <a:lnTo>
                    <a:pt x="63500" y="549639"/>
                  </a:lnTo>
                  <a:lnTo>
                    <a:pt x="0" y="549639"/>
                  </a:lnTo>
                  <a:close/>
                  <a:moveTo>
                    <a:pt x="0" y="637082"/>
                  </a:moveTo>
                  <a:lnTo>
                    <a:pt x="63500" y="637082"/>
                  </a:lnTo>
                  <a:lnTo>
                    <a:pt x="63500" y="762000"/>
                  </a:lnTo>
                  <a:lnTo>
                    <a:pt x="0" y="762000"/>
                  </a:lnTo>
                  <a:close/>
                </a:path>
              </a:pathLst>
            </a:custGeom>
            <a:solidFill>
              <a:srgbClr val="EFF1E8"/>
            </a:solidFill>
          </p:spPr>
        </p:sp>
        <p:sp>
          <p:nvSpPr>
            <p:cNvPr name="TextBox 10" id="10"/>
            <p:cNvSpPr txBox="true"/>
            <p:nvPr/>
          </p:nvSpPr>
          <p:spPr>
            <a:xfrm>
              <a:off x="0" y="-28575"/>
              <a:ext cx="63500" cy="790575"/>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15201900" y="2905125"/>
            <a:ext cx="171450" cy="171450"/>
            <a:chOff x="0" y="0"/>
            <a:chExt cx="228600" cy="228600"/>
          </a:xfrm>
        </p:grpSpPr>
        <p:sp>
          <p:nvSpPr>
            <p:cNvPr name="Freeform 12" id="12"/>
            <p:cNvSpPr/>
            <p:nvPr/>
          </p:nvSpPr>
          <p:spPr>
            <a:xfrm flipH="false" flipV="false" rot="0">
              <a:off x="0" y="0"/>
              <a:ext cx="228600" cy="228600"/>
            </a:xfrm>
            <a:custGeom>
              <a:avLst/>
              <a:gdLst/>
              <a:ahLst/>
              <a:cxnLst/>
              <a:rect r="r" b="b" t="t" l="l"/>
              <a:pathLst>
                <a:path h="228600" w="228600">
                  <a:moveTo>
                    <a:pt x="114300" y="0"/>
                  </a:moveTo>
                  <a:lnTo>
                    <a:pt x="228600" y="228600"/>
                  </a:lnTo>
                  <a:lnTo>
                    <a:pt x="0" y="228600"/>
                  </a:lnTo>
                  <a:close/>
                </a:path>
              </a:pathLst>
            </a:custGeom>
            <a:solidFill>
              <a:srgbClr val="EFF1E8"/>
            </a:solidFill>
          </p:spPr>
        </p:sp>
        <p:sp>
          <p:nvSpPr>
            <p:cNvPr name="TextBox 13" id="13"/>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7083088" y="3076575"/>
            <a:ext cx="47625" cy="571500"/>
            <a:chOff x="0" y="0"/>
            <a:chExt cx="63500" cy="762000"/>
          </a:xfrm>
        </p:grpSpPr>
        <p:sp>
          <p:nvSpPr>
            <p:cNvPr name="Freeform 15" id="15"/>
            <p:cNvSpPr/>
            <p:nvPr/>
          </p:nvSpPr>
          <p:spPr>
            <a:xfrm flipH="false" flipV="false" rot="0">
              <a:off x="0" y="0"/>
              <a:ext cx="63500" cy="762000"/>
            </a:xfrm>
            <a:custGeom>
              <a:avLst/>
              <a:gdLst/>
              <a:ahLst/>
              <a:cxnLst/>
              <a:rect r="r" b="b" t="t" l="l"/>
              <a:pathLst>
                <a:path h="762000" w="63500">
                  <a:moveTo>
                    <a:pt x="0" y="0"/>
                  </a:moveTo>
                  <a:lnTo>
                    <a:pt x="63500" y="0"/>
                  </a:lnTo>
                  <a:lnTo>
                    <a:pt x="63500" y="124918"/>
                  </a:lnTo>
                  <a:lnTo>
                    <a:pt x="0" y="124918"/>
                  </a:lnTo>
                  <a:close/>
                  <a:moveTo>
                    <a:pt x="0" y="212361"/>
                  </a:moveTo>
                  <a:lnTo>
                    <a:pt x="63500" y="212361"/>
                  </a:lnTo>
                  <a:lnTo>
                    <a:pt x="63500" y="337279"/>
                  </a:lnTo>
                  <a:lnTo>
                    <a:pt x="0" y="337279"/>
                  </a:lnTo>
                  <a:close/>
                  <a:moveTo>
                    <a:pt x="0" y="424721"/>
                  </a:moveTo>
                  <a:lnTo>
                    <a:pt x="63500" y="424721"/>
                  </a:lnTo>
                  <a:lnTo>
                    <a:pt x="63500" y="549639"/>
                  </a:lnTo>
                  <a:lnTo>
                    <a:pt x="0" y="549639"/>
                  </a:lnTo>
                  <a:close/>
                  <a:moveTo>
                    <a:pt x="0" y="637082"/>
                  </a:moveTo>
                  <a:lnTo>
                    <a:pt x="63500" y="637082"/>
                  </a:lnTo>
                  <a:lnTo>
                    <a:pt x="63500" y="762000"/>
                  </a:lnTo>
                  <a:lnTo>
                    <a:pt x="0" y="762000"/>
                  </a:lnTo>
                  <a:close/>
                </a:path>
              </a:pathLst>
            </a:custGeom>
            <a:solidFill>
              <a:srgbClr val="EFF1E8"/>
            </a:solidFill>
          </p:spPr>
        </p:sp>
        <p:sp>
          <p:nvSpPr>
            <p:cNvPr name="TextBox 16" id="16"/>
            <p:cNvSpPr txBox="true"/>
            <p:nvPr/>
          </p:nvSpPr>
          <p:spPr>
            <a:xfrm>
              <a:off x="0" y="-28575"/>
              <a:ext cx="63500" cy="790575"/>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7011650" y="2905125"/>
            <a:ext cx="171450" cy="171450"/>
            <a:chOff x="0" y="0"/>
            <a:chExt cx="228600" cy="228600"/>
          </a:xfrm>
        </p:grpSpPr>
        <p:sp>
          <p:nvSpPr>
            <p:cNvPr name="Freeform 18" id="18"/>
            <p:cNvSpPr/>
            <p:nvPr/>
          </p:nvSpPr>
          <p:spPr>
            <a:xfrm flipH="false" flipV="false" rot="0">
              <a:off x="0" y="0"/>
              <a:ext cx="228600" cy="228600"/>
            </a:xfrm>
            <a:custGeom>
              <a:avLst/>
              <a:gdLst/>
              <a:ahLst/>
              <a:cxnLst/>
              <a:rect r="r" b="b" t="t" l="l"/>
              <a:pathLst>
                <a:path h="228600" w="228600">
                  <a:moveTo>
                    <a:pt x="114300" y="0"/>
                  </a:moveTo>
                  <a:lnTo>
                    <a:pt x="228600" y="228600"/>
                  </a:lnTo>
                  <a:lnTo>
                    <a:pt x="0" y="228600"/>
                  </a:lnTo>
                  <a:close/>
                </a:path>
              </a:pathLst>
            </a:custGeom>
            <a:solidFill>
              <a:srgbClr val="EFF1E8"/>
            </a:solidFill>
          </p:spPr>
        </p:sp>
        <p:sp>
          <p:nvSpPr>
            <p:cNvPr name="TextBox 19" id="19"/>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4478000" y="2447925"/>
            <a:ext cx="1619250" cy="276225"/>
          </a:xfrm>
          <a:prstGeom prst="rect">
            <a:avLst/>
          </a:prstGeom>
        </p:spPr>
        <p:txBody>
          <a:bodyPr anchor="t" rtlCol="false" tIns="0" lIns="0" bIns="0" rIns="0">
            <a:spAutoFit/>
          </a:bodyPr>
          <a:lstStyle/>
          <a:p>
            <a:pPr algn="ctr" marL="0" indent="0" lvl="0">
              <a:lnSpc>
                <a:spcPts val="2100"/>
              </a:lnSpc>
              <a:spcBef>
                <a:spcPct val="0"/>
              </a:spcBef>
            </a:pPr>
            <a:r>
              <a:rPr lang="en-US" b="true" sz="1500" strike="noStrike" u="none">
                <a:solidFill>
                  <a:srgbClr val="70A1BD"/>
                </a:solidFill>
                <a:latin typeface="Poppins Bold"/>
                <a:ea typeface="Poppins Bold"/>
                <a:cs typeface="Poppins Bold"/>
                <a:sym typeface="Poppins Bold"/>
              </a:rPr>
              <a:t>Group entities</a:t>
            </a:r>
          </a:p>
        </p:txBody>
      </p:sp>
      <p:sp>
        <p:nvSpPr>
          <p:cNvPr name="TextBox 21" id="21"/>
          <p:cNvSpPr txBox="true"/>
          <p:nvPr/>
        </p:nvSpPr>
        <p:spPr>
          <a:xfrm rot="0">
            <a:off x="16287750" y="2447925"/>
            <a:ext cx="1619250" cy="276225"/>
          </a:xfrm>
          <a:prstGeom prst="rect">
            <a:avLst/>
          </a:prstGeom>
        </p:spPr>
        <p:txBody>
          <a:bodyPr anchor="t" rtlCol="false" tIns="0" lIns="0" bIns="0" rIns="0">
            <a:spAutoFit/>
          </a:bodyPr>
          <a:lstStyle/>
          <a:p>
            <a:pPr algn="ctr">
              <a:lnSpc>
                <a:spcPts val="2100"/>
              </a:lnSpc>
            </a:pPr>
            <a:r>
              <a:rPr lang="en-US" sz="1500" b="true">
                <a:solidFill>
                  <a:srgbClr val="70A1BD"/>
                </a:solidFill>
                <a:latin typeface="Poppins Bold"/>
                <a:ea typeface="Poppins Bold"/>
                <a:cs typeface="Poppins Bold"/>
                <a:sym typeface="Poppins Bold"/>
              </a:rPr>
              <a:t>Third party</a:t>
            </a:r>
          </a:p>
        </p:txBody>
      </p:sp>
      <p:sp>
        <p:nvSpPr>
          <p:cNvPr name="TextBox 22" id="22"/>
          <p:cNvSpPr txBox="true"/>
          <p:nvPr/>
        </p:nvSpPr>
        <p:spPr>
          <a:xfrm rot="0">
            <a:off x="15811500" y="3162300"/>
            <a:ext cx="1143000" cy="241935"/>
          </a:xfrm>
          <a:prstGeom prst="rect">
            <a:avLst/>
          </a:prstGeom>
        </p:spPr>
        <p:txBody>
          <a:bodyPr anchor="t" rtlCol="false" tIns="0" lIns="0" bIns="0" rIns="0">
            <a:spAutoFit/>
          </a:bodyPr>
          <a:lstStyle/>
          <a:p>
            <a:pPr algn="l">
              <a:lnSpc>
                <a:spcPts val="1889"/>
              </a:lnSpc>
            </a:pPr>
            <a:r>
              <a:rPr lang="en-US" sz="1350">
                <a:solidFill>
                  <a:srgbClr val="EFF1E8"/>
                </a:solidFill>
                <a:latin typeface="Poppins"/>
                <a:ea typeface="Poppins"/>
                <a:cs typeface="Poppins"/>
                <a:sym typeface="Poppins"/>
              </a:rPr>
              <a:t>Payments to</a:t>
            </a:r>
          </a:p>
        </p:txBody>
      </p:sp>
      <p:sp>
        <p:nvSpPr>
          <p:cNvPr name="TextBox 23" id="23"/>
          <p:cNvSpPr txBox="true"/>
          <p:nvPr/>
        </p:nvSpPr>
        <p:spPr>
          <a:xfrm rot="0">
            <a:off x="14306550" y="5467350"/>
            <a:ext cx="1428750" cy="449580"/>
          </a:xfrm>
          <a:prstGeom prst="rect">
            <a:avLst/>
          </a:prstGeom>
        </p:spPr>
        <p:txBody>
          <a:bodyPr anchor="t" rtlCol="false" tIns="0" lIns="0" bIns="0" rIns="0">
            <a:spAutoFit/>
          </a:bodyPr>
          <a:lstStyle/>
          <a:p>
            <a:pPr algn="r" marL="0" indent="0" lvl="0">
              <a:lnSpc>
                <a:spcPts val="1755"/>
              </a:lnSpc>
              <a:spcBef>
                <a:spcPct val="0"/>
              </a:spcBef>
            </a:pPr>
            <a:r>
              <a:rPr lang="en-US" sz="1350" strike="noStrike" u="none">
                <a:solidFill>
                  <a:srgbClr val="EFF1E8"/>
                </a:solidFill>
                <a:latin typeface="Poppins"/>
                <a:ea typeface="Poppins"/>
                <a:cs typeface="Poppins"/>
                <a:sym typeface="Poppins"/>
              </a:rPr>
              <a:t>Treasury transfer A to B</a:t>
            </a:r>
          </a:p>
        </p:txBody>
      </p:sp>
      <p:grpSp>
        <p:nvGrpSpPr>
          <p:cNvPr name="Group 24" id="24"/>
          <p:cNvGrpSpPr/>
          <p:nvPr/>
        </p:nvGrpSpPr>
        <p:grpSpPr>
          <a:xfrm rot="0">
            <a:off x="3810000" y="2238375"/>
            <a:ext cx="9525000" cy="7048500"/>
            <a:chOff x="0" y="0"/>
            <a:chExt cx="12700000" cy="9398000"/>
          </a:xfrm>
        </p:grpSpPr>
        <p:sp>
          <p:nvSpPr>
            <p:cNvPr name="Freeform 25" id="25"/>
            <p:cNvSpPr/>
            <p:nvPr/>
          </p:nvSpPr>
          <p:spPr>
            <a:xfrm flipH="false" flipV="false" rot="0">
              <a:off x="0" y="0"/>
              <a:ext cx="12700000" cy="9398000"/>
            </a:xfrm>
            <a:custGeom>
              <a:avLst/>
              <a:gdLst/>
              <a:ahLst/>
              <a:cxnLst/>
              <a:rect r="r" b="b" t="t" l="l"/>
              <a:pathLst>
                <a:path h="9398000" w="12700000">
                  <a:moveTo>
                    <a:pt x="32512" y="0"/>
                  </a:moveTo>
                  <a:lnTo>
                    <a:pt x="12667488" y="0"/>
                  </a:lnTo>
                  <a:cubicBezTo>
                    <a:pt x="12685444" y="0"/>
                    <a:pt x="12700000" y="14556"/>
                    <a:pt x="12700000" y="32512"/>
                  </a:cubicBezTo>
                  <a:lnTo>
                    <a:pt x="12700000" y="9365488"/>
                  </a:lnTo>
                  <a:cubicBezTo>
                    <a:pt x="12700000" y="9383444"/>
                    <a:pt x="12685444" y="9398000"/>
                    <a:pt x="12667488" y="9398000"/>
                  </a:cubicBezTo>
                  <a:lnTo>
                    <a:pt x="32512" y="9398000"/>
                  </a:lnTo>
                  <a:cubicBezTo>
                    <a:pt x="14556" y="9398000"/>
                    <a:pt x="0" y="9383444"/>
                    <a:pt x="0" y="9365488"/>
                  </a:cubicBezTo>
                  <a:lnTo>
                    <a:pt x="0" y="32512"/>
                  </a:lnTo>
                  <a:cubicBezTo>
                    <a:pt x="0" y="14556"/>
                    <a:pt x="14556" y="0"/>
                    <a:pt x="32512" y="0"/>
                  </a:cubicBezTo>
                  <a:close/>
                </a:path>
              </a:pathLst>
            </a:custGeom>
            <a:solidFill>
              <a:srgbClr val="EFF1E8"/>
            </a:solidFill>
          </p:spPr>
        </p:sp>
        <p:sp>
          <p:nvSpPr>
            <p:cNvPr name="TextBox 26" id="26"/>
            <p:cNvSpPr txBox="true"/>
            <p:nvPr/>
          </p:nvSpPr>
          <p:spPr>
            <a:xfrm>
              <a:off x="0" y="-28575"/>
              <a:ext cx="12700000" cy="9426575"/>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762000" y="2762250"/>
            <a:ext cx="2381250" cy="1143000"/>
            <a:chOff x="0" y="0"/>
            <a:chExt cx="3175000" cy="1524000"/>
          </a:xfrm>
        </p:grpSpPr>
        <p:sp>
          <p:nvSpPr>
            <p:cNvPr name="Freeform 28" id="28"/>
            <p:cNvSpPr/>
            <p:nvPr/>
          </p:nvSpPr>
          <p:spPr>
            <a:xfrm flipH="false" flipV="false" rot="0">
              <a:off x="0" y="0"/>
              <a:ext cx="3175000" cy="1524000"/>
            </a:xfrm>
            <a:custGeom>
              <a:avLst/>
              <a:gdLst/>
              <a:ahLst/>
              <a:cxnLst/>
              <a:rect r="r" b="b" t="t" l="l"/>
              <a:pathLst>
                <a:path h="1524000" w="3175000">
                  <a:moveTo>
                    <a:pt x="78029" y="0"/>
                  </a:moveTo>
                  <a:lnTo>
                    <a:pt x="3096971" y="0"/>
                  </a:lnTo>
                  <a:cubicBezTo>
                    <a:pt x="3117666" y="0"/>
                    <a:pt x="3137513" y="8221"/>
                    <a:pt x="3152146" y="22854"/>
                  </a:cubicBezTo>
                  <a:cubicBezTo>
                    <a:pt x="3166779" y="37487"/>
                    <a:pt x="3175000" y="57334"/>
                    <a:pt x="3175000" y="78029"/>
                  </a:cubicBezTo>
                  <a:lnTo>
                    <a:pt x="3175000" y="1445971"/>
                  </a:lnTo>
                  <a:cubicBezTo>
                    <a:pt x="3175000" y="1466666"/>
                    <a:pt x="3166779" y="1486513"/>
                    <a:pt x="3152146" y="1501146"/>
                  </a:cubicBezTo>
                  <a:cubicBezTo>
                    <a:pt x="3137513" y="1515779"/>
                    <a:pt x="3117666" y="1524000"/>
                    <a:pt x="3096971" y="1524000"/>
                  </a:cubicBezTo>
                  <a:lnTo>
                    <a:pt x="78029" y="1524000"/>
                  </a:lnTo>
                  <a:cubicBezTo>
                    <a:pt x="34935" y="1524000"/>
                    <a:pt x="0" y="1489065"/>
                    <a:pt x="0" y="1445971"/>
                  </a:cubicBezTo>
                  <a:lnTo>
                    <a:pt x="0" y="78029"/>
                  </a:lnTo>
                  <a:cubicBezTo>
                    <a:pt x="0" y="34935"/>
                    <a:pt x="34935" y="0"/>
                    <a:pt x="78029" y="0"/>
                  </a:cubicBezTo>
                  <a:close/>
                </a:path>
              </a:pathLst>
            </a:custGeom>
            <a:solidFill>
              <a:srgbClr val="EFF1E8"/>
            </a:solidFill>
          </p:spPr>
        </p:sp>
        <p:sp>
          <p:nvSpPr>
            <p:cNvPr name="TextBox 29" id="29"/>
            <p:cNvSpPr txBox="true"/>
            <p:nvPr/>
          </p:nvSpPr>
          <p:spPr>
            <a:xfrm>
              <a:off x="0" y="-28575"/>
              <a:ext cx="3175000" cy="1552575"/>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762000" y="4381500"/>
            <a:ext cx="2381250" cy="1143000"/>
            <a:chOff x="0" y="0"/>
            <a:chExt cx="3175000" cy="1524000"/>
          </a:xfrm>
        </p:grpSpPr>
        <p:sp>
          <p:nvSpPr>
            <p:cNvPr name="Freeform 31" id="31"/>
            <p:cNvSpPr/>
            <p:nvPr/>
          </p:nvSpPr>
          <p:spPr>
            <a:xfrm flipH="false" flipV="false" rot="0">
              <a:off x="0" y="0"/>
              <a:ext cx="3175000" cy="1524000"/>
            </a:xfrm>
            <a:custGeom>
              <a:avLst/>
              <a:gdLst/>
              <a:ahLst/>
              <a:cxnLst/>
              <a:rect r="r" b="b" t="t" l="l"/>
              <a:pathLst>
                <a:path h="1524000" w="3175000">
                  <a:moveTo>
                    <a:pt x="78029" y="0"/>
                  </a:moveTo>
                  <a:lnTo>
                    <a:pt x="3096971" y="0"/>
                  </a:lnTo>
                  <a:cubicBezTo>
                    <a:pt x="3117666" y="0"/>
                    <a:pt x="3137513" y="8221"/>
                    <a:pt x="3152146" y="22854"/>
                  </a:cubicBezTo>
                  <a:cubicBezTo>
                    <a:pt x="3166779" y="37487"/>
                    <a:pt x="3175000" y="57334"/>
                    <a:pt x="3175000" y="78029"/>
                  </a:cubicBezTo>
                  <a:lnTo>
                    <a:pt x="3175000" y="1445971"/>
                  </a:lnTo>
                  <a:cubicBezTo>
                    <a:pt x="3175000" y="1466666"/>
                    <a:pt x="3166779" y="1486513"/>
                    <a:pt x="3152146" y="1501146"/>
                  </a:cubicBezTo>
                  <a:cubicBezTo>
                    <a:pt x="3137513" y="1515779"/>
                    <a:pt x="3117666" y="1524000"/>
                    <a:pt x="3096971" y="1524000"/>
                  </a:cubicBezTo>
                  <a:lnTo>
                    <a:pt x="78029" y="1524000"/>
                  </a:lnTo>
                  <a:cubicBezTo>
                    <a:pt x="34935" y="1524000"/>
                    <a:pt x="0" y="1489065"/>
                    <a:pt x="0" y="1445971"/>
                  </a:cubicBezTo>
                  <a:lnTo>
                    <a:pt x="0" y="78029"/>
                  </a:lnTo>
                  <a:cubicBezTo>
                    <a:pt x="0" y="34935"/>
                    <a:pt x="34935" y="0"/>
                    <a:pt x="78029" y="0"/>
                  </a:cubicBezTo>
                  <a:close/>
                </a:path>
              </a:pathLst>
            </a:custGeom>
            <a:solidFill>
              <a:srgbClr val="EFF1E8"/>
            </a:solidFill>
          </p:spPr>
        </p:sp>
        <p:sp>
          <p:nvSpPr>
            <p:cNvPr name="TextBox 32" id="32"/>
            <p:cNvSpPr txBox="true"/>
            <p:nvPr/>
          </p:nvSpPr>
          <p:spPr>
            <a:xfrm>
              <a:off x="0" y="-28575"/>
              <a:ext cx="3175000" cy="1552575"/>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762000" y="6000750"/>
            <a:ext cx="2381250" cy="1143000"/>
            <a:chOff x="0" y="0"/>
            <a:chExt cx="3175000" cy="1524000"/>
          </a:xfrm>
        </p:grpSpPr>
        <p:sp>
          <p:nvSpPr>
            <p:cNvPr name="Freeform 34" id="34"/>
            <p:cNvSpPr/>
            <p:nvPr/>
          </p:nvSpPr>
          <p:spPr>
            <a:xfrm flipH="false" flipV="false" rot="0">
              <a:off x="0" y="0"/>
              <a:ext cx="3175000" cy="1524000"/>
            </a:xfrm>
            <a:custGeom>
              <a:avLst/>
              <a:gdLst/>
              <a:ahLst/>
              <a:cxnLst/>
              <a:rect r="r" b="b" t="t" l="l"/>
              <a:pathLst>
                <a:path h="1524000" w="3175000">
                  <a:moveTo>
                    <a:pt x="78029" y="0"/>
                  </a:moveTo>
                  <a:lnTo>
                    <a:pt x="3096971" y="0"/>
                  </a:lnTo>
                  <a:cubicBezTo>
                    <a:pt x="3117666" y="0"/>
                    <a:pt x="3137513" y="8221"/>
                    <a:pt x="3152146" y="22854"/>
                  </a:cubicBezTo>
                  <a:cubicBezTo>
                    <a:pt x="3166779" y="37487"/>
                    <a:pt x="3175000" y="57334"/>
                    <a:pt x="3175000" y="78029"/>
                  </a:cubicBezTo>
                  <a:lnTo>
                    <a:pt x="3175000" y="1445971"/>
                  </a:lnTo>
                  <a:cubicBezTo>
                    <a:pt x="3175000" y="1466666"/>
                    <a:pt x="3166779" y="1486513"/>
                    <a:pt x="3152146" y="1501146"/>
                  </a:cubicBezTo>
                  <a:cubicBezTo>
                    <a:pt x="3137513" y="1515779"/>
                    <a:pt x="3117666" y="1524000"/>
                    <a:pt x="3096971" y="1524000"/>
                  </a:cubicBezTo>
                  <a:lnTo>
                    <a:pt x="78029" y="1524000"/>
                  </a:lnTo>
                  <a:cubicBezTo>
                    <a:pt x="34935" y="1524000"/>
                    <a:pt x="0" y="1489065"/>
                    <a:pt x="0" y="1445971"/>
                  </a:cubicBezTo>
                  <a:lnTo>
                    <a:pt x="0" y="78029"/>
                  </a:lnTo>
                  <a:cubicBezTo>
                    <a:pt x="0" y="34935"/>
                    <a:pt x="34935" y="0"/>
                    <a:pt x="78029" y="0"/>
                  </a:cubicBezTo>
                  <a:close/>
                </a:path>
              </a:pathLst>
            </a:custGeom>
            <a:solidFill>
              <a:srgbClr val="EFF1E8"/>
            </a:solidFill>
          </p:spPr>
        </p:sp>
        <p:sp>
          <p:nvSpPr>
            <p:cNvPr name="TextBox 35" id="35"/>
            <p:cNvSpPr txBox="true"/>
            <p:nvPr/>
          </p:nvSpPr>
          <p:spPr>
            <a:xfrm>
              <a:off x="0" y="-28575"/>
              <a:ext cx="3175000" cy="1552575"/>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762000" y="7810500"/>
            <a:ext cx="2381250" cy="1143000"/>
            <a:chOff x="0" y="0"/>
            <a:chExt cx="3175000" cy="1524000"/>
          </a:xfrm>
        </p:grpSpPr>
        <p:sp>
          <p:nvSpPr>
            <p:cNvPr name="Freeform 37" id="37"/>
            <p:cNvSpPr/>
            <p:nvPr/>
          </p:nvSpPr>
          <p:spPr>
            <a:xfrm flipH="false" flipV="false" rot="0">
              <a:off x="0" y="0"/>
              <a:ext cx="3175000" cy="1524000"/>
            </a:xfrm>
            <a:custGeom>
              <a:avLst/>
              <a:gdLst/>
              <a:ahLst/>
              <a:cxnLst/>
              <a:rect r="r" b="b" t="t" l="l"/>
              <a:pathLst>
                <a:path h="1524000" w="3175000">
                  <a:moveTo>
                    <a:pt x="78029" y="0"/>
                  </a:moveTo>
                  <a:lnTo>
                    <a:pt x="3096971" y="0"/>
                  </a:lnTo>
                  <a:cubicBezTo>
                    <a:pt x="3117666" y="0"/>
                    <a:pt x="3137513" y="8221"/>
                    <a:pt x="3152146" y="22854"/>
                  </a:cubicBezTo>
                  <a:cubicBezTo>
                    <a:pt x="3166779" y="37487"/>
                    <a:pt x="3175000" y="57334"/>
                    <a:pt x="3175000" y="78029"/>
                  </a:cubicBezTo>
                  <a:lnTo>
                    <a:pt x="3175000" y="1445971"/>
                  </a:lnTo>
                  <a:cubicBezTo>
                    <a:pt x="3175000" y="1466666"/>
                    <a:pt x="3166779" y="1486513"/>
                    <a:pt x="3152146" y="1501146"/>
                  </a:cubicBezTo>
                  <a:cubicBezTo>
                    <a:pt x="3137513" y="1515779"/>
                    <a:pt x="3117666" y="1524000"/>
                    <a:pt x="3096971" y="1524000"/>
                  </a:cubicBezTo>
                  <a:lnTo>
                    <a:pt x="78029" y="1524000"/>
                  </a:lnTo>
                  <a:cubicBezTo>
                    <a:pt x="34935" y="1524000"/>
                    <a:pt x="0" y="1489065"/>
                    <a:pt x="0" y="1445971"/>
                  </a:cubicBezTo>
                  <a:lnTo>
                    <a:pt x="0" y="78029"/>
                  </a:lnTo>
                  <a:cubicBezTo>
                    <a:pt x="0" y="34935"/>
                    <a:pt x="34935" y="0"/>
                    <a:pt x="78029" y="0"/>
                  </a:cubicBezTo>
                  <a:close/>
                </a:path>
              </a:pathLst>
            </a:custGeom>
            <a:solidFill>
              <a:srgbClr val="EFF1E8"/>
            </a:solidFill>
          </p:spPr>
        </p:sp>
        <p:sp>
          <p:nvSpPr>
            <p:cNvPr name="TextBox 38" id="38"/>
            <p:cNvSpPr txBox="true"/>
            <p:nvPr/>
          </p:nvSpPr>
          <p:spPr>
            <a:xfrm>
              <a:off x="0" y="-28575"/>
              <a:ext cx="3175000" cy="1552575"/>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4191000" y="2857500"/>
            <a:ext cx="3048000" cy="952500"/>
            <a:chOff x="0" y="0"/>
            <a:chExt cx="4064000" cy="1270000"/>
          </a:xfrm>
        </p:grpSpPr>
        <p:sp>
          <p:nvSpPr>
            <p:cNvPr name="Freeform 40" id="40"/>
            <p:cNvSpPr/>
            <p:nvPr/>
          </p:nvSpPr>
          <p:spPr>
            <a:xfrm flipH="false" flipV="false" rot="0">
              <a:off x="0" y="0"/>
              <a:ext cx="4064000" cy="1270000"/>
            </a:xfrm>
            <a:custGeom>
              <a:avLst/>
              <a:gdLst/>
              <a:ahLst/>
              <a:cxnLst/>
              <a:rect r="r" b="b" t="t" l="l"/>
              <a:pathLst>
                <a:path h="1270000" w="4064000">
                  <a:moveTo>
                    <a:pt x="40640" y="0"/>
                  </a:moveTo>
                  <a:lnTo>
                    <a:pt x="4023360" y="0"/>
                  </a:lnTo>
                  <a:cubicBezTo>
                    <a:pt x="4045805" y="0"/>
                    <a:pt x="4064000" y="18195"/>
                    <a:pt x="4064000" y="40640"/>
                  </a:cubicBezTo>
                  <a:lnTo>
                    <a:pt x="4064000" y="1229360"/>
                  </a:lnTo>
                  <a:cubicBezTo>
                    <a:pt x="4064000" y="1251805"/>
                    <a:pt x="4045805" y="1270000"/>
                    <a:pt x="4023360" y="1270000"/>
                  </a:cubicBezTo>
                  <a:lnTo>
                    <a:pt x="40640" y="1270000"/>
                  </a:lnTo>
                  <a:cubicBezTo>
                    <a:pt x="29862" y="1270000"/>
                    <a:pt x="19525" y="1265718"/>
                    <a:pt x="11903" y="1258097"/>
                  </a:cubicBezTo>
                  <a:cubicBezTo>
                    <a:pt x="4282" y="1250475"/>
                    <a:pt x="0" y="1240138"/>
                    <a:pt x="0" y="1229360"/>
                  </a:cubicBezTo>
                  <a:lnTo>
                    <a:pt x="0" y="40640"/>
                  </a:lnTo>
                  <a:cubicBezTo>
                    <a:pt x="0" y="18195"/>
                    <a:pt x="18195" y="0"/>
                    <a:pt x="40640" y="0"/>
                  </a:cubicBezTo>
                  <a:close/>
                </a:path>
              </a:pathLst>
            </a:custGeom>
            <a:solidFill>
              <a:srgbClr val="70A1BD"/>
            </a:solidFill>
          </p:spPr>
        </p:sp>
        <p:sp>
          <p:nvSpPr>
            <p:cNvPr name="TextBox 41" id="41"/>
            <p:cNvSpPr txBox="true"/>
            <p:nvPr/>
          </p:nvSpPr>
          <p:spPr>
            <a:xfrm>
              <a:off x="0" y="-28575"/>
              <a:ext cx="4064000" cy="1298575"/>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4191000" y="4286250"/>
            <a:ext cx="5905500" cy="3048000"/>
            <a:chOff x="0" y="0"/>
            <a:chExt cx="7874000" cy="4064000"/>
          </a:xfrm>
        </p:grpSpPr>
        <p:sp>
          <p:nvSpPr>
            <p:cNvPr name="Freeform 43" id="43"/>
            <p:cNvSpPr/>
            <p:nvPr/>
          </p:nvSpPr>
          <p:spPr>
            <a:xfrm flipH="false" flipV="false" rot="0">
              <a:off x="0" y="0"/>
              <a:ext cx="7874000" cy="4064000"/>
            </a:xfrm>
            <a:custGeom>
              <a:avLst/>
              <a:gdLst/>
              <a:ahLst/>
              <a:cxnLst/>
              <a:rect r="r" b="b" t="t" l="l"/>
              <a:pathLst>
                <a:path h="4064000" w="7874000">
                  <a:moveTo>
                    <a:pt x="20975" y="0"/>
                  </a:moveTo>
                  <a:lnTo>
                    <a:pt x="7853025" y="0"/>
                  </a:lnTo>
                  <a:cubicBezTo>
                    <a:pt x="7858588" y="0"/>
                    <a:pt x="7863923" y="2210"/>
                    <a:pt x="7867856" y="6144"/>
                  </a:cubicBezTo>
                  <a:cubicBezTo>
                    <a:pt x="7871790" y="10077"/>
                    <a:pt x="7874000" y="15412"/>
                    <a:pt x="7874000" y="20975"/>
                  </a:cubicBezTo>
                  <a:lnTo>
                    <a:pt x="7874000" y="4043025"/>
                  </a:lnTo>
                  <a:cubicBezTo>
                    <a:pt x="7874000" y="4048588"/>
                    <a:pt x="7871790" y="4053923"/>
                    <a:pt x="7867856" y="4057857"/>
                  </a:cubicBezTo>
                  <a:cubicBezTo>
                    <a:pt x="7863923" y="4061790"/>
                    <a:pt x="7858588" y="4064000"/>
                    <a:pt x="7853025" y="4064000"/>
                  </a:cubicBezTo>
                  <a:lnTo>
                    <a:pt x="20975" y="4064000"/>
                  </a:lnTo>
                  <a:cubicBezTo>
                    <a:pt x="15412" y="4064000"/>
                    <a:pt x="10077" y="4061790"/>
                    <a:pt x="6144" y="4057857"/>
                  </a:cubicBezTo>
                  <a:cubicBezTo>
                    <a:pt x="2210" y="4053923"/>
                    <a:pt x="0" y="4048588"/>
                    <a:pt x="0" y="4043025"/>
                  </a:cubicBezTo>
                  <a:lnTo>
                    <a:pt x="0" y="20975"/>
                  </a:lnTo>
                  <a:cubicBezTo>
                    <a:pt x="0" y="15412"/>
                    <a:pt x="2210" y="10077"/>
                    <a:pt x="6144" y="6144"/>
                  </a:cubicBezTo>
                  <a:cubicBezTo>
                    <a:pt x="10077" y="2210"/>
                    <a:pt x="15412" y="0"/>
                    <a:pt x="20975" y="0"/>
                  </a:cubicBezTo>
                  <a:close/>
                </a:path>
              </a:pathLst>
            </a:custGeom>
            <a:solidFill>
              <a:srgbClr val="70A1BD"/>
            </a:solidFill>
          </p:spPr>
        </p:sp>
        <p:sp>
          <p:nvSpPr>
            <p:cNvPr name="TextBox 44" id="44"/>
            <p:cNvSpPr txBox="true"/>
            <p:nvPr/>
          </p:nvSpPr>
          <p:spPr>
            <a:xfrm>
              <a:off x="0" y="-28575"/>
              <a:ext cx="7874000" cy="4092575"/>
            </a:xfrm>
            <a:prstGeom prst="rect">
              <a:avLst/>
            </a:prstGeom>
          </p:spPr>
          <p:txBody>
            <a:bodyPr anchor="ctr" rtlCol="false" tIns="50800" lIns="50800" bIns="50800" rIns="50800"/>
            <a:lstStyle/>
            <a:p>
              <a:pPr algn="l">
                <a:lnSpc>
                  <a:spcPts val="1679"/>
                </a:lnSpc>
              </a:pPr>
            </a:p>
          </p:txBody>
        </p:sp>
      </p:grpSp>
      <p:grpSp>
        <p:nvGrpSpPr>
          <p:cNvPr name="Group 45" id="45"/>
          <p:cNvGrpSpPr/>
          <p:nvPr/>
        </p:nvGrpSpPr>
        <p:grpSpPr>
          <a:xfrm rot="0">
            <a:off x="11144250" y="2857500"/>
            <a:ext cx="1809750" cy="6000750"/>
            <a:chOff x="0" y="0"/>
            <a:chExt cx="2413000" cy="8001000"/>
          </a:xfrm>
        </p:grpSpPr>
        <p:sp>
          <p:nvSpPr>
            <p:cNvPr name="Freeform 46" id="46"/>
            <p:cNvSpPr/>
            <p:nvPr/>
          </p:nvSpPr>
          <p:spPr>
            <a:xfrm flipH="false" flipV="false" rot="0">
              <a:off x="0" y="0"/>
              <a:ext cx="2413000" cy="8001000"/>
            </a:xfrm>
            <a:custGeom>
              <a:avLst/>
              <a:gdLst/>
              <a:ahLst/>
              <a:cxnLst/>
              <a:rect r="r" b="b" t="t" l="l"/>
              <a:pathLst>
                <a:path h="8001000" w="2413000">
                  <a:moveTo>
                    <a:pt x="68446" y="0"/>
                  </a:moveTo>
                  <a:lnTo>
                    <a:pt x="2344554" y="0"/>
                  </a:lnTo>
                  <a:cubicBezTo>
                    <a:pt x="2362707" y="0"/>
                    <a:pt x="2380116" y="7211"/>
                    <a:pt x="2392953" y="20047"/>
                  </a:cubicBezTo>
                  <a:cubicBezTo>
                    <a:pt x="2405789" y="32884"/>
                    <a:pt x="2413000" y="50293"/>
                    <a:pt x="2413000" y="68446"/>
                  </a:cubicBezTo>
                  <a:lnTo>
                    <a:pt x="2413000" y="7932554"/>
                  </a:lnTo>
                  <a:cubicBezTo>
                    <a:pt x="2413000" y="7950707"/>
                    <a:pt x="2405789" y="7968117"/>
                    <a:pt x="2392953" y="7980952"/>
                  </a:cubicBezTo>
                  <a:cubicBezTo>
                    <a:pt x="2380116" y="7993789"/>
                    <a:pt x="2362707" y="8001000"/>
                    <a:pt x="2344554" y="8001000"/>
                  </a:cubicBezTo>
                  <a:lnTo>
                    <a:pt x="68446" y="8001000"/>
                  </a:lnTo>
                  <a:cubicBezTo>
                    <a:pt x="50293" y="8001000"/>
                    <a:pt x="32884" y="7993789"/>
                    <a:pt x="20047" y="7980952"/>
                  </a:cubicBezTo>
                  <a:cubicBezTo>
                    <a:pt x="7211" y="7968117"/>
                    <a:pt x="0" y="7950707"/>
                    <a:pt x="0" y="7932554"/>
                  </a:cubicBezTo>
                  <a:lnTo>
                    <a:pt x="0" y="68446"/>
                  </a:lnTo>
                  <a:cubicBezTo>
                    <a:pt x="0" y="50293"/>
                    <a:pt x="7211" y="32884"/>
                    <a:pt x="20047" y="20047"/>
                  </a:cubicBezTo>
                  <a:cubicBezTo>
                    <a:pt x="32884" y="7211"/>
                    <a:pt x="50293" y="0"/>
                    <a:pt x="68446" y="0"/>
                  </a:cubicBezTo>
                  <a:close/>
                </a:path>
              </a:pathLst>
            </a:custGeom>
            <a:solidFill>
              <a:srgbClr val="70A1BD"/>
            </a:solidFill>
          </p:spPr>
        </p:sp>
        <p:sp>
          <p:nvSpPr>
            <p:cNvPr name="TextBox 47" id="47"/>
            <p:cNvSpPr txBox="true"/>
            <p:nvPr/>
          </p:nvSpPr>
          <p:spPr>
            <a:xfrm>
              <a:off x="0" y="-28575"/>
              <a:ext cx="2413000" cy="8029575"/>
            </a:xfrm>
            <a:prstGeom prst="rect">
              <a:avLst/>
            </a:prstGeom>
          </p:spPr>
          <p:txBody>
            <a:bodyPr anchor="ctr" rtlCol="false" tIns="50800" lIns="50800" bIns="50800" rIns="50800"/>
            <a:lstStyle/>
            <a:p>
              <a:pPr algn="l">
                <a:lnSpc>
                  <a:spcPts val="1679"/>
                </a:lnSpc>
              </a:pPr>
            </a:p>
          </p:txBody>
        </p:sp>
      </p:grpSp>
      <p:grpSp>
        <p:nvGrpSpPr>
          <p:cNvPr name="Group 48" id="48"/>
          <p:cNvGrpSpPr/>
          <p:nvPr/>
        </p:nvGrpSpPr>
        <p:grpSpPr>
          <a:xfrm rot="0">
            <a:off x="5715000" y="4572000"/>
            <a:ext cx="1905000" cy="762000"/>
            <a:chOff x="0" y="0"/>
            <a:chExt cx="2540000" cy="1016000"/>
          </a:xfrm>
        </p:grpSpPr>
        <p:sp>
          <p:nvSpPr>
            <p:cNvPr name="Freeform 49" id="49"/>
            <p:cNvSpPr/>
            <p:nvPr/>
          </p:nvSpPr>
          <p:spPr>
            <a:xfrm flipH="false" flipV="false" rot="0">
              <a:off x="0" y="0"/>
              <a:ext cx="2540000" cy="1016000"/>
            </a:xfrm>
            <a:custGeom>
              <a:avLst/>
              <a:gdLst/>
              <a:ahLst/>
              <a:cxnLst/>
              <a:rect r="r" b="b" t="t" l="l"/>
              <a:pathLst>
                <a:path h="1016000" w="2540000">
                  <a:moveTo>
                    <a:pt x="162560" y="0"/>
                  </a:moveTo>
                  <a:lnTo>
                    <a:pt x="2377440" y="0"/>
                  </a:lnTo>
                  <a:cubicBezTo>
                    <a:pt x="2420554" y="0"/>
                    <a:pt x="2461901" y="17127"/>
                    <a:pt x="2492387" y="47613"/>
                  </a:cubicBezTo>
                  <a:cubicBezTo>
                    <a:pt x="2522873" y="78099"/>
                    <a:pt x="2540000" y="119446"/>
                    <a:pt x="2540000" y="162560"/>
                  </a:cubicBezTo>
                  <a:lnTo>
                    <a:pt x="2540000" y="853440"/>
                  </a:lnTo>
                  <a:cubicBezTo>
                    <a:pt x="2540000" y="943219"/>
                    <a:pt x="2467219" y="1016000"/>
                    <a:pt x="2377440" y="1016000"/>
                  </a:cubicBezTo>
                  <a:lnTo>
                    <a:pt x="162560" y="1016000"/>
                  </a:lnTo>
                  <a:cubicBezTo>
                    <a:pt x="72781" y="1016000"/>
                    <a:pt x="0" y="943219"/>
                    <a:pt x="0" y="853440"/>
                  </a:cubicBezTo>
                  <a:lnTo>
                    <a:pt x="0" y="162560"/>
                  </a:lnTo>
                  <a:cubicBezTo>
                    <a:pt x="0" y="72781"/>
                    <a:pt x="72781" y="0"/>
                    <a:pt x="162560" y="0"/>
                  </a:cubicBezTo>
                  <a:close/>
                </a:path>
              </a:pathLst>
            </a:custGeom>
            <a:solidFill>
              <a:srgbClr val="EFF1E8"/>
            </a:solidFill>
          </p:spPr>
        </p:sp>
        <p:sp>
          <p:nvSpPr>
            <p:cNvPr name="TextBox 50" id="50"/>
            <p:cNvSpPr txBox="true"/>
            <p:nvPr/>
          </p:nvSpPr>
          <p:spPr>
            <a:xfrm>
              <a:off x="0" y="-28575"/>
              <a:ext cx="2540000" cy="1044575"/>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8096250" y="4572000"/>
            <a:ext cx="1714500" cy="762000"/>
            <a:chOff x="0" y="0"/>
            <a:chExt cx="2286000" cy="1016000"/>
          </a:xfrm>
        </p:grpSpPr>
        <p:sp>
          <p:nvSpPr>
            <p:cNvPr name="Freeform 52" id="52"/>
            <p:cNvSpPr/>
            <p:nvPr/>
          </p:nvSpPr>
          <p:spPr>
            <a:xfrm flipH="false" flipV="false" rot="0">
              <a:off x="0" y="0"/>
              <a:ext cx="2286000" cy="1016000"/>
            </a:xfrm>
            <a:custGeom>
              <a:avLst/>
              <a:gdLst/>
              <a:ahLst/>
              <a:cxnLst/>
              <a:rect r="r" b="b" t="t" l="l"/>
              <a:pathLst>
                <a:path h="1016000" w="2286000">
                  <a:moveTo>
                    <a:pt x="72249" y="0"/>
                  </a:moveTo>
                  <a:lnTo>
                    <a:pt x="2213751" y="0"/>
                  </a:lnTo>
                  <a:cubicBezTo>
                    <a:pt x="2253653" y="0"/>
                    <a:pt x="2286000" y="32347"/>
                    <a:pt x="2286000" y="72249"/>
                  </a:cubicBezTo>
                  <a:lnTo>
                    <a:pt x="2286000" y="943751"/>
                  </a:lnTo>
                  <a:cubicBezTo>
                    <a:pt x="2286000" y="983653"/>
                    <a:pt x="2253653" y="1016000"/>
                    <a:pt x="2213751" y="1016000"/>
                  </a:cubicBezTo>
                  <a:lnTo>
                    <a:pt x="72249" y="1016000"/>
                  </a:lnTo>
                  <a:cubicBezTo>
                    <a:pt x="32347" y="1016000"/>
                    <a:pt x="0" y="983653"/>
                    <a:pt x="0" y="943751"/>
                  </a:cubicBezTo>
                  <a:lnTo>
                    <a:pt x="0" y="72249"/>
                  </a:lnTo>
                  <a:cubicBezTo>
                    <a:pt x="0" y="32347"/>
                    <a:pt x="32347" y="0"/>
                    <a:pt x="72249" y="0"/>
                  </a:cubicBezTo>
                  <a:close/>
                </a:path>
              </a:pathLst>
            </a:custGeom>
            <a:solidFill>
              <a:srgbClr val="EFF1E8"/>
            </a:solidFill>
          </p:spPr>
        </p:sp>
        <p:sp>
          <p:nvSpPr>
            <p:cNvPr name="TextBox 53" id="53"/>
            <p:cNvSpPr txBox="true"/>
            <p:nvPr/>
          </p:nvSpPr>
          <p:spPr>
            <a:xfrm>
              <a:off x="0" y="-28575"/>
              <a:ext cx="2286000" cy="1044575"/>
            </a:xfrm>
            <a:prstGeom prst="rect">
              <a:avLst/>
            </a:prstGeom>
          </p:spPr>
          <p:txBody>
            <a:bodyPr anchor="ctr" rtlCol="false" tIns="50800" lIns="50800" bIns="50800" rIns="50800"/>
            <a:lstStyle/>
            <a:p>
              <a:pPr algn="l">
                <a:lnSpc>
                  <a:spcPts val="1679"/>
                </a:lnSpc>
              </a:pPr>
            </a:p>
          </p:txBody>
        </p:sp>
      </p:grpSp>
      <p:grpSp>
        <p:nvGrpSpPr>
          <p:cNvPr name="Group 54" id="54"/>
          <p:cNvGrpSpPr/>
          <p:nvPr/>
        </p:nvGrpSpPr>
        <p:grpSpPr>
          <a:xfrm rot="0">
            <a:off x="8096250" y="6191250"/>
            <a:ext cx="1714500" cy="762000"/>
            <a:chOff x="0" y="0"/>
            <a:chExt cx="2286000" cy="1016000"/>
          </a:xfrm>
        </p:grpSpPr>
        <p:sp>
          <p:nvSpPr>
            <p:cNvPr name="Freeform 55" id="55"/>
            <p:cNvSpPr/>
            <p:nvPr/>
          </p:nvSpPr>
          <p:spPr>
            <a:xfrm flipH="false" flipV="false" rot="0">
              <a:off x="0" y="0"/>
              <a:ext cx="2286000" cy="1016000"/>
            </a:xfrm>
            <a:custGeom>
              <a:avLst/>
              <a:gdLst/>
              <a:ahLst/>
              <a:cxnLst/>
              <a:rect r="r" b="b" t="t" l="l"/>
              <a:pathLst>
                <a:path h="1016000" w="2286000">
                  <a:moveTo>
                    <a:pt x="72249" y="0"/>
                  </a:moveTo>
                  <a:lnTo>
                    <a:pt x="2213751" y="0"/>
                  </a:lnTo>
                  <a:cubicBezTo>
                    <a:pt x="2253653" y="0"/>
                    <a:pt x="2286000" y="32347"/>
                    <a:pt x="2286000" y="72249"/>
                  </a:cubicBezTo>
                  <a:lnTo>
                    <a:pt x="2286000" y="943751"/>
                  </a:lnTo>
                  <a:cubicBezTo>
                    <a:pt x="2286000" y="983653"/>
                    <a:pt x="2253653" y="1016000"/>
                    <a:pt x="2213751" y="1016000"/>
                  </a:cubicBezTo>
                  <a:lnTo>
                    <a:pt x="72249" y="1016000"/>
                  </a:lnTo>
                  <a:cubicBezTo>
                    <a:pt x="32347" y="1016000"/>
                    <a:pt x="0" y="983653"/>
                    <a:pt x="0" y="943751"/>
                  </a:cubicBezTo>
                  <a:lnTo>
                    <a:pt x="0" y="72249"/>
                  </a:lnTo>
                  <a:cubicBezTo>
                    <a:pt x="0" y="32347"/>
                    <a:pt x="32347" y="0"/>
                    <a:pt x="72249" y="0"/>
                  </a:cubicBezTo>
                  <a:close/>
                </a:path>
              </a:pathLst>
            </a:custGeom>
            <a:solidFill>
              <a:srgbClr val="EFF1E8"/>
            </a:solidFill>
          </p:spPr>
        </p:sp>
        <p:sp>
          <p:nvSpPr>
            <p:cNvPr name="TextBox 56" id="56"/>
            <p:cNvSpPr txBox="true"/>
            <p:nvPr/>
          </p:nvSpPr>
          <p:spPr>
            <a:xfrm>
              <a:off x="0" y="-28575"/>
              <a:ext cx="2286000" cy="1044575"/>
            </a:xfrm>
            <a:prstGeom prst="rect">
              <a:avLst/>
            </a:prstGeom>
          </p:spPr>
          <p:txBody>
            <a:bodyPr anchor="ctr" rtlCol="false" tIns="50800" lIns="50800" bIns="50800" rIns="50800"/>
            <a:lstStyle/>
            <a:p>
              <a:pPr algn="l">
                <a:lnSpc>
                  <a:spcPts val="1679"/>
                </a:lnSpc>
              </a:pPr>
            </a:p>
          </p:txBody>
        </p:sp>
      </p:grpSp>
      <p:grpSp>
        <p:nvGrpSpPr>
          <p:cNvPr name="Group 57" id="57"/>
          <p:cNvGrpSpPr/>
          <p:nvPr/>
        </p:nvGrpSpPr>
        <p:grpSpPr>
          <a:xfrm rot="0">
            <a:off x="14859000" y="3619500"/>
            <a:ext cx="2667000" cy="1143000"/>
            <a:chOff x="0" y="0"/>
            <a:chExt cx="3556000" cy="1524000"/>
          </a:xfrm>
        </p:grpSpPr>
        <p:sp>
          <p:nvSpPr>
            <p:cNvPr name="Freeform 58" id="58"/>
            <p:cNvSpPr/>
            <p:nvPr/>
          </p:nvSpPr>
          <p:spPr>
            <a:xfrm flipH="false" flipV="false" rot="0">
              <a:off x="0" y="0"/>
              <a:ext cx="3556000" cy="1524000"/>
            </a:xfrm>
            <a:custGeom>
              <a:avLst/>
              <a:gdLst/>
              <a:ahLst/>
              <a:cxnLst/>
              <a:rect r="r" b="b" t="t" l="l"/>
              <a:pathLst>
                <a:path h="1524000" w="3556000">
                  <a:moveTo>
                    <a:pt x="174171" y="0"/>
                  </a:moveTo>
                  <a:lnTo>
                    <a:pt x="3381828" y="0"/>
                  </a:lnTo>
                  <a:cubicBezTo>
                    <a:pt x="3428022" y="0"/>
                    <a:pt x="3472323" y="18350"/>
                    <a:pt x="3504986" y="51014"/>
                  </a:cubicBezTo>
                  <a:cubicBezTo>
                    <a:pt x="3537650" y="83677"/>
                    <a:pt x="3556000" y="127978"/>
                    <a:pt x="3556000" y="174171"/>
                  </a:cubicBezTo>
                  <a:lnTo>
                    <a:pt x="3556000" y="1349829"/>
                  </a:lnTo>
                  <a:cubicBezTo>
                    <a:pt x="3556000" y="1396022"/>
                    <a:pt x="3537650" y="1440323"/>
                    <a:pt x="3504986" y="1472986"/>
                  </a:cubicBezTo>
                  <a:cubicBezTo>
                    <a:pt x="3472323" y="1505650"/>
                    <a:pt x="3428022" y="1524000"/>
                    <a:pt x="3381828" y="1524000"/>
                  </a:cubicBezTo>
                  <a:lnTo>
                    <a:pt x="174171" y="1524000"/>
                  </a:lnTo>
                  <a:cubicBezTo>
                    <a:pt x="127978" y="1524000"/>
                    <a:pt x="83677" y="1505650"/>
                    <a:pt x="51014" y="1472986"/>
                  </a:cubicBezTo>
                  <a:cubicBezTo>
                    <a:pt x="18350" y="1440323"/>
                    <a:pt x="0" y="1396022"/>
                    <a:pt x="0" y="1349829"/>
                  </a:cubicBezTo>
                  <a:lnTo>
                    <a:pt x="0" y="174171"/>
                  </a:lnTo>
                  <a:cubicBezTo>
                    <a:pt x="0" y="127978"/>
                    <a:pt x="18350" y="83677"/>
                    <a:pt x="51014" y="51014"/>
                  </a:cubicBezTo>
                  <a:cubicBezTo>
                    <a:pt x="83677" y="18350"/>
                    <a:pt x="127978" y="0"/>
                    <a:pt x="174171" y="0"/>
                  </a:cubicBezTo>
                  <a:close/>
                </a:path>
              </a:pathLst>
            </a:custGeom>
            <a:solidFill>
              <a:srgbClr val="EFF1E8"/>
            </a:solidFill>
          </p:spPr>
        </p:sp>
        <p:sp>
          <p:nvSpPr>
            <p:cNvPr name="TextBox 59" id="59"/>
            <p:cNvSpPr txBox="true"/>
            <p:nvPr/>
          </p:nvSpPr>
          <p:spPr>
            <a:xfrm>
              <a:off x="0" y="-28575"/>
              <a:ext cx="3556000" cy="1552575"/>
            </a:xfrm>
            <a:prstGeom prst="rect">
              <a:avLst/>
            </a:prstGeom>
          </p:spPr>
          <p:txBody>
            <a:bodyPr anchor="ctr" rtlCol="false" tIns="50800" lIns="50800" bIns="50800" rIns="50800"/>
            <a:lstStyle/>
            <a:p>
              <a:pPr algn="l">
                <a:lnSpc>
                  <a:spcPts val="1679"/>
                </a:lnSpc>
              </a:pPr>
            </a:p>
          </p:txBody>
        </p:sp>
      </p:grpSp>
      <p:grpSp>
        <p:nvGrpSpPr>
          <p:cNvPr name="Group 60" id="60"/>
          <p:cNvGrpSpPr/>
          <p:nvPr/>
        </p:nvGrpSpPr>
        <p:grpSpPr>
          <a:xfrm rot="0">
            <a:off x="14859000" y="6667500"/>
            <a:ext cx="2667000" cy="1143000"/>
            <a:chOff x="0" y="0"/>
            <a:chExt cx="3556000" cy="1524000"/>
          </a:xfrm>
        </p:grpSpPr>
        <p:sp>
          <p:nvSpPr>
            <p:cNvPr name="Freeform 61" id="61"/>
            <p:cNvSpPr/>
            <p:nvPr/>
          </p:nvSpPr>
          <p:spPr>
            <a:xfrm flipH="false" flipV="false" rot="0">
              <a:off x="0" y="0"/>
              <a:ext cx="3556000" cy="1524000"/>
            </a:xfrm>
            <a:custGeom>
              <a:avLst/>
              <a:gdLst/>
              <a:ahLst/>
              <a:cxnLst/>
              <a:rect r="r" b="b" t="t" l="l"/>
              <a:pathLst>
                <a:path h="1524000" w="3556000">
                  <a:moveTo>
                    <a:pt x="174171" y="0"/>
                  </a:moveTo>
                  <a:lnTo>
                    <a:pt x="3381828" y="0"/>
                  </a:lnTo>
                  <a:cubicBezTo>
                    <a:pt x="3428022" y="0"/>
                    <a:pt x="3472323" y="18350"/>
                    <a:pt x="3504986" y="51014"/>
                  </a:cubicBezTo>
                  <a:cubicBezTo>
                    <a:pt x="3537650" y="83677"/>
                    <a:pt x="3556000" y="127978"/>
                    <a:pt x="3556000" y="174171"/>
                  </a:cubicBezTo>
                  <a:lnTo>
                    <a:pt x="3556000" y="1349829"/>
                  </a:lnTo>
                  <a:cubicBezTo>
                    <a:pt x="3556000" y="1396022"/>
                    <a:pt x="3537650" y="1440323"/>
                    <a:pt x="3504986" y="1472986"/>
                  </a:cubicBezTo>
                  <a:cubicBezTo>
                    <a:pt x="3472323" y="1505650"/>
                    <a:pt x="3428022" y="1524000"/>
                    <a:pt x="3381828" y="1524000"/>
                  </a:cubicBezTo>
                  <a:lnTo>
                    <a:pt x="174171" y="1524000"/>
                  </a:lnTo>
                  <a:cubicBezTo>
                    <a:pt x="127978" y="1524000"/>
                    <a:pt x="83677" y="1505650"/>
                    <a:pt x="51014" y="1472986"/>
                  </a:cubicBezTo>
                  <a:cubicBezTo>
                    <a:pt x="18350" y="1440323"/>
                    <a:pt x="0" y="1396022"/>
                    <a:pt x="0" y="1349829"/>
                  </a:cubicBezTo>
                  <a:lnTo>
                    <a:pt x="0" y="174171"/>
                  </a:lnTo>
                  <a:cubicBezTo>
                    <a:pt x="0" y="127978"/>
                    <a:pt x="18350" y="83677"/>
                    <a:pt x="51014" y="51014"/>
                  </a:cubicBezTo>
                  <a:cubicBezTo>
                    <a:pt x="83677" y="18350"/>
                    <a:pt x="127978" y="0"/>
                    <a:pt x="174171" y="0"/>
                  </a:cubicBezTo>
                  <a:close/>
                </a:path>
              </a:pathLst>
            </a:custGeom>
            <a:solidFill>
              <a:srgbClr val="EFF1E8"/>
            </a:solidFill>
          </p:spPr>
        </p:sp>
        <p:sp>
          <p:nvSpPr>
            <p:cNvPr name="TextBox 62" id="62"/>
            <p:cNvSpPr txBox="true"/>
            <p:nvPr/>
          </p:nvSpPr>
          <p:spPr>
            <a:xfrm>
              <a:off x="0" y="-28575"/>
              <a:ext cx="3556000" cy="1552575"/>
            </a:xfrm>
            <a:prstGeom prst="rect">
              <a:avLst/>
            </a:prstGeom>
          </p:spPr>
          <p:txBody>
            <a:bodyPr anchor="ctr" rtlCol="false" tIns="50800" lIns="50800" bIns="50800" rIns="50800"/>
            <a:lstStyle/>
            <a:p>
              <a:pPr algn="l">
                <a:lnSpc>
                  <a:spcPts val="1679"/>
                </a:lnSpc>
              </a:pPr>
            </a:p>
          </p:txBody>
        </p:sp>
      </p:grpSp>
      <p:grpSp>
        <p:nvGrpSpPr>
          <p:cNvPr name="Group 63" id="63"/>
          <p:cNvGrpSpPr/>
          <p:nvPr/>
        </p:nvGrpSpPr>
        <p:grpSpPr>
          <a:xfrm rot="0">
            <a:off x="3143250" y="3319462"/>
            <a:ext cx="666750" cy="28575"/>
            <a:chOff x="0" y="0"/>
            <a:chExt cx="889000" cy="38100"/>
          </a:xfrm>
        </p:grpSpPr>
        <p:sp>
          <p:nvSpPr>
            <p:cNvPr name="Freeform 64" id="64"/>
            <p:cNvSpPr/>
            <p:nvPr/>
          </p:nvSpPr>
          <p:spPr>
            <a:xfrm flipH="false" flipV="false" rot="0">
              <a:off x="0" y="0"/>
              <a:ext cx="889000" cy="38100"/>
            </a:xfrm>
            <a:custGeom>
              <a:avLst/>
              <a:gdLst/>
              <a:ahLst/>
              <a:cxnLst/>
              <a:rect r="r" b="b" t="t" l="l"/>
              <a:pathLst>
                <a:path h="38100" w="889000">
                  <a:moveTo>
                    <a:pt x="0" y="0"/>
                  </a:moveTo>
                  <a:lnTo>
                    <a:pt x="889000" y="0"/>
                  </a:lnTo>
                  <a:lnTo>
                    <a:pt x="889000" y="38100"/>
                  </a:lnTo>
                  <a:lnTo>
                    <a:pt x="0" y="38100"/>
                  </a:lnTo>
                  <a:close/>
                </a:path>
              </a:pathLst>
            </a:custGeom>
            <a:solidFill>
              <a:srgbClr val="EFF1E8"/>
            </a:solidFill>
          </p:spPr>
        </p:sp>
        <p:sp>
          <p:nvSpPr>
            <p:cNvPr name="TextBox 65" id="65"/>
            <p:cNvSpPr txBox="true"/>
            <p:nvPr/>
          </p:nvSpPr>
          <p:spPr>
            <a:xfrm>
              <a:off x="0" y="-28575"/>
              <a:ext cx="889000" cy="66675"/>
            </a:xfrm>
            <a:prstGeom prst="rect">
              <a:avLst/>
            </a:prstGeom>
          </p:spPr>
          <p:txBody>
            <a:bodyPr anchor="ctr" rtlCol="false" tIns="50800" lIns="50800" bIns="50800" rIns="50800"/>
            <a:lstStyle/>
            <a:p>
              <a:pPr algn="l">
                <a:lnSpc>
                  <a:spcPts val="1679"/>
                </a:lnSpc>
              </a:pPr>
            </a:p>
          </p:txBody>
        </p:sp>
      </p:grpSp>
      <p:grpSp>
        <p:nvGrpSpPr>
          <p:cNvPr name="Group 66" id="66"/>
          <p:cNvGrpSpPr/>
          <p:nvPr/>
        </p:nvGrpSpPr>
        <p:grpSpPr>
          <a:xfrm rot="0">
            <a:off x="3810000" y="3319462"/>
            <a:ext cx="209550" cy="28575"/>
            <a:chOff x="0" y="0"/>
            <a:chExt cx="279400" cy="38100"/>
          </a:xfrm>
        </p:grpSpPr>
        <p:sp>
          <p:nvSpPr>
            <p:cNvPr name="Freeform 67" id="67"/>
            <p:cNvSpPr/>
            <p:nvPr/>
          </p:nvSpPr>
          <p:spPr>
            <a:xfrm flipH="false" flipV="false" rot="0">
              <a:off x="0" y="0"/>
              <a:ext cx="279400" cy="38100"/>
            </a:xfrm>
            <a:custGeom>
              <a:avLst/>
              <a:gdLst/>
              <a:ahLst/>
              <a:cxnLst/>
              <a:rect r="r" b="b" t="t" l="l"/>
              <a:pathLst>
                <a:path h="38100" w="279400">
                  <a:moveTo>
                    <a:pt x="0" y="0"/>
                  </a:moveTo>
                  <a:lnTo>
                    <a:pt x="279400" y="0"/>
                  </a:lnTo>
                  <a:lnTo>
                    <a:pt x="279400" y="38100"/>
                  </a:lnTo>
                  <a:lnTo>
                    <a:pt x="0" y="38100"/>
                  </a:lnTo>
                  <a:close/>
                </a:path>
              </a:pathLst>
            </a:custGeom>
            <a:solidFill>
              <a:srgbClr val="70A1BD"/>
            </a:solidFill>
          </p:spPr>
        </p:sp>
        <p:sp>
          <p:nvSpPr>
            <p:cNvPr name="TextBox 68" id="68"/>
            <p:cNvSpPr txBox="true"/>
            <p:nvPr/>
          </p:nvSpPr>
          <p:spPr>
            <a:xfrm>
              <a:off x="0" y="-28575"/>
              <a:ext cx="279400" cy="66675"/>
            </a:xfrm>
            <a:prstGeom prst="rect">
              <a:avLst/>
            </a:prstGeom>
          </p:spPr>
          <p:txBody>
            <a:bodyPr anchor="ctr" rtlCol="false" tIns="50800" lIns="50800" bIns="50800" rIns="50800"/>
            <a:lstStyle/>
            <a:p>
              <a:pPr algn="l">
                <a:lnSpc>
                  <a:spcPts val="1679"/>
                </a:lnSpc>
              </a:pPr>
            </a:p>
          </p:txBody>
        </p:sp>
      </p:grpSp>
      <p:grpSp>
        <p:nvGrpSpPr>
          <p:cNvPr name="Group 69" id="69"/>
          <p:cNvGrpSpPr/>
          <p:nvPr/>
        </p:nvGrpSpPr>
        <p:grpSpPr>
          <a:xfrm rot="0">
            <a:off x="4019550" y="3248025"/>
            <a:ext cx="171450" cy="171450"/>
            <a:chOff x="0" y="0"/>
            <a:chExt cx="228600" cy="228600"/>
          </a:xfrm>
        </p:grpSpPr>
        <p:sp>
          <p:nvSpPr>
            <p:cNvPr name="Freeform 70" id="70"/>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71" id="71"/>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72" id="72"/>
          <p:cNvGrpSpPr/>
          <p:nvPr/>
        </p:nvGrpSpPr>
        <p:grpSpPr>
          <a:xfrm rot="0">
            <a:off x="3143250" y="4938712"/>
            <a:ext cx="666750" cy="28575"/>
            <a:chOff x="0" y="0"/>
            <a:chExt cx="889000" cy="38100"/>
          </a:xfrm>
        </p:grpSpPr>
        <p:sp>
          <p:nvSpPr>
            <p:cNvPr name="Freeform 73" id="73"/>
            <p:cNvSpPr/>
            <p:nvPr/>
          </p:nvSpPr>
          <p:spPr>
            <a:xfrm flipH="false" flipV="false" rot="0">
              <a:off x="0" y="0"/>
              <a:ext cx="889000" cy="38100"/>
            </a:xfrm>
            <a:custGeom>
              <a:avLst/>
              <a:gdLst/>
              <a:ahLst/>
              <a:cxnLst/>
              <a:rect r="r" b="b" t="t" l="l"/>
              <a:pathLst>
                <a:path h="38100" w="889000">
                  <a:moveTo>
                    <a:pt x="0" y="0"/>
                  </a:moveTo>
                  <a:lnTo>
                    <a:pt x="889000" y="0"/>
                  </a:lnTo>
                  <a:lnTo>
                    <a:pt x="889000" y="38100"/>
                  </a:lnTo>
                  <a:lnTo>
                    <a:pt x="0" y="38100"/>
                  </a:lnTo>
                  <a:close/>
                </a:path>
              </a:pathLst>
            </a:custGeom>
            <a:solidFill>
              <a:srgbClr val="EFF1E8"/>
            </a:solidFill>
          </p:spPr>
        </p:sp>
        <p:sp>
          <p:nvSpPr>
            <p:cNvPr name="TextBox 74" id="74"/>
            <p:cNvSpPr txBox="true"/>
            <p:nvPr/>
          </p:nvSpPr>
          <p:spPr>
            <a:xfrm>
              <a:off x="0" y="-28575"/>
              <a:ext cx="889000" cy="66675"/>
            </a:xfrm>
            <a:prstGeom prst="rect">
              <a:avLst/>
            </a:prstGeom>
          </p:spPr>
          <p:txBody>
            <a:bodyPr anchor="ctr" rtlCol="false" tIns="50800" lIns="50800" bIns="50800" rIns="50800"/>
            <a:lstStyle/>
            <a:p>
              <a:pPr algn="l">
                <a:lnSpc>
                  <a:spcPts val="1679"/>
                </a:lnSpc>
              </a:pPr>
            </a:p>
          </p:txBody>
        </p:sp>
      </p:grpSp>
      <p:grpSp>
        <p:nvGrpSpPr>
          <p:cNvPr name="Group 75" id="75"/>
          <p:cNvGrpSpPr/>
          <p:nvPr/>
        </p:nvGrpSpPr>
        <p:grpSpPr>
          <a:xfrm rot="0">
            <a:off x="3810000" y="4938712"/>
            <a:ext cx="381000" cy="28575"/>
            <a:chOff x="0" y="0"/>
            <a:chExt cx="508000" cy="38100"/>
          </a:xfrm>
        </p:grpSpPr>
        <p:sp>
          <p:nvSpPr>
            <p:cNvPr name="Freeform 76" id="76"/>
            <p:cNvSpPr/>
            <p:nvPr/>
          </p:nvSpPr>
          <p:spPr>
            <a:xfrm flipH="false" flipV="false" rot="0">
              <a:off x="0" y="0"/>
              <a:ext cx="508000" cy="38100"/>
            </a:xfrm>
            <a:custGeom>
              <a:avLst/>
              <a:gdLst/>
              <a:ahLst/>
              <a:cxnLst/>
              <a:rect r="r" b="b" t="t" l="l"/>
              <a:pathLst>
                <a:path h="38100" w="508000">
                  <a:moveTo>
                    <a:pt x="0" y="0"/>
                  </a:moveTo>
                  <a:lnTo>
                    <a:pt x="508000" y="0"/>
                  </a:lnTo>
                  <a:lnTo>
                    <a:pt x="508000" y="38100"/>
                  </a:lnTo>
                  <a:lnTo>
                    <a:pt x="0" y="38100"/>
                  </a:lnTo>
                  <a:close/>
                </a:path>
              </a:pathLst>
            </a:custGeom>
            <a:solidFill>
              <a:srgbClr val="70A1BD"/>
            </a:solidFill>
          </p:spPr>
        </p:sp>
        <p:sp>
          <p:nvSpPr>
            <p:cNvPr name="TextBox 77" id="77"/>
            <p:cNvSpPr txBox="true"/>
            <p:nvPr/>
          </p:nvSpPr>
          <p:spPr>
            <a:xfrm>
              <a:off x="0" y="-28575"/>
              <a:ext cx="508000" cy="66675"/>
            </a:xfrm>
            <a:prstGeom prst="rect">
              <a:avLst/>
            </a:prstGeom>
          </p:spPr>
          <p:txBody>
            <a:bodyPr anchor="ctr" rtlCol="false" tIns="50800" lIns="50800" bIns="50800" rIns="50800"/>
            <a:lstStyle/>
            <a:p>
              <a:pPr algn="l">
                <a:lnSpc>
                  <a:spcPts val="1679"/>
                </a:lnSpc>
              </a:pPr>
            </a:p>
          </p:txBody>
        </p:sp>
      </p:grpSp>
      <p:grpSp>
        <p:nvGrpSpPr>
          <p:cNvPr name="Group 78" id="78"/>
          <p:cNvGrpSpPr/>
          <p:nvPr/>
        </p:nvGrpSpPr>
        <p:grpSpPr>
          <a:xfrm rot="0">
            <a:off x="4191000" y="4938712"/>
            <a:ext cx="1352550" cy="28575"/>
            <a:chOff x="0" y="0"/>
            <a:chExt cx="1803400" cy="38100"/>
          </a:xfrm>
        </p:grpSpPr>
        <p:sp>
          <p:nvSpPr>
            <p:cNvPr name="Freeform 79" id="79"/>
            <p:cNvSpPr/>
            <p:nvPr/>
          </p:nvSpPr>
          <p:spPr>
            <a:xfrm flipH="false" flipV="false" rot="0">
              <a:off x="0" y="0"/>
              <a:ext cx="1803400" cy="38100"/>
            </a:xfrm>
            <a:custGeom>
              <a:avLst/>
              <a:gdLst/>
              <a:ahLst/>
              <a:cxnLst/>
              <a:rect r="r" b="b" t="t" l="l"/>
              <a:pathLst>
                <a:path h="38100" w="1803400">
                  <a:moveTo>
                    <a:pt x="0" y="0"/>
                  </a:moveTo>
                  <a:lnTo>
                    <a:pt x="1803400" y="0"/>
                  </a:lnTo>
                  <a:lnTo>
                    <a:pt x="1803400" y="38100"/>
                  </a:lnTo>
                  <a:lnTo>
                    <a:pt x="0" y="38100"/>
                  </a:lnTo>
                  <a:close/>
                </a:path>
              </a:pathLst>
            </a:custGeom>
            <a:solidFill>
              <a:srgbClr val="EFF1E8"/>
            </a:solidFill>
          </p:spPr>
        </p:sp>
        <p:sp>
          <p:nvSpPr>
            <p:cNvPr name="TextBox 80" id="80"/>
            <p:cNvSpPr txBox="true"/>
            <p:nvPr/>
          </p:nvSpPr>
          <p:spPr>
            <a:xfrm>
              <a:off x="0" y="-28575"/>
              <a:ext cx="1803400" cy="66675"/>
            </a:xfrm>
            <a:prstGeom prst="rect">
              <a:avLst/>
            </a:prstGeom>
          </p:spPr>
          <p:txBody>
            <a:bodyPr anchor="ctr" rtlCol="false" tIns="50800" lIns="50800" bIns="50800" rIns="50800"/>
            <a:lstStyle/>
            <a:p>
              <a:pPr algn="l">
                <a:lnSpc>
                  <a:spcPts val="1679"/>
                </a:lnSpc>
              </a:pPr>
            </a:p>
          </p:txBody>
        </p:sp>
      </p:grpSp>
      <p:grpSp>
        <p:nvGrpSpPr>
          <p:cNvPr name="Group 81" id="81"/>
          <p:cNvGrpSpPr/>
          <p:nvPr/>
        </p:nvGrpSpPr>
        <p:grpSpPr>
          <a:xfrm rot="0">
            <a:off x="5543550" y="4867275"/>
            <a:ext cx="171450" cy="171450"/>
            <a:chOff x="0" y="0"/>
            <a:chExt cx="228600" cy="228600"/>
          </a:xfrm>
        </p:grpSpPr>
        <p:sp>
          <p:nvSpPr>
            <p:cNvPr name="Freeform 82" id="82"/>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83" id="83"/>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84" id="84"/>
          <p:cNvGrpSpPr/>
          <p:nvPr/>
        </p:nvGrpSpPr>
        <p:grpSpPr>
          <a:xfrm rot="0">
            <a:off x="3143250" y="6557962"/>
            <a:ext cx="666750" cy="28575"/>
            <a:chOff x="0" y="0"/>
            <a:chExt cx="889000" cy="38100"/>
          </a:xfrm>
        </p:grpSpPr>
        <p:sp>
          <p:nvSpPr>
            <p:cNvPr name="Freeform 85" id="85"/>
            <p:cNvSpPr/>
            <p:nvPr/>
          </p:nvSpPr>
          <p:spPr>
            <a:xfrm flipH="false" flipV="false" rot="0">
              <a:off x="0" y="0"/>
              <a:ext cx="889000" cy="38100"/>
            </a:xfrm>
            <a:custGeom>
              <a:avLst/>
              <a:gdLst/>
              <a:ahLst/>
              <a:cxnLst/>
              <a:rect r="r" b="b" t="t" l="l"/>
              <a:pathLst>
                <a:path h="38100" w="889000">
                  <a:moveTo>
                    <a:pt x="0" y="0"/>
                  </a:moveTo>
                  <a:lnTo>
                    <a:pt x="889000" y="0"/>
                  </a:lnTo>
                  <a:lnTo>
                    <a:pt x="889000" y="38100"/>
                  </a:lnTo>
                  <a:lnTo>
                    <a:pt x="0" y="38100"/>
                  </a:lnTo>
                  <a:close/>
                </a:path>
              </a:pathLst>
            </a:custGeom>
            <a:solidFill>
              <a:srgbClr val="EFF1E8"/>
            </a:solidFill>
          </p:spPr>
        </p:sp>
        <p:sp>
          <p:nvSpPr>
            <p:cNvPr name="TextBox 86" id="86"/>
            <p:cNvSpPr txBox="true"/>
            <p:nvPr/>
          </p:nvSpPr>
          <p:spPr>
            <a:xfrm>
              <a:off x="0" y="-28575"/>
              <a:ext cx="889000" cy="66675"/>
            </a:xfrm>
            <a:prstGeom prst="rect">
              <a:avLst/>
            </a:prstGeom>
          </p:spPr>
          <p:txBody>
            <a:bodyPr anchor="ctr" rtlCol="false" tIns="50800" lIns="50800" bIns="50800" rIns="50800"/>
            <a:lstStyle/>
            <a:p>
              <a:pPr algn="l">
                <a:lnSpc>
                  <a:spcPts val="1679"/>
                </a:lnSpc>
              </a:pPr>
            </a:p>
          </p:txBody>
        </p:sp>
      </p:grpSp>
      <p:grpSp>
        <p:nvGrpSpPr>
          <p:cNvPr name="Group 87" id="87"/>
          <p:cNvGrpSpPr/>
          <p:nvPr/>
        </p:nvGrpSpPr>
        <p:grpSpPr>
          <a:xfrm rot="0">
            <a:off x="3810000" y="6557962"/>
            <a:ext cx="381000" cy="28575"/>
            <a:chOff x="0" y="0"/>
            <a:chExt cx="508000" cy="38100"/>
          </a:xfrm>
        </p:grpSpPr>
        <p:sp>
          <p:nvSpPr>
            <p:cNvPr name="Freeform 88" id="88"/>
            <p:cNvSpPr/>
            <p:nvPr/>
          </p:nvSpPr>
          <p:spPr>
            <a:xfrm flipH="false" flipV="false" rot="0">
              <a:off x="0" y="0"/>
              <a:ext cx="508000" cy="38100"/>
            </a:xfrm>
            <a:custGeom>
              <a:avLst/>
              <a:gdLst/>
              <a:ahLst/>
              <a:cxnLst/>
              <a:rect r="r" b="b" t="t" l="l"/>
              <a:pathLst>
                <a:path h="38100" w="508000">
                  <a:moveTo>
                    <a:pt x="0" y="0"/>
                  </a:moveTo>
                  <a:lnTo>
                    <a:pt x="508000" y="0"/>
                  </a:lnTo>
                  <a:lnTo>
                    <a:pt x="508000" y="38100"/>
                  </a:lnTo>
                  <a:lnTo>
                    <a:pt x="0" y="38100"/>
                  </a:lnTo>
                  <a:close/>
                </a:path>
              </a:pathLst>
            </a:custGeom>
            <a:solidFill>
              <a:srgbClr val="70A1BD"/>
            </a:solidFill>
          </p:spPr>
        </p:sp>
        <p:sp>
          <p:nvSpPr>
            <p:cNvPr name="TextBox 89" id="89"/>
            <p:cNvSpPr txBox="true"/>
            <p:nvPr/>
          </p:nvSpPr>
          <p:spPr>
            <a:xfrm>
              <a:off x="0" y="-28575"/>
              <a:ext cx="508000" cy="66675"/>
            </a:xfrm>
            <a:prstGeom prst="rect">
              <a:avLst/>
            </a:prstGeom>
          </p:spPr>
          <p:txBody>
            <a:bodyPr anchor="ctr" rtlCol="false" tIns="50800" lIns="50800" bIns="50800" rIns="50800"/>
            <a:lstStyle/>
            <a:p>
              <a:pPr algn="l">
                <a:lnSpc>
                  <a:spcPts val="1679"/>
                </a:lnSpc>
              </a:pPr>
            </a:p>
          </p:txBody>
        </p:sp>
      </p:grpSp>
      <p:grpSp>
        <p:nvGrpSpPr>
          <p:cNvPr name="Group 90" id="90"/>
          <p:cNvGrpSpPr/>
          <p:nvPr/>
        </p:nvGrpSpPr>
        <p:grpSpPr>
          <a:xfrm rot="0">
            <a:off x="4191000" y="6557962"/>
            <a:ext cx="3733800" cy="28575"/>
            <a:chOff x="0" y="0"/>
            <a:chExt cx="4978400" cy="38100"/>
          </a:xfrm>
        </p:grpSpPr>
        <p:sp>
          <p:nvSpPr>
            <p:cNvPr name="Freeform 91" id="91"/>
            <p:cNvSpPr/>
            <p:nvPr/>
          </p:nvSpPr>
          <p:spPr>
            <a:xfrm flipH="false" flipV="false" rot="0">
              <a:off x="0" y="0"/>
              <a:ext cx="4978400" cy="38100"/>
            </a:xfrm>
            <a:custGeom>
              <a:avLst/>
              <a:gdLst/>
              <a:ahLst/>
              <a:cxnLst/>
              <a:rect r="r" b="b" t="t" l="l"/>
              <a:pathLst>
                <a:path h="38100" w="4978400">
                  <a:moveTo>
                    <a:pt x="0" y="0"/>
                  </a:moveTo>
                  <a:lnTo>
                    <a:pt x="4978400" y="0"/>
                  </a:lnTo>
                  <a:lnTo>
                    <a:pt x="4978400" y="38100"/>
                  </a:lnTo>
                  <a:lnTo>
                    <a:pt x="0" y="38100"/>
                  </a:lnTo>
                  <a:close/>
                </a:path>
              </a:pathLst>
            </a:custGeom>
            <a:solidFill>
              <a:srgbClr val="EFF1E8"/>
            </a:solidFill>
          </p:spPr>
        </p:sp>
        <p:sp>
          <p:nvSpPr>
            <p:cNvPr name="TextBox 92" id="92"/>
            <p:cNvSpPr txBox="true"/>
            <p:nvPr/>
          </p:nvSpPr>
          <p:spPr>
            <a:xfrm>
              <a:off x="0" y="-28575"/>
              <a:ext cx="4978400" cy="66675"/>
            </a:xfrm>
            <a:prstGeom prst="rect">
              <a:avLst/>
            </a:prstGeom>
          </p:spPr>
          <p:txBody>
            <a:bodyPr anchor="ctr" rtlCol="false" tIns="50800" lIns="50800" bIns="50800" rIns="50800"/>
            <a:lstStyle/>
            <a:p>
              <a:pPr algn="l">
                <a:lnSpc>
                  <a:spcPts val="1679"/>
                </a:lnSpc>
              </a:pPr>
            </a:p>
          </p:txBody>
        </p:sp>
      </p:grpSp>
      <p:grpSp>
        <p:nvGrpSpPr>
          <p:cNvPr name="Group 93" id="93"/>
          <p:cNvGrpSpPr/>
          <p:nvPr/>
        </p:nvGrpSpPr>
        <p:grpSpPr>
          <a:xfrm rot="0">
            <a:off x="7924800" y="6486525"/>
            <a:ext cx="171450" cy="171450"/>
            <a:chOff x="0" y="0"/>
            <a:chExt cx="228600" cy="228600"/>
          </a:xfrm>
        </p:grpSpPr>
        <p:sp>
          <p:nvSpPr>
            <p:cNvPr name="Freeform 94" id="94"/>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95" id="95"/>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96" id="96"/>
          <p:cNvGrpSpPr/>
          <p:nvPr/>
        </p:nvGrpSpPr>
        <p:grpSpPr>
          <a:xfrm rot="0">
            <a:off x="6653212" y="3810000"/>
            <a:ext cx="28575" cy="476250"/>
            <a:chOff x="0" y="0"/>
            <a:chExt cx="38100" cy="635000"/>
          </a:xfrm>
        </p:grpSpPr>
        <p:sp>
          <p:nvSpPr>
            <p:cNvPr name="Freeform 97" id="97"/>
            <p:cNvSpPr/>
            <p:nvPr/>
          </p:nvSpPr>
          <p:spPr>
            <a:xfrm flipH="false" flipV="false" rot="0">
              <a:off x="0" y="0"/>
              <a:ext cx="38100" cy="635000"/>
            </a:xfrm>
            <a:custGeom>
              <a:avLst/>
              <a:gdLst/>
              <a:ahLst/>
              <a:cxnLst/>
              <a:rect r="r" b="b" t="t" l="l"/>
              <a:pathLst>
                <a:path h="635000" w="38100">
                  <a:moveTo>
                    <a:pt x="0" y="0"/>
                  </a:moveTo>
                  <a:lnTo>
                    <a:pt x="38100" y="0"/>
                  </a:lnTo>
                  <a:lnTo>
                    <a:pt x="38100" y="635000"/>
                  </a:lnTo>
                  <a:lnTo>
                    <a:pt x="0" y="635000"/>
                  </a:lnTo>
                  <a:close/>
                </a:path>
              </a:pathLst>
            </a:custGeom>
            <a:solidFill>
              <a:srgbClr val="70A1BD"/>
            </a:solidFill>
          </p:spPr>
        </p:sp>
        <p:sp>
          <p:nvSpPr>
            <p:cNvPr name="TextBox 98" id="98"/>
            <p:cNvSpPr txBox="true"/>
            <p:nvPr/>
          </p:nvSpPr>
          <p:spPr>
            <a:xfrm>
              <a:off x="0" y="-28575"/>
              <a:ext cx="38100" cy="663575"/>
            </a:xfrm>
            <a:prstGeom prst="rect">
              <a:avLst/>
            </a:prstGeom>
          </p:spPr>
          <p:txBody>
            <a:bodyPr anchor="ctr" rtlCol="false" tIns="50800" lIns="50800" bIns="50800" rIns="50800"/>
            <a:lstStyle/>
            <a:p>
              <a:pPr algn="l">
                <a:lnSpc>
                  <a:spcPts val="1679"/>
                </a:lnSpc>
              </a:pPr>
            </a:p>
          </p:txBody>
        </p:sp>
      </p:grpSp>
      <p:grpSp>
        <p:nvGrpSpPr>
          <p:cNvPr name="Group 99" id="99"/>
          <p:cNvGrpSpPr/>
          <p:nvPr/>
        </p:nvGrpSpPr>
        <p:grpSpPr>
          <a:xfrm rot="0">
            <a:off x="6653212" y="4286250"/>
            <a:ext cx="28575" cy="114300"/>
            <a:chOff x="0" y="0"/>
            <a:chExt cx="38100" cy="152400"/>
          </a:xfrm>
        </p:grpSpPr>
        <p:sp>
          <p:nvSpPr>
            <p:cNvPr name="Freeform 100" id="100"/>
            <p:cNvSpPr/>
            <p:nvPr/>
          </p:nvSpPr>
          <p:spPr>
            <a:xfrm flipH="false" flipV="false" rot="0">
              <a:off x="0" y="0"/>
              <a:ext cx="38100" cy="152400"/>
            </a:xfrm>
            <a:custGeom>
              <a:avLst/>
              <a:gdLst/>
              <a:ahLst/>
              <a:cxnLst/>
              <a:rect r="r" b="b" t="t" l="l"/>
              <a:pathLst>
                <a:path h="152400" w="38100">
                  <a:moveTo>
                    <a:pt x="0" y="0"/>
                  </a:moveTo>
                  <a:lnTo>
                    <a:pt x="38100" y="0"/>
                  </a:lnTo>
                  <a:lnTo>
                    <a:pt x="38100" y="152400"/>
                  </a:lnTo>
                  <a:lnTo>
                    <a:pt x="0" y="152400"/>
                  </a:lnTo>
                  <a:close/>
                </a:path>
              </a:pathLst>
            </a:custGeom>
            <a:solidFill>
              <a:srgbClr val="EFF1E8"/>
            </a:solidFill>
          </p:spPr>
        </p:sp>
        <p:sp>
          <p:nvSpPr>
            <p:cNvPr name="TextBox 101" id="101"/>
            <p:cNvSpPr txBox="true"/>
            <p:nvPr/>
          </p:nvSpPr>
          <p:spPr>
            <a:xfrm>
              <a:off x="0" y="-28575"/>
              <a:ext cx="38100" cy="180975"/>
            </a:xfrm>
            <a:prstGeom prst="rect">
              <a:avLst/>
            </a:prstGeom>
          </p:spPr>
          <p:txBody>
            <a:bodyPr anchor="ctr" rtlCol="false" tIns="50800" lIns="50800" bIns="50800" rIns="50800"/>
            <a:lstStyle/>
            <a:p>
              <a:pPr algn="l">
                <a:lnSpc>
                  <a:spcPts val="1679"/>
                </a:lnSpc>
              </a:pPr>
            </a:p>
          </p:txBody>
        </p:sp>
      </p:grpSp>
      <p:grpSp>
        <p:nvGrpSpPr>
          <p:cNvPr name="Group 102" id="102"/>
          <p:cNvGrpSpPr/>
          <p:nvPr/>
        </p:nvGrpSpPr>
        <p:grpSpPr>
          <a:xfrm rot="0">
            <a:off x="6581775" y="4400550"/>
            <a:ext cx="171450" cy="171450"/>
            <a:chOff x="0" y="0"/>
            <a:chExt cx="228600" cy="228600"/>
          </a:xfrm>
        </p:grpSpPr>
        <p:sp>
          <p:nvSpPr>
            <p:cNvPr name="Freeform 103" id="103"/>
            <p:cNvSpPr/>
            <p:nvPr/>
          </p:nvSpPr>
          <p:spPr>
            <a:xfrm flipH="false" flipV="false" rot="0">
              <a:off x="0" y="0"/>
              <a:ext cx="228600" cy="228600"/>
            </a:xfrm>
            <a:custGeom>
              <a:avLst/>
              <a:gdLst/>
              <a:ahLst/>
              <a:cxnLst/>
              <a:rect r="r" b="b" t="t" l="l"/>
              <a:pathLst>
                <a:path h="228600" w="228600">
                  <a:moveTo>
                    <a:pt x="0" y="0"/>
                  </a:moveTo>
                  <a:lnTo>
                    <a:pt x="228600" y="0"/>
                  </a:lnTo>
                  <a:lnTo>
                    <a:pt x="114300" y="228600"/>
                  </a:lnTo>
                  <a:close/>
                </a:path>
              </a:pathLst>
            </a:custGeom>
            <a:solidFill>
              <a:srgbClr val="EFF1E8"/>
            </a:solidFill>
          </p:spPr>
        </p:sp>
        <p:sp>
          <p:nvSpPr>
            <p:cNvPr name="TextBox 104" id="104"/>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05" id="105"/>
          <p:cNvGrpSpPr/>
          <p:nvPr/>
        </p:nvGrpSpPr>
        <p:grpSpPr>
          <a:xfrm rot="0">
            <a:off x="7620000" y="4938712"/>
            <a:ext cx="304800" cy="28575"/>
            <a:chOff x="0" y="0"/>
            <a:chExt cx="406400" cy="38100"/>
          </a:xfrm>
        </p:grpSpPr>
        <p:sp>
          <p:nvSpPr>
            <p:cNvPr name="Freeform 106" id="106"/>
            <p:cNvSpPr/>
            <p:nvPr/>
          </p:nvSpPr>
          <p:spPr>
            <a:xfrm flipH="false" flipV="false" rot="0">
              <a:off x="0" y="0"/>
              <a:ext cx="406400" cy="38100"/>
            </a:xfrm>
            <a:custGeom>
              <a:avLst/>
              <a:gdLst/>
              <a:ahLst/>
              <a:cxnLst/>
              <a:rect r="r" b="b" t="t" l="l"/>
              <a:pathLst>
                <a:path h="38100" w="406400">
                  <a:moveTo>
                    <a:pt x="0" y="0"/>
                  </a:moveTo>
                  <a:lnTo>
                    <a:pt x="406400" y="0"/>
                  </a:lnTo>
                  <a:lnTo>
                    <a:pt x="406400" y="38100"/>
                  </a:lnTo>
                  <a:lnTo>
                    <a:pt x="0" y="38100"/>
                  </a:lnTo>
                  <a:close/>
                </a:path>
              </a:pathLst>
            </a:custGeom>
            <a:solidFill>
              <a:srgbClr val="EFF1E8"/>
            </a:solidFill>
          </p:spPr>
        </p:sp>
        <p:sp>
          <p:nvSpPr>
            <p:cNvPr name="TextBox 107" id="107"/>
            <p:cNvSpPr txBox="true"/>
            <p:nvPr/>
          </p:nvSpPr>
          <p:spPr>
            <a:xfrm>
              <a:off x="0" y="-28575"/>
              <a:ext cx="406400" cy="66675"/>
            </a:xfrm>
            <a:prstGeom prst="rect">
              <a:avLst/>
            </a:prstGeom>
          </p:spPr>
          <p:txBody>
            <a:bodyPr anchor="ctr" rtlCol="false" tIns="50800" lIns="50800" bIns="50800" rIns="50800"/>
            <a:lstStyle/>
            <a:p>
              <a:pPr algn="l">
                <a:lnSpc>
                  <a:spcPts val="1679"/>
                </a:lnSpc>
              </a:pPr>
            </a:p>
          </p:txBody>
        </p:sp>
      </p:grpSp>
      <p:grpSp>
        <p:nvGrpSpPr>
          <p:cNvPr name="Group 108" id="108"/>
          <p:cNvGrpSpPr/>
          <p:nvPr/>
        </p:nvGrpSpPr>
        <p:grpSpPr>
          <a:xfrm rot="0">
            <a:off x="7924800" y="4867275"/>
            <a:ext cx="171450" cy="171450"/>
            <a:chOff x="0" y="0"/>
            <a:chExt cx="228600" cy="228600"/>
          </a:xfrm>
        </p:grpSpPr>
        <p:sp>
          <p:nvSpPr>
            <p:cNvPr name="Freeform 109" id="109"/>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110" id="110"/>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11" id="111"/>
          <p:cNvGrpSpPr/>
          <p:nvPr/>
        </p:nvGrpSpPr>
        <p:grpSpPr>
          <a:xfrm rot="0">
            <a:off x="9810750" y="4938712"/>
            <a:ext cx="285750" cy="28575"/>
            <a:chOff x="0" y="0"/>
            <a:chExt cx="381000" cy="38100"/>
          </a:xfrm>
        </p:grpSpPr>
        <p:sp>
          <p:nvSpPr>
            <p:cNvPr name="Freeform 112" id="112"/>
            <p:cNvSpPr/>
            <p:nvPr/>
          </p:nvSpPr>
          <p:spPr>
            <a:xfrm flipH="false" flipV="false" rot="0">
              <a:off x="0" y="0"/>
              <a:ext cx="381000" cy="38100"/>
            </a:xfrm>
            <a:custGeom>
              <a:avLst/>
              <a:gdLst/>
              <a:ahLst/>
              <a:cxnLst/>
              <a:rect r="r" b="b" t="t" l="l"/>
              <a:pathLst>
                <a:path h="38100" w="381000">
                  <a:moveTo>
                    <a:pt x="0" y="0"/>
                  </a:moveTo>
                  <a:lnTo>
                    <a:pt x="381000" y="0"/>
                  </a:lnTo>
                  <a:lnTo>
                    <a:pt x="381000" y="38100"/>
                  </a:lnTo>
                  <a:lnTo>
                    <a:pt x="0" y="38100"/>
                  </a:lnTo>
                  <a:close/>
                </a:path>
              </a:pathLst>
            </a:custGeom>
            <a:solidFill>
              <a:srgbClr val="EFF1E8"/>
            </a:solidFill>
          </p:spPr>
        </p:sp>
        <p:sp>
          <p:nvSpPr>
            <p:cNvPr name="TextBox 113" id="113"/>
            <p:cNvSpPr txBox="true"/>
            <p:nvPr/>
          </p:nvSpPr>
          <p:spPr>
            <a:xfrm>
              <a:off x="0" y="-28575"/>
              <a:ext cx="381000" cy="66675"/>
            </a:xfrm>
            <a:prstGeom prst="rect">
              <a:avLst/>
            </a:prstGeom>
          </p:spPr>
          <p:txBody>
            <a:bodyPr anchor="ctr" rtlCol="false" tIns="50800" lIns="50800" bIns="50800" rIns="50800"/>
            <a:lstStyle/>
            <a:p>
              <a:pPr algn="l">
                <a:lnSpc>
                  <a:spcPts val="1679"/>
                </a:lnSpc>
              </a:pPr>
            </a:p>
          </p:txBody>
        </p:sp>
      </p:grpSp>
      <p:grpSp>
        <p:nvGrpSpPr>
          <p:cNvPr name="Group 114" id="114"/>
          <p:cNvGrpSpPr/>
          <p:nvPr/>
        </p:nvGrpSpPr>
        <p:grpSpPr>
          <a:xfrm rot="0">
            <a:off x="10096500" y="4938712"/>
            <a:ext cx="876300" cy="28575"/>
            <a:chOff x="0" y="0"/>
            <a:chExt cx="1168400" cy="38100"/>
          </a:xfrm>
        </p:grpSpPr>
        <p:sp>
          <p:nvSpPr>
            <p:cNvPr name="Freeform 115" id="115"/>
            <p:cNvSpPr/>
            <p:nvPr/>
          </p:nvSpPr>
          <p:spPr>
            <a:xfrm flipH="false" flipV="false" rot="0">
              <a:off x="0" y="0"/>
              <a:ext cx="1168400" cy="38100"/>
            </a:xfrm>
            <a:custGeom>
              <a:avLst/>
              <a:gdLst/>
              <a:ahLst/>
              <a:cxnLst/>
              <a:rect r="r" b="b" t="t" l="l"/>
              <a:pathLst>
                <a:path h="38100" w="1168400">
                  <a:moveTo>
                    <a:pt x="0" y="0"/>
                  </a:moveTo>
                  <a:lnTo>
                    <a:pt x="1168400" y="0"/>
                  </a:lnTo>
                  <a:lnTo>
                    <a:pt x="1168400" y="38100"/>
                  </a:lnTo>
                  <a:lnTo>
                    <a:pt x="0" y="38100"/>
                  </a:lnTo>
                  <a:close/>
                </a:path>
              </a:pathLst>
            </a:custGeom>
            <a:solidFill>
              <a:srgbClr val="70A1BD"/>
            </a:solidFill>
          </p:spPr>
        </p:sp>
        <p:sp>
          <p:nvSpPr>
            <p:cNvPr name="TextBox 116" id="116"/>
            <p:cNvSpPr txBox="true"/>
            <p:nvPr/>
          </p:nvSpPr>
          <p:spPr>
            <a:xfrm>
              <a:off x="0" y="-28575"/>
              <a:ext cx="1168400" cy="66675"/>
            </a:xfrm>
            <a:prstGeom prst="rect">
              <a:avLst/>
            </a:prstGeom>
          </p:spPr>
          <p:txBody>
            <a:bodyPr anchor="ctr" rtlCol="false" tIns="50800" lIns="50800" bIns="50800" rIns="50800"/>
            <a:lstStyle/>
            <a:p>
              <a:pPr algn="l">
                <a:lnSpc>
                  <a:spcPts val="1679"/>
                </a:lnSpc>
              </a:pPr>
            </a:p>
          </p:txBody>
        </p:sp>
      </p:grpSp>
      <p:grpSp>
        <p:nvGrpSpPr>
          <p:cNvPr name="Group 117" id="117"/>
          <p:cNvGrpSpPr/>
          <p:nvPr/>
        </p:nvGrpSpPr>
        <p:grpSpPr>
          <a:xfrm rot="0">
            <a:off x="10972800" y="4867275"/>
            <a:ext cx="171450" cy="171450"/>
            <a:chOff x="0" y="0"/>
            <a:chExt cx="228600" cy="228600"/>
          </a:xfrm>
        </p:grpSpPr>
        <p:sp>
          <p:nvSpPr>
            <p:cNvPr name="Freeform 118" id="118"/>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19" id="119"/>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20" id="120"/>
          <p:cNvGrpSpPr/>
          <p:nvPr/>
        </p:nvGrpSpPr>
        <p:grpSpPr>
          <a:xfrm rot="0">
            <a:off x="9810750" y="6557962"/>
            <a:ext cx="285750" cy="28575"/>
            <a:chOff x="0" y="0"/>
            <a:chExt cx="381000" cy="38100"/>
          </a:xfrm>
        </p:grpSpPr>
        <p:sp>
          <p:nvSpPr>
            <p:cNvPr name="Freeform 121" id="121"/>
            <p:cNvSpPr/>
            <p:nvPr/>
          </p:nvSpPr>
          <p:spPr>
            <a:xfrm flipH="false" flipV="false" rot="0">
              <a:off x="0" y="0"/>
              <a:ext cx="381000" cy="38100"/>
            </a:xfrm>
            <a:custGeom>
              <a:avLst/>
              <a:gdLst/>
              <a:ahLst/>
              <a:cxnLst/>
              <a:rect r="r" b="b" t="t" l="l"/>
              <a:pathLst>
                <a:path h="38100" w="381000">
                  <a:moveTo>
                    <a:pt x="0" y="0"/>
                  </a:moveTo>
                  <a:lnTo>
                    <a:pt x="381000" y="0"/>
                  </a:lnTo>
                  <a:lnTo>
                    <a:pt x="381000" y="38100"/>
                  </a:lnTo>
                  <a:lnTo>
                    <a:pt x="0" y="38100"/>
                  </a:lnTo>
                  <a:close/>
                </a:path>
              </a:pathLst>
            </a:custGeom>
            <a:solidFill>
              <a:srgbClr val="EFF1E8"/>
            </a:solidFill>
          </p:spPr>
        </p:sp>
        <p:sp>
          <p:nvSpPr>
            <p:cNvPr name="TextBox 122" id="122"/>
            <p:cNvSpPr txBox="true"/>
            <p:nvPr/>
          </p:nvSpPr>
          <p:spPr>
            <a:xfrm>
              <a:off x="0" y="-28575"/>
              <a:ext cx="381000" cy="66675"/>
            </a:xfrm>
            <a:prstGeom prst="rect">
              <a:avLst/>
            </a:prstGeom>
          </p:spPr>
          <p:txBody>
            <a:bodyPr anchor="ctr" rtlCol="false" tIns="50800" lIns="50800" bIns="50800" rIns="50800"/>
            <a:lstStyle/>
            <a:p>
              <a:pPr algn="l">
                <a:lnSpc>
                  <a:spcPts val="1679"/>
                </a:lnSpc>
              </a:pPr>
            </a:p>
          </p:txBody>
        </p:sp>
      </p:grpSp>
      <p:grpSp>
        <p:nvGrpSpPr>
          <p:cNvPr name="Group 123" id="123"/>
          <p:cNvGrpSpPr/>
          <p:nvPr/>
        </p:nvGrpSpPr>
        <p:grpSpPr>
          <a:xfrm rot="0">
            <a:off x="10096500" y="6557962"/>
            <a:ext cx="876300" cy="28575"/>
            <a:chOff x="0" y="0"/>
            <a:chExt cx="1168400" cy="38100"/>
          </a:xfrm>
        </p:grpSpPr>
        <p:sp>
          <p:nvSpPr>
            <p:cNvPr name="Freeform 124" id="124"/>
            <p:cNvSpPr/>
            <p:nvPr/>
          </p:nvSpPr>
          <p:spPr>
            <a:xfrm flipH="false" flipV="false" rot="0">
              <a:off x="0" y="0"/>
              <a:ext cx="1168400" cy="38100"/>
            </a:xfrm>
            <a:custGeom>
              <a:avLst/>
              <a:gdLst/>
              <a:ahLst/>
              <a:cxnLst/>
              <a:rect r="r" b="b" t="t" l="l"/>
              <a:pathLst>
                <a:path h="38100" w="1168400">
                  <a:moveTo>
                    <a:pt x="0" y="0"/>
                  </a:moveTo>
                  <a:lnTo>
                    <a:pt x="1168400" y="0"/>
                  </a:lnTo>
                  <a:lnTo>
                    <a:pt x="1168400" y="38100"/>
                  </a:lnTo>
                  <a:lnTo>
                    <a:pt x="0" y="38100"/>
                  </a:lnTo>
                  <a:close/>
                </a:path>
              </a:pathLst>
            </a:custGeom>
            <a:solidFill>
              <a:srgbClr val="70A1BD"/>
            </a:solidFill>
          </p:spPr>
        </p:sp>
        <p:sp>
          <p:nvSpPr>
            <p:cNvPr name="TextBox 125" id="125"/>
            <p:cNvSpPr txBox="true"/>
            <p:nvPr/>
          </p:nvSpPr>
          <p:spPr>
            <a:xfrm>
              <a:off x="0" y="-28575"/>
              <a:ext cx="1168400" cy="66675"/>
            </a:xfrm>
            <a:prstGeom prst="rect">
              <a:avLst/>
            </a:prstGeom>
          </p:spPr>
          <p:txBody>
            <a:bodyPr anchor="ctr" rtlCol="false" tIns="50800" lIns="50800" bIns="50800" rIns="50800"/>
            <a:lstStyle/>
            <a:p>
              <a:pPr algn="l">
                <a:lnSpc>
                  <a:spcPts val="1679"/>
                </a:lnSpc>
              </a:pPr>
            </a:p>
          </p:txBody>
        </p:sp>
      </p:grpSp>
      <p:grpSp>
        <p:nvGrpSpPr>
          <p:cNvPr name="Group 126" id="126"/>
          <p:cNvGrpSpPr/>
          <p:nvPr/>
        </p:nvGrpSpPr>
        <p:grpSpPr>
          <a:xfrm rot="0">
            <a:off x="10972800" y="6486525"/>
            <a:ext cx="171450" cy="171450"/>
            <a:chOff x="0" y="0"/>
            <a:chExt cx="228600" cy="228600"/>
          </a:xfrm>
        </p:grpSpPr>
        <p:sp>
          <p:nvSpPr>
            <p:cNvPr name="Freeform 127" id="127"/>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28" id="128"/>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29" id="129"/>
          <p:cNvGrpSpPr/>
          <p:nvPr/>
        </p:nvGrpSpPr>
        <p:grpSpPr>
          <a:xfrm rot="0">
            <a:off x="3143250" y="8367712"/>
            <a:ext cx="666750" cy="28575"/>
            <a:chOff x="0" y="0"/>
            <a:chExt cx="889000" cy="38100"/>
          </a:xfrm>
        </p:grpSpPr>
        <p:sp>
          <p:nvSpPr>
            <p:cNvPr name="Freeform 130" id="130"/>
            <p:cNvSpPr/>
            <p:nvPr/>
          </p:nvSpPr>
          <p:spPr>
            <a:xfrm flipH="false" flipV="false" rot="0">
              <a:off x="0" y="0"/>
              <a:ext cx="889000" cy="38100"/>
            </a:xfrm>
            <a:custGeom>
              <a:avLst/>
              <a:gdLst/>
              <a:ahLst/>
              <a:cxnLst/>
              <a:rect r="r" b="b" t="t" l="l"/>
              <a:pathLst>
                <a:path h="38100" w="889000">
                  <a:moveTo>
                    <a:pt x="0" y="0"/>
                  </a:moveTo>
                  <a:lnTo>
                    <a:pt x="889000" y="0"/>
                  </a:lnTo>
                  <a:lnTo>
                    <a:pt x="889000" y="38100"/>
                  </a:lnTo>
                  <a:lnTo>
                    <a:pt x="0" y="38100"/>
                  </a:lnTo>
                  <a:close/>
                </a:path>
              </a:pathLst>
            </a:custGeom>
            <a:solidFill>
              <a:srgbClr val="EFF1E8"/>
            </a:solidFill>
          </p:spPr>
        </p:sp>
        <p:sp>
          <p:nvSpPr>
            <p:cNvPr name="TextBox 131" id="131"/>
            <p:cNvSpPr txBox="true"/>
            <p:nvPr/>
          </p:nvSpPr>
          <p:spPr>
            <a:xfrm>
              <a:off x="0" y="-28575"/>
              <a:ext cx="889000" cy="66675"/>
            </a:xfrm>
            <a:prstGeom prst="rect">
              <a:avLst/>
            </a:prstGeom>
          </p:spPr>
          <p:txBody>
            <a:bodyPr anchor="ctr" rtlCol="false" tIns="50800" lIns="50800" bIns="50800" rIns="50800"/>
            <a:lstStyle/>
            <a:p>
              <a:pPr algn="l">
                <a:lnSpc>
                  <a:spcPts val="1679"/>
                </a:lnSpc>
              </a:pPr>
            </a:p>
          </p:txBody>
        </p:sp>
      </p:grpSp>
      <p:grpSp>
        <p:nvGrpSpPr>
          <p:cNvPr name="Group 132" id="132"/>
          <p:cNvGrpSpPr/>
          <p:nvPr/>
        </p:nvGrpSpPr>
        <p:grpSpPr>
          <a:xfrm rot="0">
            <a:off x="3810000" y="8367712"/>
            <a:ext cx="7162800" cy="28575"/>
            <a:chOff x="0" y="0"/>
            <a:chExt cx="9550400" cy="38100"/>
          </a:xfrm>
        </p:grpSpPr>
        <p:sp>
          <p:nvSpPr>
            <p:cNvPr name="Freeform 133" id="133"/>
            <p:cNvSpPr/>
            <p:nvPr/>
          </p:nvSpPr>
          <p:spPr>
            <a:xfrm flipH="false" flipV="false" rot="0">
              <a:off x="0" y="0"/>
              <a:ext cx="9550400" cy="38100"/>
            </a:xfrm>
            <a:custGeom>
              <a:avLst/>
              <a:gdLst/>
              <a:ahLst/>
              <a:cxnLst/>
              <a:rect r="r" b="b" t="t" l="l"/>
              <a:pathLst>
                <a:path h="38100" w="9550400">
                  <a:moveTo>
                    <a:pt x="0" y="0"/>
                  </a:moveTo>
                  <a:lnTo>
                    <a:pt x="9550400" y="0"/>
                  </a:lnTo>
                  <a:lnTo>
                    <a:pt x="9550400" y="38100"/>
                  </a:lnTo>
                  <a:lnTo>
                    <a:pt x="0" y="38100"/>
                  </a:lnTo>
                  <a:close/>
                </a:path>
              </a:pathLst>
            </a:custGeom>
            <a:solidFill>
              <a:srgbClr val="70A1BD"/>
            </a:solidFill>
          </p:spPr>
        </p:sp>
        <p:sp>
          <p:nvSpPr>
            <p:cNvPr name="TextBox 134" id="134"/>
            <p:cNvSpPr txBox="true"/>
            <p:nvPr/>
          </p:nvSpPr>
          <p:spPr>
            <a:xfrm>
              <a:off x="0" y="-28575"/>
              <a:ext cx="9550400" cy="66675"/>
            </a:xfrm>
            <a:prstGeom prst="rect">
              <a:avLst/>
            </a:prstGeom>
          </p:spPr>
          <p:txBody>
            <a:bodyPr anchor="ctr" rtlCol="false" tIns="50800" lIns="50800" bIns="50800" rIns="50800"/>
            <a:lstStyle/>
            <a:p>
              <a:pPr algn="l">
                <a:lnSpc>
                  <a:spcPts val="1679"/>
                </a:lnSpc>
              </a:pPr>
            </a:p>
          </p:txBody>
        </p:sp>
      </p:grpSp>
      <p:grpSp>
        <p:nvGrpSpPr>
          <p:cNvPr name="Group 135" id="135"/>
          <p:cNvGrpSpPr/>
          <p:nvPr/>
        </p:nvGrpSpPr>
        <p:grpSpPr>
          <a:xfrm rot="0">
            <a:off x="10972800" y="8296275"/>
            <a:ext cx="171450" cy="171450"/>
            <a:chOff x="0" y="0"/>
            <a:chExt cx="228600" cy="228600"/>
          </a:xfrm>
        </p:grpSpPr>
        <p:sp>
          <p:nvSpPr>
            <p:cNvPr name="Freeform 136" id="136"/>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70A1BD"/>
            </a:solidFill>
          </p:spPr>
        </p:sp>
        <p:sp>
          <p:nvSpPr>
            <p:cNvPr name="TextBox 137" id="137"/>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38" id="138"/>
          <p:cNvGrpSpPr/>
          <p:nvPr/>
        </p:nvGrpSpPr>
        <p:grpSpPr>
          <a:xfrm rot="0">
            <a:off x="12954000" y="3938588"/>
            <a:ext cx="381000" cy="28575"/>
            <a:chOff x="0" y="0"/>
            <a:chExt cx="508000" cy="38100"/>
          </a:xfrm>
        </p:grpSpPr>
        <p:sp>
          <p:nvSpPr>
            <p:cNvPr name="Freeform 139" id="139"/>
            <p:cNvSpPr/>
            <p:nvPr/>
          </p:nvSpPr>
          <p:spPr>
            <a:xfrm flipH="false" flipV="false" rot="0">
              <a:off x="0" y="0"/>
              <a:ext cx="508000" cy="38100"/>
            </a:xfrm>
            <a:custGeom>
              <a:avLst/>
              <a:gdLst/>
              <a:ahLst/>
              <a:cxnLst/>
              <a:rect r="r" b="b" t="t" l="l"/>
              <a:pathLst>
                <a:path h="38100" w="508000">
                  <a:moveTo>
                    <a:pt x="0" y="0"/>
                  </a:moveTo>
                  <a:lnTo>
                    <a:pt x="508000" y="0"/>
                  </a:lnTo>
                  <a:lnTo>
                    <a:pt x="508000" y="38100"/>
                  </a:lnTo>
                  <a:lnTo>
                    <a:pt x="0" y="38100"/>
                  </a:lnTo>
                  <a:close/>
                </a:path>
              </a:pathLst>
            </a:custGeom>
            <a:solidFill>
              <a:srgbClr val="70A1BD"/>
            </a:solidFill>
          </p:spPr>
        </p:sp>
        <p:sp>
          <p:nvSpPr>
            <p:cNvPr name="TextBox 140" id="140"/>
            <p:cNvSpPr txBox="true"/>
            <p:nvPr/>
          </p:nvSpPr>
          <p:spPr>
            <a:xfrm>
              <a:off x="0" y="-28575"/>
              <a:ext cx="508000" cy="66675"/>
            </a:xfrm>
            <a:prstGeom prst="rect">
              <a:avLst/>
            </a:prstGeom>
          </p:spPr>
          <p:txBody>
            <a:bodyPr anchor="ctr" rtlCol="false" tIns="50800" lIns="50800" bIns="50800" rIns="50800"/>
            <a:lstStyle/>
            <a:p>
              <a:pPr algn="l">
                <a:lnSpc>
                  <a:spcPts val="1679"/>
                </a:lnSpc>
              </a:pPr>
            </a:p>
          </p:txBody>
        </p:sp>
      </p:grpSp>
      <p:grpSp>
        <p:nvGrpSpPr>
          <p:cNvPr name="Group 141" id="141"/>
          <p:cNvGrpSpPr/>
          <p:nvPr/>
        </p:nvGrpSpPr>
        <p:grpSpPr>
          <a:xfrm rot="0">
            <a:off x="13335000" y="3938588"/>
            <a:ext cx="1352550" cy="28575"/>
            <a:chOff x="0" y="0"/>
            <a:chExt cx="1803400" cy="38100"/>
          </a:xfrm>
        </p:grpSpPr>
        <p:sp>
          <p:nvSpPr>
            <p:cNvPr name="Freeform 142" id="142"/>
            <p:cNvSpPr/>
            <p:nvPr/>
          </p:nvSpPr>
          <p:spPr>
            <a:xfrm flipH="false" flipV="false" rot="0">
              <a:off x="0" y="0"/>
              <a:ext cx="1803400" cy="38100"/>
            </a:xfrm>
            <a:custGeom>
              <a:avLst/>
              <a:gdLst/>
              <a:ahLst/>
              <a:cxnLst/>
              <a:rect r="r" b="b" t="t" l="l"/>
              <a:pathLst>
                <a:path h="38100" w="1803400">
                  <a:moveTo>
                    <a:pt x="0" y="0"/>
                  </a:moveTo>
                  <a:lnTo>
                    <a:pt x="1803400" y="0"/>
                  </a:lnTo>
                  <a:lnTo>
                    <a:pt x="1803400" y="38100"/>
                  </a:lnTo>
                  <a:lnTo>
                    <a:pt x="0" y="38100"/>
                  </a:lnTo>
                  <a:close/>
                </a:path>
              </a:pathLst>
            </a:custGeom>
            <a:solidFill>
              <a:srgbClr val="EFF1E8"/>
            </a:solidFill>
          </p:spPr>
        </p:sp>
        <p:sp>
          <p:nvSpPr>
            <p:cNvPr name="TextBox 143" id="143"/>
            <p:cNvSpPr txBox="true"/>
            <p:nvPr/>
          </p:nvSpPr>
          <p:spPr>
            <a:xfrm>
              <a:off x="0" y="-28575"/>
              <a:ext cx="1803400" cy="66675"/>
            </a:xfrm>
            <a:prstGeom prst="rect">
              <a:avLst/>
            </a:prstGeom>
          </p:spPr>
          <p:txBody>
            <a:bodyPr anchor="ctr" rtlCol="false" tIns="50800" lIns="50800" bIns="50800" rIns="50800"/>
            <a:lstStyle/>
            <a:p>
              <a:pPr algn="l">
                <a:lnSpc>
                  <a:spcPts val="1679"/>
                </a:lnSpc>
              </a:pPr>
            </a:p>
          </p:txBody>
        </p:sp>
      </p:grpSp>
      <p:grpSp>
        <p:nvGrpSpPr>
          <p:cNvPr name="Group 144" id="144"/>
          <p:cNvGrpSpPr/>
          <p:nvPr/>
        </p:nvGrpSpPr>
        <p:grpSpPr>
          <a:xfrm rot="0">
            <a:off x="14687550" y="3867150"/>
            <a:ext cx="171450" cy="171450"/>
            <a:chOff x="0" y="0"/>
            <a:chExt cx="228600" cy="228600"/>
          </a:xfrm>
        </p:grpSpPr>
        <p:sp>
          <p:nvSpPr>
            <p:cNvPr name="Freeform 145" id="145"/>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146" id="146"/>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47" id="147"/>
          <p:cNvGrpSpPr/>
          <p:nvPr/>
        </p:nvGrpSpPr>
        <p:grpSpPr>
          <a:xfrm rot="0">
            <a:off x="12954000" y="4343400"/>
            <a:ext cx="171450" cy="171450"/>
            <a:chOff x="0" y="0"/>
            <a:chExt cx="228600" cy="228600"/>
          </a:xfrm>
        </p:grpSpPr>
        <p:sp>
          <p:nvSpPr>
            <p:cNvPr name="Freeform 148" id="148"/>
            <p:cNvSpPr/>
            <p:nvPr/>
          </p:nvSpPr>
          <p:spPr>
            <a:xfrm flipH="false" flipV="false" rot="0">
              <a:off x="0" y="0"/>
              <a:ext cx="228600" cy="228600"/>
            </a:xfrm>
            <a:custGeom>
              <a:avLst/>
              <a:gdLst/>
              <a:ahLst/>
              <a:cxnLst/>
              <a:rect r="r" b="b" t="t" l="l"/>
              <a:pathLst>
                <a:path h="228600" w="228600">
                  <a:moveTo>
                    <a:pt x="228600" y="0"/>
                  </a:moveTo>
                  <a:lnTo>
                    <a:pt x="0" y="114300"/>
                  </a:lnTo>
                  <a:lnTo>
                    <a:pt x="228600" y="228600"/>
                  </a:lnTo>
                  <a:close/>
                </a:path>
              </a:pathLst>
            </a:custGeom>
            <a:solidFill>
              <a:srgbClr val="70A1BD"/>
            </a:solidFill>
          </p:spPr>
        </p:sp>
        <p:sp>
          <p:nvSpPr>
            <p:cNvPr name="TextBox 149" id="149"/>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50" id="150"/>
          <p:cNvGrpSpPr/>
          <p:nvPr/>
        </p:nvGrpSpPr>
        <p:grpSpPr>
          <a:xfrm rot="0">
            <a:off x="13125450" y="4414838"/>
            <a:ext cx="209550" cy="28575"/>
            <a:chOff x="0" y="0"/>
            <a:chExt cx="279400" cy="38100"/>
          </a:xfrm>
        </p:grpSpPr>
        <p:sp>
          <p:nvSpPr>
            <p:cNvPr name="Freeform 151" id="151"/>
            <p:cNvSpPr/>
            <p:nvPr/>
          </p:nvSpPr>
          <p:spPr>
            <a:xfrm flipH="false" flipV="false" rot="0">
              <a:off x="0" y="0"/>
              <a:ext cx="279400" cy="38100"/>
            </a:xfrm>
            <a:custGeom>
              <a:avLst/>
              <a:gdLst/>
              <a:ahLst/>
              <a:cxnLst/>
              <a:rect r="r" b="b" t="t" l="l"/>
              <a:pathLst>
                <a:path h="38100" w="279400">
                  <a:moveTo>
                    <a:pt x="0" y="0"/>
                  </a:moveTo>
                  <a:lnTo>
                    <a:pt x="279400" y="0"/>
                  </a:lnTo>
                  <a:lnTo>
                    <a:pt x="279400" y="38100"/>
                  </a:lnTo>
                  <a:lnTo>
                    <a:pt x="0" y="38100"/>
                  </a:lnTo>
                  <a:close/>
                </a:path>
              </a:pathLst>
            </a:custGeom>
            <a:solidFill>
              <a:srgbClr val="70A1BD"/>
            </a:solidFill>
          </p:spPr>
        </p:sp>
        <p:sp>
          <p:nvSpPr>
            <p:cNvPr name="TextBox 152" id="152"/>
            <p:cNvSpPr txBox="true"/>
            <p:nvPr/>
          </p:nvSpPr>
          <p:spPr>
            <a:xfrm>
              <a:off x="0" y="-28575"/>
              <a:ext cx="279400" cy="66675"/>
            </a:xfrm>
            <a:prstGeom prst="rect">
              <a:avLst/>
            </a:prstGeom>
          </p:spPr>
          <p:txBody>
            <a:bodyPr anchor="ctr" rtlCol="false" tIns="50800" lIns="50800" bIns="50800" rIns="50800"/>
            <a:lstStyle/>
            <a:p>
              <a:pPr algn="l">
                <a:lnSpc>
                  <a:spcPts val="1679"/>
                </a:lnSpc>
              </a:pPr>
            </a:p>
          </p:txBody>
        </p:sp>
      </p:grpSp>
      <p:grpSp>
        <p:nvGrpSpPr>
          <p:cNvPr name="Group 153" id="153"/>
          <p:cNvGrpSpPr/>
          <p:nvPr/>
        </p:nvGrpSpPr>
        <p:grpSpPr>
          <a:xfrm rot="0">
            <a:off x="13335000" y="4414838"/>
            <a:ext cx="1524000" cy="28575"/>
            <a:chOff x="0" y="0"/>
            <a:chExt cx="2032000" cy="38100"/>
          </a:xfrm>
        </p:grpSpPr>
        <p:sp>
          <p:nvSpPr>
            <p:cNvPr name="Freeform 154" id="154"/>
            <p:cNvSpPr/>
            <p:nvPr/>
          </p:nvSpPr>
          <p:spPr>
            <a:xfrm flipH="false" flipV="false" rot="0">
              <a:off x="0" y="0"/>
              <a:ext cx="2032000" cy="38100"/>
            </a:xfrm>
            <a:custGeom>
              <a:avLst/>
              <a:gdLst/>
              <a:ahLst/>
              <a:cxnLst/>
              <a:rect r="r" b="b" t="t" l="l"/>
              <a:pathLst>
                <a:path h="38100" w="2032000">
                  <a:moveTo>
                    <a:pt x="0" y="0"/>
                  </a:moveTo>
                  <a:lnTo>
                    <a:pt x="2032000" y="0"/>
                  </a:lnTo>
                  <a:lnTo>
                    <a:pt x="2032000" y="38100"/>
                  </a:lnTo>
                  <a:lnTo>
                    <a:pt x="0" y="38100"/>
                  </a:lnTo>
                  <a:close/>
                </a:path>
              </a:pathLst>
            </a:custGeom>
            <a:solidFill>
              <a:srgbClr val="EFF1E8"/>
            </a:solidFill>
          </p:spPr>
        </p:sp>
        <p:sp>
          <p:nvSpPr>
            <p:cNvPr name="TextBox 155" id="155"/>
            <p:cNvSpPr txBox="true"/>
            <p:nvPr/>
          </p:nvSpPr>
          <p:spPr>
            <a:xfrm>
              <a:off x="0" y="-28575"/>
              <a:ext cx="2032000" cy="66675"/>
            </a:xfrm>
            <a:prstGeom prst="rect">
              <a:avLst/>
            </a:prstGeom>
          </p:spPr>
          <p:txBody>
            <a:bodyPr anchor="ctr" rtlCol="false" tIns="50800" lIns="50800" bIns="50800" rIns="50800"/>
            <a:lstStyle/>
            <a:p>
              <a:pPr algn="l">
                <a:lnSpc>
                  <a:spcPts val="1679"/>
                </a:lnSpc>
              </a:pPr>
            </a:p>
          </p:txBody>
        </p:sp>
      </p:grpSp>
      <p:grpSp>
        <p:nvGrpSpPr>
          <p:cNvPr name="Group 156" id="156"/>
          <p:cNvGrpSpPr/>
          <p:nvPr/>
        </p:nvGrpSpPr>
        <p:grpSpPr>
          <a:xfrm rot="0">
            <a:off x="12954000" y="6986588"/>
            <a:ext cx="381000" cy="28575"/>
            <a:chOff x="0" y="0"/>
            <a:chExt cx="508000" cy="38100"/>
          </a:xfrm>
        </p:grpSpPr>
        <p:sp>
          <p:nvSpPr>
            <p:cNvPr name="Freeform 157" id="157"/>
            <p:cNvSpPr/>
            <p:nvPr/>
          </p:nvSpPr>
          <p:spPr>
            <a:xfrm flipH="false" flipV="false" rot="0">
              <a:off x="0" y="0"/>
              <a:ext cx="508000" cy="38100"/>
            </a:xfrm>
            <a:custGeom>
              <a:avLst/>
              <a:gdLst/>
              <a:ahLst/>
              <a:cxnLst/>
              <a:rect r="r" b="b" t="t" l="l"/>
              <a:pathLst>
                <a:path h="38100" w="508000">
                  <a:moveTo>
                    <a:pt x="0" y="0"/>
                  </a:moveTo>
                  <a:lnTo>
                    <a:pt x="508000" y="0"/>
                  </a:lnTo>
                  <a:lnTo>
                    <a:pt x="508000" y="38100"/>
                  </a:lnTo>
                  <a:lnTo>
                    <a:pt x="0" y="38100"/>
                  </a:lnTo>
                  <a:close/>
                </a:path>
              </a:pathLst>
            </a:custGeom>
            <a:solidFill>
              <a:srgbClr val="70A1BD"/>
            </a:solidFill>
          </p:spPr>
        </p:sp>
        <p:sp>
          <p:nvSpPr>
            <p:cNvPr name="TextBox 158" id="158"/>
            <p:cNvSpPr txBox="true"/>
            <p:nvPr/>
          </p:nvSpPr>
          <p:spPr>
            <a:xfrm>
              <a:off x="0" y="-28575"/>
              <a:ext cx="508000" cy="66675"/>
            </a:xfrm>
            <a:prstGeom prst="rect">
              <a:avLst/>
            </a:prstGeom>
          </p:spPr>
          <p:txBody>
            <a:bodyPr anchor="ctr" rtlCol="false" tIns="50800" lIns="50800" bIns="50800" rIns="50800"/>
            <a:lstStyle/>
            <a:p>
              <a:pPr algn="l">
                <a:lnSpc>
                  <a:spcPts val="1679"/>
                </a:lnSpc>
              </a:pPr>
            </a:p>
          </p:txBody>
        </p:sp>
      </p:grpSp>
      <p:grpSp>
        <p:nvGrpSpPr>
          <p:cNvPr name="Group 159" id="159"/>
          <p:cNvGrpSpPr/>
          <p:nvPr/>
        </p:nvGrpSpPr>
        <p:grpSpPr>
          <a:xfrm rot="0">
            <a:off x="13335000" y="6986588"/>
            <a:ext cx="1352550" cy="28575"/>
            <a:chOff x="0" y="0"/>
            <a:chExt cx="1803400" cy="38100"/>
          </a:xfrm>
        </p:grpSpPr>
        <p:sp>
          <p:nvSpPr>
            <p:cNvPr name="Freeform 160" id="160"/>
            <p:cNvSpPr/>
            <p:nvPr/>
          </p:nvSpPr>
          <p:spPr>
            <a:xfrm flipH="false" flipV="false" rot="0">
              <a:off x="0" y="0"/>
              <a:ext cx="1803400" cy="38100"/>
            </a:xfrm>
            <a:custGeom>
              <a:avLst/>
              <a:gdLst/>
              <a:ahLst/>
              <a:cxnLst/>
              <a:rect r="r" b="b" t="t" l="l"/>
              <a:pathLst>
                <a:path h="38100" w="1803400">
                  <a:moveTo>
                    <a:pt x="0" y="0"/>
                  </a:moveTo>
                  <a:lnTo>
                    <a:pt x="1803400" y="0"/>
                  </a:lnTo>
                  <a:lnTo>
                    <a:pt x="1803400" y="38100"/>
                  </a:lnTo>
                  <a:lnTo>
                    <a:pt x="0" y="38100"/>
                  </a:lnTo>
                  <a:close/>
                </a:path>
              </a:pathLst>
            </a:custGeom>
            <a:solidFill>
              <a:srgbClr val="EFF1E8"/>
            </a:solidFill>
          </p:spPr>
        </p:sp>
        <p:sp>
          <p:nvSpPr>
            <p:cNvPr name="TextBox 161" id="161"/>
            <p:cNvSpPr txBox="true"/>
            <p:nvPr/>
          </p:nvSpPr>
          <p:spPr>
            <a:xfrm>
              <a:off x="0" y="-28575"/>
              <a:ext cx="1803400" cy="66675"/>
            </a:xfrm>
            <a:prstGeom prst="rect">
              <a:avLst/>
            </a:prstGeom>
          </p:spPr>
          <p:txBody>
            <a:bodyPr anchor="ctr" rtlCol="false" tIns="50800" lIns="50800" bIns="50800" rIns="50800"/>
            <a:lstStyle/>
            <a:p>
              <a:pPr algn="l">
                <a:lnSpc>
                  <a:spcPts val="1679"/>
                </a:lnSpc>
              </a:pPr>
            </a:p>
          </p:txBody>
        </p:sp>
      </p:grpSp>
      <p:grpSp>
        <p:nvGrpSpPr>
          <p:cNvPr name="Group 162" id="162"/>
          <p:cNvGrpSpPr/>
          <p:nvPr/>
        </p:nvGrpSpPr>
        <p:grpSpPr>
          <a:xfrm rot="0">
            <a:off x="14687550" y="6915150"/>
            <a:ext cx="171450" cy="171450"/>
            <a:chOff x="0" y="0"/>
            <a:chExt cx="228600" cy="228600"/>
          </a:xfrm>
        </p:grpSpPr>
        <p:sp>
          <p:nvSpPr>
            <p:cNvPr name="Freeform 163" id="163"/>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164" id="164"/>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65" id="165"/>
          <p:cNvGrpSpPr/>
          <p:nvPr/>
        </p:nvGrpSpPr>
        <p:grpSpPr>
          <a:xfrm rot="0">
            <a:off x="12954000" y="7391400"/>
            <a:ext cx="171450" cy="171450"/>
            <a:chOff x="0" y="0"/>
            <a:chExt cx="228600" cy="228600"/>
          </a:xfrm>
        </p:grpSpPr>
        <p:sp>
          <p:nvSpPr>
            <p:cNvPr name="Freeform 166" id="166"/>
            <p:cNvSpPr/>
            <p:nvPr/>
          </p:nvSpPr>
          <p:spPr>
            <a:xfrm flipH="false" flipV="false" rot="0">
              <a:off x="0" y="0"/>
              <a:ext cx="228600" cy="228600"/>
            </a:xfrm>
            <a:custGeom>
              <a:avLst/>
              <a:gdLst/>
              <a:ahLst/>
              <a:cxnLst/>
              <a:rect r="r" b="b" t="t" l="l"/>
              <a:pathLst>
                <a:path h="228600" w="228600">
                  <a:moveTo>
                    <a:pt x="228600" y="0"/>
                  </a:moveTo>
                  <a:lnTo>
                    <a:pt x="0" y="114300"/>
                  </a:lnTo>
                  <a:lnTo>
                    <a:pt x="228600" y="228600"/>
                  </a:lnTo>
                  <a:close/>
                </a:path>
              </a:pathLst>
            </a:custGeom>
            <a:solidFill>
              <a:srgbClr val="70A1BD"/>
            </a:solidFill>
          </p:spPr>
        </p:sp>
        <p:sp>
          <p:nvSpPr>
            <p:cNvPr name="TextBox 167" id="167"/>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68" id="168"/>
          <p:cNvGrpSpPr/>
          <p:nvPr/>
        </p:nvGrpSpPr>
        <p:grpSpPr>
          <a:xfrm rot="0">
            <a:off x="13125450" y="7462838"/>
            <a:ext cx="209550" cy="28575"/>
            <a:chOff x="0" y="0"/>
            <a:chExt cx="279400" cy="38100"/>
          </a:xfrm>
        </p:grpSpPr>
        <p:sp>
          <p:nvSpPr>
            <p:cNvPr name="Freeform 169" id="169"/>
            <p:cNvSpPr/>
            <p:nvPr/>
          </p:nvSpPr>
          <p:spPr>
            <a:xfrm flipH="false" flipV="false" rot="0">
              <a:off x="0" y="0"/>
              <a:ext cx="279400" cy="38100"/>
            </a:xfrm>
            <a:custGeom>
              <a:avLst/>
              <a:gdLst/>
              <a:ahLst/>
              <a:cxnLst/>
              <a:rect r="r" b="b" t="t" l="l"/>
              <a:pathLst>
                <a:path h="38100" w="279400">
                  <a:moveTo>
                    <a:pt x="0" y="0"/>
                  </a:moveTo>
                  <a:lnTo>
                    <a:pt x="279400" y="0"/>
                  </a:lnTo>
                  <a:lnTo>
                    <a:pt x="279400" y="38100"/>
                  </a:lnTo>
                  <a:lnTo>
                    <a:pt x="0" y="38100"/>
                  </a:lnTo>
                  <a:close/>
                </a:path>
              </a:pathLst>
            </a:custGeom>
            <a:solidFill>
              <a:srgbClr val="70A1BD"/>
            </a:solidFill>
          </p:spPr>
        </p:sp>
        <p:sp>
          <p:nvSpPr>
            <p:cNvPr name="TextBox 170" id="170"/>
            <p:cNvSpPr txBox="true"/>
            <p:nvPr/>
          </p:nvSpPr>
          <p:spPr>
            <a:xfrm>
              <a:off x="0" y="-28575"/>
              <a:ext cx="279400" cy="66675"/>
            </a:xfrm>
            <a:prstGeom prst="rect">
              <a:avLst/>
            </a:prstGeom>
          </p:spPr>
          <p:txBody>
            <a:bodyPr anchor="ctr" rtlCol="false" tIns="50800" lIns="50800" bIns="50800" rIns="50800"/>
            <a:lstStyle/>
            <a:p>
              <a:pPr algn="l">
                <a:lnSpc>
                  <a:spcPts val="1679"/>
                </a:lnSpc>
              </a:pPr>
            </a:p>
          </p:txBody>
        </p:sp>
      </p:grpSp>
      <p:grpSp>
        <p:nvGrpSpPr>
          <p:cNvPr name="Group 171" id="171"/>
          <p:cNvGrpSpPr/>
          <p:nvPr/>
        </p:nvGrpSpPr>
        <p:grpSpPr>
          <a:xfrm rot="0">
            <a:off x="13335000" y="7462838"/>
            <a:ext cx="1524000" cy="28575"/>
            <a:chOff x="0" y="0"/>
            <a:chExt cx="2032000" cy="38100"/>
          </a:xfrm>
        </p:grpSpPr>
        <p:sp>
          <p:nvSpPr>
            <p:cNvPr name="Freeform 172" id="172"/>
            <p:cNvSpPr/>
            <p:nvPr/>
          </p:nvSpPr>
          <p:spPr>
            <a:xfrm flipH="false" flipV="false" rot="0">
              <a:off x="0" y="0"/>
              <a:ext cx="2032000" cy="38100"/>
            </a:xfrm>
            <a:custGeom>
              <a:avLst/>
              <a:gdLst/>
              <a:ahLst/>
              <a:cxnLst/>
              <a:rect r="r" b="b" t="t" l="l"/>
              <a:pathLst>
                <a:path h="38100" w="2032000">
                  <a:moveTo>
                    <a:pt x="0" y="0"/>
                  </a:moveTo>
                  <a:lnTo>
                    <a:pt x="2032000" y="0"/>
                  </a:lnTo>
                  <a:lnTo>
                    <a:pt x="2032000" y="38100"/>
                  </a:lnTo>
                  <a:lnTo>
                    <a:pt x="0" y="38100"/>
                  </a:lnTo>
                  <a:close/>
                </a:path>
              </a:pathLst>
            </a:custGeom>
            <a:solidFill>
              <a:srgbClr val="EFF1E8"/>
            </a:solidFill>
          </p:spPr>
        </p:sp>
        <p:sp>
          <p:nvSpPr>
            <p:cNvPr name="TextBox 173" id="173"/>
            <p:cNvSpPr txBox="true"/>
            <p:nvPr/>
          </p:nvSpPr>
          <p:spPr>
            <a:xfrm>
              <a:off x="0" y="-28575"/>
              <a:ext cx="2032000" cy="66675"/>
            </a:xfrm>
            <a:prstGeom prst="rect">
              <a:avLst/>
            </a:prstGeom>
          </p:spPr>
          <p:txBody>
            <a:bodyPr anchor="ctr" rtlCol="false" tIns="50800" lIns="50800" bIns="50800" rIns="50800"/>
            <a:lstStyle/>
            <a:p>
              <a:pPr algn="l">
                <a:lnSpc>
                  <a:spcPts val="1679"/>
                </a:lnSpc>
              </a:pPr>
            </a:p>
          </p:txBody>
        </p:sp>
      </p:grpSp>
      <p:sp>
        <p:nvSpPr>
          <p:cNvPr name="TextBox 174" id="174"/>
          <p:cNvSpPr txBox="true"/>
          <p:nvPr/>
        </p:nvSpPr>
        <p:spPr>
          <a:xfrm rot="0">
            <a:off x="1028700" y="1181100"/>
            <a:ext cx="16192500" cy="670560"/>
          </a:xfrm>
          <a:prstGeom prst="rect">
            <a:avLst/>
          </a:prstGeom>
        </p:spPr>
        <p:txBody>
          <a:bodyPr anchor="t" rtlCol="false" tIns="0" lIns="0" bIns="0" rIns="0">
            <a:spAutoFit/>
          </a:bodyPr>
          <a:lstStyle/>
          <a:p>
            <a:pPr algn="l">
              <a:lnSpc>
                <a:spcPts val="5280"/>
              </a:lnSpc>
            </a:pPr>
            <a:r>
              <a:rPr lang="en-US" sz="4800" b="true">
                <a:solidFill>
                  <a:srgbClr val="EFF1E8"/>
                </a:solidFill>
                <a:latin typeface="Montserrat Bold"/>
                <a:ea typeface="Montserrat Bold"/>
                <a:cs typeface="Montserrat Bold"/>
                <a:sym typeface="Montserrat Bold"/>
              </a:rPr>
              <a:t>How the Integrated Payments Flow Operates</a:t>
            </a:r>
          </a:p>
        </p:txBody>
      </p:sp>
      <p:sp>
        <p:nvSpPr>
          <p:cNvPr name="TextBox 175" id="175"/>
          <p:cNvSpPr txBox="true"/>
          <p:nvPr/>
        </p:nvSpPr>
        <p:spPr>
          <a:xfrm rot="0">
            <a:off x="4114800" y="2286000"/>
            <a:ext cx="2857500" cy="459105"/>
          </a:xfrm>
          <a:prstGeom prst="rect">
            <a:avLst/>
          </a:prstGeom>
        </p:spPr>
        <p:txBody>
          <a:bodyPr anchor="t" rtlCol="false" tIns="0" lIns="0" bIns="0" rIns="0">
            <a:spAutoFit/>
          </a:bodyPr>
          <a:lstStyle/>
          <a:p>
            <a:pPr algn="l">
              <a:lnSpc>
                <a:spcPts val="3569"/>
              </a:lnSpc>
            </a:pPr>
            <a:r>
              <a:rPr lang="en-US" sz="2550" b="true">
                <a:solidFill>
                  <a:srgbClr val="70A1BD"/>
                </a:solidFill>
                <a:latin typeface="Poppins Bold"/>
                <a:ea typeface="Poppins Bold"/>
                <a:cs typeface="Poppins Bold"/>
                <a:sym typeface="Poppins Bold"/>
              </a:rPr>
              <a:t>Kyriba</a:t>
            </a:r>
          </a:p>
        </p:txBody>
      </p:sp>
      <p:sp>
        <p:nvSpPr>
          <p:cNvPr name="TextBox 176" id="176"/>
          <p:cNvSpPr txBox="true"/>
          <p:nvPr/>
        </p:nvSpPr>
        <p:spPr>
          <a:xfrm rot="0">
            <a:off x="904875" y="2838450"/>
            <a:ext cx="2095500" cy="325755"/>
          </a:xfrm>
          <a:prstGeom prst="rect">
            <a:avLst/>
          </a:prstGeom>
        </p:spPr>
        <p:txBody>
          <a:bodyPr anchor="t" rtlCol="false" tIns="0" lIns="0" bIns="0" rIns="0">
            <a:spAutoFit/>
          </a:bodyPr>
          <a:lstStyle/>
          <a:p>
            <a:pPr algn="ctr" marL="0" indent="0" lvl="0">
              <a:lnSpc>
                <a:spcPts val="2520"/>
              </a:lnSpc>
              <a:spcBef>
                <a:spcPct val="0"/>
              </a:spcBef>
            </a:pPr>
            <a:r>
              <a:rPr lang="en-US" b="true" sz="1800" strike="noStrike" u="none">
                <a:solidFill>
                  <a:srgbClr val="70A1BD"/>
                </a:solidFill>
                <a:latin typeface="Poppins Bold"/>
                <a:ea typeface="Poppins Bold"/>
                <a:cs typeface="Poppins Bold"/>
                <a:sym typeface="Poppins Bold"/>
              </a:rPr>
              <a:t>Group entities</a:t>
            </a:r>
          </a:p>
        </p:txBody>
      </p:sp>
      <p:sp>
        <p:nvSpPr>
          <p:cNvPr name="TextBox 177" id="177"/>
          <p:cNvSpPr txBox="true"/>
          <p:nvPr/>
        </p:nvSpPr>
        <p:spPr>
          <a:xfrm rot="0">
            <a:off x="904875" y="3238500"/>
            <a:ext cx="2095500" cy="421958"/>
          </a:xfrm>
          <a:prstGeom prst="rect">
            <a:avLst/>
          </a:prstGeom>
        </p:spPr>
        <p:txBody>
          <a:bodyPr anchor="t" rtlCol="false" tIns="0" lIns="0" bIns="0" rIns="0">
            <a:spAutoFit/>
          </a:bodyPr>
          <a:lstStyle/>
          <a:p>
            <a:pPr algn="ctr">
              <a:lnSpc>
                <a:spcPts val="1657"/>
              </a:lnSpc>
            </a:pPr>
            <a:r>
              <a:rPr lang="en-US" sz="1275">
                <a:solidFill>
                  <a:srgbClr val="70A1BD"/>
                </a:solidFill>
                <a:latin typeface="Poppins"/>
                <a:ea typeface="Poppins"/>
                <a:cs typeface="Poppins"/>
                <a:sym typeface="Poppins"/>
              </a:rPr>
              <a:t>Deposits, withdrawals, FX deals</a:t>
            </a:r>
          </a:p>
        </p:txBody>
      </p:sp>
      <p:sp>
        <p:nvSpPr>
          <p:cNvPr name="TextBox 178" id="178"/>
          <p:cNvSpPr txBox="true"/>
          <p:nvPr/>
        </p:nvSpPr>
        <p:spPr>
          <a:xfrm rot="0">
            <a:off x="904875" y="4457700"/>
            <a:ext cx="2095500" cy="325755"/>
          </a:xfrm>
          <a:prstGeom prst="rect">
            <a:avLst/>
          </a:prstGeom>
        </p:spPr>
        <p:txBody>
          <a:bodyPr anchor="t" rtlCol="false" tIns="0" lIns="0" bIns="0" rIns="0">
            <a:spAutoFit/>
          </a:bodyPr>
          <a:lstStyle/>
          <a:p>
            <a:pPr algn="ctr" marL="0" indent="0" lvl="0">
              <a:lnSpc>
                <a:spcPts val="2520"/>
              </a:lnSpc>
              <a:spcBef>
                <a:spcPct val="0"/>
              </a:spcBef>
            </a:pPr>
            <a:r>
              <a:rPr lang="en-US" b="true" sz="1800" strike="noStrike" u="none">
                <a:solidFill>
                  <a:srgbClr val="70A1BD"/>
                </a:solidFill>
                <a:latin typeface="Poppins Bold"/>
                <a:ea typeface="Poppins Bold"/>
                <a:cs typeface="Poppins Bold"/>
                <a:sym typeface="Poppins Bold"/>
              </a:rPr>
              <a:t>Group entities</a:t>
            </a:r>
          </a:p>
        </p:txBody>
      </p:sp>
      <p:sp>
        <p:nvSpPr>
          <p:cNvPr name="TextBox 179" id="179"/>
          <p:cNvSpPr txBox="true"/>
          <p:nvPr/>
        </p:nvSpPr>
        <p:spPr>
          <a:xfrm rot="0">
            <a:off x="904875" y="4857750"/>
            <a:ext cx="2095500" cy="421958"/>
          </a:xfrm>
          <a:prstGeom prst="rect">
            <a:avLst/>
          </a:prstGeom>
        </p:spPr>
        <p:txBody>
          <a:bodyPr anchor="t" rtlCol="false" tIns="0" lIns="0" bIns="0" rIns="0">
            <a:spAutoFit/>
          </a:bodyPr>
          <a:lstStyle/>
          <a:p>
            <a:pPr algn="ctr">
              <a:lnSpc>
                <a:spcPts val="1657"/>
              </a:lnSpc>
            </a:pPr>
            <a:r>
              <a:rPr lang="en-US" sz="1275">
                <a:solidFill>
                  <a:srgbClr val="70A1BD"/>
                </a:solidFill>
                <a:latin typeface="Poppins"/>
                <a:ea typeface="Poppins"/>
                <a:cs typeface="Poppins"/>
                <a:sym typeface="Poppins"/>
              </a:rPr>
              <a:t>Fees, distributions, drawdowns</a:t>
            </a:r>
          </a:p>
        </p:txBody>
      </p:sp>
      <p:sp>
        <p:nvSpPr>
          <p:cNvPr name="TextBox 180" id="180"/>
          <p:cNvSpPr txBox="true"/>
          <p:nvPr/>
        </p:nvSpPr>
        <p:spPr>
          <a:xfrm rot="0">
            <a:off x="904875" y="6153150"/>
            <a:ext cx="2095500" cy="325755"/>
          </a:xfrm>
          <a:prstGeom prst="rect">
            <a:avLst/>
          </a:prstGeom>
        </p:spPr>
        <p:txBody>
          <a:bodyPr anchor="t" rtlCol="false" tIns="0" lIns="0" bIns="0" rIns="0">
            <a:spAutoFit/>
          </a:bodyPr>
          <a:lstStyle/>
          <a:p>
            <a:pPr algn="ctr">
              <a:lnSpc>
                <a:spcPts val="2520"/>
              </a:lnSpc>
            </a:pPr>
            <a:r>
              <a:rPr lang="en-US" sz="1800" b="true">
                <a:solidFill>
                  <a:srgbClr val="70A1BD"/>
                </a:solidFill>
                <a:latin typeface="Poppins Bold"/>
                <a:ea typeface="Poppins Bold"/>
                <a:cs typeface="Poppins Bold"/>
                <a:sym typeface="Poppins Bold"/>
              </a:rPr>
              <a:t>Treasury</a:t>
            </a:r>
          </a:p>
        </p:txBody>
      </p:sp>
      <p:sp>
        <p:nvSpPr>
          <p:cNvPr name="TextBox 181" id="181"/>
          <p:cNvSpPr txBox="true"/>
          <p:nvPr/>
        </p:nvSpPr>
        <p:spPr>
          <a:xfrm rot="0">
            <a:off x="904875" y="6572250"/>
            <a:ext cx="2095500" cy="212408"/>
          </a:xfrm>
          <a:prstGeom prst="rect">
            <a:avLst/>
          </a:prstGeom>
        </p:spPr>
        <p:txBody>
          <a:bodyPr anchor="t" rtlCol="false" tIns="0" lIns="0" bIns="0" rIns="0">
            <a:spAutoFit/>
          </a:bodyPr>
          <a:lstStyle/>
          <a:p>
            <a:pPr algn="ctr">
              <a:lnSpc>
                <a:spcPts val="1657"/>
              </a:lnSpc>
            </a:pPr>
            <a:r>
              <a:rPr lang="en-US" sz="1275">
                <a:solidFill>
                  <a:srgbClr val="70A1BD"/>
                </a:solidFill>
                <a:latin typeface="Poppins"/>
                <a:ea typeface="Poppins"/>
                <a:cs typeface="Poppins"/>
                <a:sym typeface="Poppins"/>
              </a:rPr>
              <a:t>Treasury transfers</a:t>
            </a:r>
          </a:p>
        </p:txBody>
      </p:sp>
      <p:sp>
        <p:nvSpPr>
          <p:cNvPr name="TextBox 182" id="182"/>
          <p:cNvSpPr txBox="true"/>
          <p:nvPr/>
        </p:nvSpPr>
        <p:spPr>
          <a:xfrm rot="0">
            <a:off x="904875" y="7962900"/>
            <a:ext cx="2095500" cy="325755"/>
          </a:xfrm>
          <a:prstGeom prst="rect">
            <a:avLst/>
          </a:prstGeom>
        </p:spPr>
        <p:txBody>
          <a:bodyPr anchor="t" rtlCol="false" tIns="0" lIns="0" bIns="0" rIns="0">
            <a:spAutoFit/>
          </a:bodyPr>
          <a:lstStyle/>
          <a:p>
            <a:pPr algn="ctr">
              <a:lnSpc>
                <a:spcPts val="2520"/>
              </a:lnSpc>
            </a:pPr>
            <a:r>
              <a:rPr lang="en-US" sz="1800" b="true">
                <a:solidFill>
                  <a:srgbClr val="70A1BD"/>
                </a:solidFill>
                <a:latin typeface="Poppins Bold"/>
                <a:ea typeface="Poppins Bold"/>
                <a:cs typeface="Poppins Bold"/>
                <a:sym typeface="Poppins Bold"/>
              </a:rPr>
              <a:t>Treasury </a:t>
            </a:r>
          </a:p>
        </p:txBody>
      </p:sp>
      <p:sp>
        <p:nvSpPr>
          <p:cNvPr name="TextBox 183" id="183"/>
          <p:cNvSpPr txBox="true"/>
          <p:nvPr/>
        </p:nvSpPr>
        <p:spPr>
          <a:xfrm rot="0">
            <a:off x="904875" y="8382000"/>
            <a:ext cx="2095500" cy="212408"/>
          </a:xfrm>
          <a:prstGeom prst="rect">
            <a:avLst/>
          </a:prstGeom>
        </p:spPr>
        <p:txBody>
          <a:bodyPr anchor="t" rtlCol="false" tIns="0" lIns="0" bIns="0" rIns="0">
            <a:spAutoFit/>
          </a:bodyPr>
          <a:lstStyle/>
          <a:p>
            <a:pPr algn="ctr">
              <a:lnSpc>
                <a:spcPts val="1657"/>
              </a:lnSpc>
            </a:pPr>
            <a:r>
              <a:rPr lang="en-US" sz="1275">
                <a:solidFill>
                  <a:srgbClr val="70A1BD"/>
                </a:solidFill>
                <a:latin typeface="Poppins"/>
                <a:ea typeface="Poppins"/>
                <a:cs typeface="Poppins"/>
                <a:sym typeface="Poppins"/>
              </a:rPr>
              <a:t>Third party payments</a:t>
            </a:r>
          </a:p>
        </p:txBody>
      </p:sp>
      <p:sp>
        <p:nvSpPr>
          <p:cNvPr name="TextBox 184" id="184"/>
          <p:cNvSpPr txBox="true"/>
          <p:nvPr/>
        </p:nvSpPr>
        <p:spPr>
          <a:xfrm rot="0">
            <a:off x="4286250" y="3038475"/>
            <a:ext cx="2857500" cy="559118"/>
          </a:xfrm>
          <a:prstGeom prst="rect">
            <a:avLst/>
          </a:prstGeom>
        </p:spPr>
        <p:txBody>
          <a:bodyPr anchor="t" rtlCol="false" tIns="0" lIns="0" bIns="0" rIns="0">
            <a:spAutoFit/>
          </a:bodyPr>
          <a:lstStyle/>
          <a:p>
            <a:pPr algn="ctr">
              <a:lnSpc>
                <a:spcPts val="2242"/>
              </a:lnSpc>
            </a:pPr>
            <a:r>
              <a:rPr lang="en-US" sz="1725" b="true">
                <a:solidFill>
                  <a:srgbClr val="EFF1E8"/>
                </a:solidFill>
                <a:latin typeface="Poppins Bold"/>
                <a:ea typeface="Poppins Bold"/>
                <a:cs typeface="Poppins Bold"/>
                <a:sym typeface="Poppins Bold"/>
              </a:rPr>
              <a:t>Financial Transactions module</a:t>
            </a:r>
          </a:p>
        </p:txBody>
      </p:sp>
      <p:sp>
        <p:nvSpPr>
          <p:cNvPr name="TextBox 185" id="185"/>
          <p:cNvSpPr txBox="true"/>
          <p:nvPr/>
        </p:nvSpPr>
        <p:spPr>
          <a:xfrm rot="0">
            <a:off x="4429125" y="5581650"/>
            <a:ext cx="3524250" cy="350520"/>
          </a:xfrm>
          <a:prstGeom prst="rect">
            <a:avLst/>
          </a:prstGeom>
        </p:spPr>
        <p:txBody>
          <a:bodyPr anchor="t" rtlCol="false" tIns="0" lIns="0" bIns="0" rIns="0">
            <a:spAutoFit/>
          </a:bodyPr>
          <a:lstStyle/>
          <a:p>
            <a:pPr algn="l">
              <a:lnSpc>
                <a:spcPts val="2729"/>
              </a:lnSpc>
            </a:pPr>
            <a:r>
              <a:rPr lang="en-US" sz="1950" b="true">
                <a:solidFill>
                  <a:srgbClr val="EFF1E8"/>
                </a:solidFill>
                <a:latin typeface="Poppins Bold"/>
                <a:ea typeface="Poppins Bold"/>
                <a:cs typeface="Poppins Bold"/>
                <a:sym typeface="Poppins Bold"/>
              </a:rPr>
              <a:t>Cash &amp; Liquidity module</a:t>
            </a:r>
          </a:p>
        </p:txBody>
      </p:sp>
      <p:sp>
        <p:nvSpPr>
          <p:cNvPr name="TextBox 186" id="186"/>
          <p:cNvSpPr txBox="true"/>
          <p:nvPr/>
        </p:nvSpPr>
        <p:spPr>
          <a:xfrm rot="0">
            <a:off x="5715000" y="4762500"/>
            <a:ext cx="1905000" cy="291465"/>
          </a:xfrm>
          <a:prstGeom prst="rect">
            <a:avLst/>
          </a:prstGeom>
        </p:spPr>
        <p:txBody>
          <a:bodyPr anchor="t" rtlCol="false" tIns="0" lIns="0" bIns="0" rIns="0">
            <a:spAutoFit/>
          </a:bodyPr>
          <a:lstStyle/>
          <a:p>
            <a:pPr algn="ctr">
              <a:lnSpc>
                <a:spcPts val="2310"/>
              </a:lnSpc>
            </a:pPr>
            <a:r>
              <a:rPr lang="en-US" sz="1650" b="true">
                <a:solidFill>
                  <a:srgbClr val="70A1BD"/>
                </a:solidFill>
                <a:latin typeface="Poppins Bold"/>
                <a:ea typeface="Poppins Bold"/>
                <a:cs typeface="Poppins Bold"/>
                <a:sym typeface="Poppins Bold"/>
              </a:rPr>
              <a:t>Netting run</a:t>
            </a:r>
          </a:p>
        </p:txBody>
      </p:sp>
      <p:sp>
        <p:nvSpPr>
          <p:cNvPr name="TextBox 187" id="187"/>
          <p:cNvSpPr txBox="true"/>
          <p:nvPr/>
        </p:nvSpPr>
        <p:spPr>
          <a:xfrm rot="0">
            <a:off x="8143875" y="4695825"/>
            <a:ext cx="1619250" cy="477203"/>
          </a:xfrm>
          <a:prstGeom prst="rect">
            <a:avLst/>
          </a:prstGeom>
        </p:spPr>
        <p:txBody>
          <a:bodyPr anchor="t" rtlCol="false" tIns="0" lIns="0" bIns="0" rIns="0">
            <a:spAutoFit/>
          </a:bodyPr>
          <a:lstStyle/>
          <a:p>
            <a:pPr algn="ctr">
              <a:lnSpc>
                <a:spcPts val="1852"/>
              </a:lnSpc>
            </a:pPr>
            <a:r>
              <a:rPr lang="en-US" sz="1425" b="true">
                <a:solidFill>
                  <a:srgbClr val="70A1BD"/>
                </a:solidFill>
                <a:latin typeface="Poppins Bold"/>
                <a:ea typeface="Poppins Bold"/>
                <a:cs typeface="Poppins Bold"/>
                <a:sym typeface="Poppins Bold"/>
              </a:rPr>
              <a:t>Netted payments</a:t>
            </a:r>
          </a:p>
        </p:txBody>
      </p:sp>
      <p:sp>
        <p:nvSpPr>
          <p:cNvPr name="TextBox 188" id="188"/>
          <p:cNvSpPr txBox="true"/>
          <p:nvPr/>
        </p:nvSpPr>
        <p:spPr>
          <a:xfrm rot="0">
            <a:off x="8143875" y="6315075"/>
            <a:ext cx="1619250" cy="477203"/>
          </a:xfrm>
          <a:prstGeom prst="rect">
            <a:avLst/>
          </a:prstGeom>
        </p:spPr>
        <p:txBody>
          <a:bodyPr anchor="t" rtlCol="false" tIns="0" lIns="0" bIns="0" rIns="0">
            <a:spAutoFit/>
          </a:bodyPr>
          <a:lstStyle/>
          <a:p>
            <a:pPr algn="ctr">
              <a:lnSpc>
                <a:spcPts val="1852"/>
              </a:lnSpc>
            </a:pPr>
            <a:r>
              <a:rPr lang="en-US" sz="1425" b="true">
                <a:solidFill>
                  <a:srgbClr val="70A1BD"/>
                </a:solidFill>
                <a:latin typeface="Poppins Bold"/>
                <a:ea typeface="Poppins Bold"/>
                <a:cs typeface="Poppins Bold"/>
                <a:sym typeface="Poppins Bold"/>
              </a:rPr>
              <a:t>Treasury transfers </a:t>
            </a:r>
          </a:p>
        </p:txBody>
      </p:sp>
      <p:sp>
        <p:nvSpPr>
          <p:cNvPr name="TextBox 189" id="189"/>
          <p:cNvSpPr txBox="true"/>
          <p:nvPr/>
        </p:nvSpPr>
        <p:spPr>
          <a:xfrm rot="0">
            <a:off x="11239500" y="5486400"/>
            <a:ext cx="1619250" cy="641985"/>
          </a:xfrm>
          <a:prstGeom prst="rect">
            <a:avLst/>
          </a:prstGeom>
        </p:spPr>
        <p:txBody>
          <a:bodyPr anchor="t" rtlCol="false" tIns="0" lIns="0" bIns="0" rIns="0">
            <a:spAutoFit/>
          </a:bodyPr>
          <a:lstStyle/>
          <a:p>
            <a:pPr algn="ctr">
              <a:lnSpc>
                <a:spcPts val="2535"/>
              </a:lnSpc>
            </a:pPr>
            <a:r>
              <a:rPr lang="en-US" sz="1950" b="true">
                <a:solidFill>
                  <a:srgbClr val="EFF1E8"/>
                </a:solidFill>
                <a:latin typeface="Poppins Bold"/>
                <a:ea typeface="Poppins Bold"/>
                <a:cs typeface="Poppins Bold"/>
                <a:sym typeface="Poppins Bold"/>
              </a:rPr>
              <a:t>Payments module</a:t>
            </a:r>
          </a:p>
        </p:txBody>
      </p:sp>
      <p:sp>
        <p:nvSpPr>
          <p:cNvPr name="TextBox 190" id="190"/>
          <p:cNvSpPr txBox="true"/>
          <p:nvPr/>
        </p:nvSpPr>
        <p:spPr>
          <a:xfrm rot="0">
            <a:off x="10115550" y="4572000"/>
            <a:ext cx="914400"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Release</a:t>
            </a:r>
          </a:p>
        </p:txBody>
      </p:sp>
      <p:sp>
        <p:nvSpPr>
          <p:cNvPr name="TextBox 191" id="191"/>
          <p:cNvSpPr txBox="true"/>
          <p:nvPr/>
        </p:nvSpPr>
        <p:spPr>
          <a:xfrm rot="0">
            <a:off x="10115550" y="6191250"/>
            <a:ext cx="914400" cy="241935"/>
          </a:xfrm>
          <a:prstGeom prst="rect">
            <a:avLst/>
          </a:prstGeom>
        </p:spPr>
        <p:txBody>
          <a:bodyPr anchor="t" rtlCol="false" tIns="0" lIns="0" bIns="0" rIns="0">
            <a:spAutoFit/>
          </a:bodyPr>
          <a:lstStyle/>
          <a:p>
            <a:pPr algn="ctr">
              <a:lnSpc>
                <a:spcPts val="1889"/>
              </a:lnSpc>
            </a:pPr>
            <a:r>
              <a:rPr lang="en-US" sz="1350">
                <a:solidFill>
                  <a:srgbClr val="70A1BD"/>
                </a:solidFill>
                <a:latin typeface="Poppins"/>
                <a:ea typeface="Poppins"/>
                <a:cs typeface="Poppins"/>
                <a:sym typeface="Poppins"/>
              </a:rPr>
              <a:t>Release </a:t>
            </a:r>
          </a:p>
        </p:txBody>
      </p:sp>
      <p:sp>
        <p:nvSpPr>
          <p:cNvPr name="TextBox 192" id="192"/>
          <p:cNvSpPr txBox="true"/>
          <p:nvPr/>
        </p:nvSpPr>
        <p:spPr>
          <a:xfrm rot="0">
            <a:off x="4191000" y="7953375"/>
            <a:ext cx="6667500" cy="276225"/>
          </a:xfrm>
          <a:prstGeom prst="rect">
            <a:avLst/>
          </a:prstGeom>
        </p:spPr>
        <p:txBody>
          <a:bodyPr anchor="t" rtlCol="false" tIns="0" lIns="0" bIns="0" rIns="0">
            <a:spAutoFit/>
          </a:bodyPr>
          <a:lstStyle/>
          <a:p>
            <a:pPr algn="l">
              <a:lnSpc>
                <a:spcPts val="2100"/>
              </a:lnSpc>
            </a:pPr>
            <a:r>
              <a:rPr lang="en-US" sz="1500">
                <a:solidFill>
                  <a:srgbClr val="70A1BD"/>
                </a:solidFill>
                <a:latin typeface="Poppins"/>
                <a:ea typeface="Poppins"/>
                <a:cs typeface="Poppins"/>
                <a:sym typeface="Poppins"/>
              </a:rPr>
              <a:t>Instructed directly in the Payments module, using templates</a:t>
            </a:r>
          </a:p>
        </p:txBody>
      </p:sp>
      <p:sp>
        <p:nvSpPr>
          <p:cNvPr name="TextBox 193" id="193"/>
          <p:cNvSpPr txBox="true"/>
          <p:nvPr/>
        </p:nvSpPr>
        <p:spPr>
          <a:xfrm rot="0">
            <a:off x="14859000" y="3638550"/>
            <a:ext cx="2667000" cy="483870"/>
          </a:xfrm>
          <a:prstGeom prst="rect">
            <a:avLst/>
          </a:prstGeom>
        </p:spPr>
        <p:txBody>
          <a:bodyPr anchor="t" rtlCol="false" tIns="0" lIns="0" bIns="0" rIns="0">
            <a:spAutoFit/>
          </a:bodyPr>
          <a:lstStyle/>
          <a:p>
            <a:pPr algn="ctr">
              <a:lnSpc>
                <a:spcPts val="3779"/>
              </a:lnSpc>
            </a:pPr>
            <a:r>
              <a:rPr lang="en-US" sz="2700" b="true">
                <a:solidFill>
                  <a:srgbClr val="70A1BD"/>
                </a:solidFill>
                <a:latin typeface="Poppins Bold"/>
                <a:ea typeface="Poppins Bold"/>
                <a:cs typeface="Poppins Bold"/>
                <a:sym typeface="Poppins Bold"/>
              </a:rPr>
              <a:t>Bank A</a:t>
            </a:r>
          </a:p>
        </p:txBody>
      </p:sp>
      <p:sp>
        <p:nvSpPr>
          <p:cNvPr name="TextBox 194" id="194"/>
          <p:cNvSpPr txBox="true"/>
          <p:nvPr/>
        </p:nvSpPr>
        <p:spPr>
          <a:xfrm rot="0">
            <a:off x="14859000" y="6924675"/>
            <a:ext cx="2667000" cy="483870"/>
          </a:xfrm>
          <a:prstGeom prst="rect">
            <a:avLst/>
          </a:prstGeom>
        </p:spPr>
        <p:txBody>
          <a:bodyPr anchor="t" rtlCol="false" tIns="0" lIns="0" bIns="0" rIns="0">
            <a:spAutoFit/>
          </a:bodyPr>
          <a:lstStyle/>
          <a:p>
            <a:pPr algn="ctr">
              <a:lnSpc>
                <a:spcPts val="3779"/>
              </a:lnSpc>
            </a:pPr>
            <a:r>
              <a:rPr lang="en-US" sz="2700" b="true">
                <a:solidFill>
                  <a:srgbClr val="70A1BD"/>
                </a:solidFill>
                <a:latin typeface="Poppins Bold"/>
                <a:ea typeface="Poppins Bold"/>
                <a:cs typeface="Poppins Bold"/>
                <a:sym typeface="Poppins Bold"/>
              </a:rPr>
              <a:t>Bank B</a:t>
            </a:r>
          </a:p>
        </p:txBody>
      </p:sp>
      <p:sp>
        <p:nvSpPr>
          <p:cNvPr name="TextBox 195" id="195"/>
          <p:cNvSpPr txBox="true"/>
          <p:nvPr/>
        </p:nvSpPr>
        <p:spPr>
          <a:xfrm rot="0">
            <a:off x="13335000" y="3409950"/>
            <a:ext cx="1524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pain.001</a:t>
            </a:r>
          </a:p>
        </p:txBody>
      </p:sp>
      <p:sp>
        <p:nvSpPr>
          <p:cNvPr name="TextBox 196" id="196"/>
          <p:cNvSpPr txBox="true"/>
          <p:nvPr/>
        </p:nvSpPr>
        <p:spPr>
          <a:xfrm rot="0">
            <a:off x="13335000" y="4457700"/>
            <a:ext cx="1524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pain.002</a:t>
            </a:r>
          </a:p>
        </p:txBody>
      </p:sp>
      <p:sp>
        <p:nvSpPr>
          <p:cNvPr name="TextBox 197" id="197"/>
          <p:cNvSpPr txBox="true"/>
          <p:nvPr/>
        </p:nvSpPr>
        <p:spPr>
          <a:xfrm rot="0">
            <a:off x="13335000" y="6457950"/>
            <a:ext cx="1524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pain.001 </a:t>
            </a:r>
          </a:p>
        </p:txBody>
      </p:sp>
      <p:sp>
        <p:nvSpPr>
          <p:cNvPr name="TextBox 198" id="198"/>
          <p:cNvSpPr txBox="true"/>
          <p:nvPr/>
        </p:nvSpPr>
        <p:spPr>
          <a:xfrm rot="0">
            <a:off x="13335000" y="7505700"/>
            <a:ext cx="1524000" cy="241935"/>
          </a:xfrm>
          <a:prstGeom prst="rect">
            <a:avLst/>
          </a:prstGeom>
        </p:spPr>
        <p:txBody>
          <a:bodyPr anchor="t" rtlCol="false" tIns="0" lIns="0" bIns="0" rIns="0">
            <a:spAutoFit/>
          </a:bodyPr>
          <a:lstStyle/>
          <a:p>
            <a:pPr algn="ctr">
              <a:lnSpc>
                <a:spcPts val="1889"/>
              </a:lnSpc>
            </a:pPr>
            <a:r>
              <a:rPr lang="en-US" sz="1350">
                <a:solidFill>
                  <a:srgbClr val="EFF1E8"/>
                </a:solidFill>
                <a:latin typeface="Poppins"/>
                <a:ea typeface="Poppins"/>
                <a:cs typeface="Poppins"/>
                <a:sym typeface="Poppins"/>
              </a:rPr>
              <a:t>pain.002 </a:t>
            </a:r>
          </a:p>
        </p:txBody>
      </p:sp>
      <p:sp>
        <p:nvSpPr>
          <p:cNvPr name="TextBox 199" id="199"/>
          <p:cNvSpPr txBox="true"/>
          <p:nvPr/>
        </p:nvSpPr>
        <p:spPr>
          <a:xfrm rot="0">
            <a:off x="15097125" y="4181475"/>
            <a:ext cx="2190750" cy="376237"/>
          </a:xfrm>
          <a:prstGeom prst="rect">
            <a:avLst/>
          </a:prstGeom>
        </p:spPr>
        <p:txBody>
          <a:bodyPr anchor="t" rtlCol="false" tIns="0" lIns="0" bIns="0" rIns="0">
            <a:spAutoFit/>
          </a:bodyPr>
          <a:lstStyle/>
          <a:p>
            <a:pPr algn="ctr">
              <a:lnSpc>
                <a:spcPts val="1462"/>
              </a:lnSpc>
            </a:pPr>
            <a:r>
              <a:rPr lang="en-US" sz="1125">
                <a:solidFill>
                  <a:srgbClr val="70A1BD"/>
                </a:solidFill>
                <a:latin typeface="Poppins"/>
                <a:ea typeface="Poppins"/>
                <a:cs typeface="Poppins"/>
                <a:sym typeface="Poppins"/>
              </a:rPr>
              <a:t>All payments are initiated using Bank A</a:t>
            </a:r>
          </a:p>
        </p:txBody>
      </p:sp>
      <p:sp>
        <p:nvSpPr>
          <p:cNvPr name="TextBox 200" id="200"/>
          <p:cNvSpPr txBox="true"/>
          <p:nvPr/>
        </p:nvSpPr>
        <p:spPr>
          <a:xfrm rot="0">
            <a:off x="14763750" y="7886700"/>
            <a:ext cx="2857500" cy="477203"/>
          </a:xfrm>
          <a:prstGeom prst="rect">
            <a:avLst/>
          </a:prstGeom>
        </p:spPr>
        <p:txBody>
          <a:bodyPr anchor="t" rtlCol="false" tIns="0" lIns="0" bIns="0" rIns="0">
            <a:spAutoFit/>
          </a:bodyPr>
          <a:lstStyle/>
          <a:p>
            <a:pPr algn="ctr">
              <a:lnSpc>
                <a:spcPts val="1852"/>
              </a:lnSpc>
            </a:pPr>
            <a:r>
              <a:rPr lang="en-US" sz="1425">
                <a:solidFill>
                  <a:srgbClr val="EFF1E8"/>
                </a:solidFill>
                <a:latin typeface="Poppins"/>
                <a:ea typeface="Poppins"/>
                <a:cs typeface="Poppins"/>
                <a:sym typeface="Poppins"/>
              </a:rPr>
              <a:t>Only transfers from Bank B to Bank A are initiated in Bank B</a:t>
            </a:r>
          </a:p>
        </p:txBody>
      </p:sp>
      <p:grpSp>
        <p:nvGrpSpPr>
          <p:cNvPr name="Group 201" id="201"/>
          <p:cNvGrpSpPr/>
          <p:nvPr/>
        </p:nvGrpSpPr>
        <p:grpSpPr>
          <a:xfrm rot="0">
            <a:off x="762000" y="2381250"/>
            <a:ext cx="285750" cy="285750"/>
            <a:chOff x="0" y="0"/>
            <a:chExt cx="381000" cy="381000"/>
          </a:xfrm>
        </p:grpSpPr>
        <p:sp>
          <p:nvSpPr>
            <p:cNvPr name="Freeform 202" id="202"/>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EFF1E8"/>
            </a:solidFill>
          </p:spPr>
        </p:sp>
        <p:sp>
          <p:nvSpPr>
            <p:cNvPr name="TextBox 203" id="203"/>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grpSp>
        <p:nvGrpSpPr>
          <p:cNvPr name="Group 204" id="204"/>
          <p:cNvGrpSpPr/>
          <p:nvPr/>
        </p:nvGrpSpPr>
        <p:grpSpPr>
          <a:xfrm rot="0">
            <a:off x="5353050" y="4514850"/>
            <a:ext cx="285750" cy="285750"/>
            <a:chOff x="0" y="0"/>
            <a:chExt cx="381000" cy="381000"/>
          </a:xfrm>
        </p:grpSpPr>
        <p:sp>
          <p:nvSpPr>
            <p:cNvPr name="Freeform 205" id="205"/>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EFF1E8"/>
            </a:solidFill>
          </p:spPr>
        </p:sp>
        <p:sp>
          <p:nvSpPr>
            <p:cNvPr name="TextBox 206" id="206"/>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grpSp>
        <p:nvGrpSpPr>
          <p:cNvPr name="Group 207" id="207"/>
          <p:cNvGrpSpPr/>
          <p:nvPr/>
        </p:nvGrpSpPr>
        <p:grpSpPr>
          <a:xfrm rot="0">
            <a:off x="10429875" y="4267200"/>
            <a:ext cx="285750" cy="285750"/>
            <a:chOff x="0" y="0"/>
            <a:chExt cx="381000" cy="381000"/>
          </a:xfrm>
        </p:grpSpPr>
        <p:sp>
          <p:nvSpPr>
            <p:cNvPr name="Freeform 208" id="208"/>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70A1BD"/>
            </a:solidFill>
          </p:spPr>
        </p:sp>
        <p:sp>
          <p:nvSpPr>
            <p:cNvPr name="TextBox 209" id="209"/>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grpSp>
        <p:nvGrpSpPr>
          <p:cNvPr name="Group 210" id="210"/>
          <p:cNvGrpSpPr/>
          <p:nvPr/>
        </p:nvGrpSpPr>
        <p:grpSpPr>
          <a:xfrm rot="0">
            <a:off x="10429875" y="5886450"/>
            <a:ext cx="285750" cy="285750"/>
            <a:chOff x="0" y="0"/>
            <a:chExt cx="381000" cy="381000"/>
          </a:xfrm>
        </p:grpSpPr>
        <p:sp>
          <p:nvSpPr>
            <p:cNvPr name="Freeform 211" id="211"/>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70A1BD"/>
            </a:solidFill>
          </p:spPr>
        </p:sp>
        <p:sp>
          <p:nvSpPr>
            <p:cNvPr name="TextBox 212" id="212"/>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grpSp>
        <p:nvGrpSpPr>
          <p:cNvPr name="Group 213" id="213"/>
          <p:cNvGrpSpPr/>
          <p:nvPr/>
        </p:nvGrpSpPr>
        <p:grpSpPr>
          <a:xfrm rot="0">
            <a:off x="13411200" y="3400425"/>
            <a:ext cx="285750" cy="285750"/>
            <a:chOff x="0" y="0"/>
            <a:chExt cx="381000" cy="381000"/>
          </a:xfrm>
        </p:grpSpPr>
        <p:sp>
          <p:nvSpPr>
            <p:cNvPr name="Freeform 214" id="214"/>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EFF1E8"/>
            </a:solidFill>
          </p:spPr>
        </p:sp>
        <p:sp>
          <p:nvSpPr>
            <p:cNvPr name="TextBox 215" id="215"/>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grpSp>
        <p:nvGrpSpPr>
          <p:cNvPr name="Group 216" id="216"/>
          <p:cNvGrpSpPr/>
          <p:nvPr/>
        </p:nvGrpSpPr>
        <p:grpSpPr>
          <a:xfrm rot="0">
            <a:off x="13411200" y="6448425"/>
            <a:ext cx="285750" cy="285750"/>
            <a:chOff x="0" y="0"/>
            <a:chExt cx="381000" cy="381000"/>
          </a:xfrm>
        </p:grpSpPr>
        <p:sp>
          <p:nvSpPr>
            <p:cNvPr name="Freeform 217" id="217"/>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EFF1E8"/>
            </a:solidFill>
          </p:spPr>
        </p:sp>
        <p:sp>
          <p:nvSpPr>
            <p:cNvPr name="TextBox 218" id="218"/>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grpSp>
        <p:nvGrpSpPr>
          <p:cNvPr name="Group 219" id="219"/>
          <p:cNvGrpSpPr/>
          <p:nvPr/>
        </p:nvGrpSpPr>
        <p:grpSpPr>
          <a:xfrm rot="0">
            <a:off x="15449550" y="3162300"/>
            <a:ext cx="285750" cy="285750"/>
            <a:chOff x="0" y="0"/>
            <a:chExt cx="381000" cy="381000"/>
          </a:xfrm>
        </p:grpSpPr>
        <p:sp>
          <p:nvSpPr>
            <p:cNvPr name="Freeform 220" id="220"/>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EFF1E8"/>
            </a:solidFill>
          </p:spPr>
        </p:sp>
        <p:sp>
          <p:nvSpPr>
            <p:cNvPr name="TextBox 221" id="221"/>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sp>
        <p:nvSpPr>
          <p:cNvPr name="TextBox 222" id="222"/>
          <p:cNvSpPr txBox="true"/>
          <p:nvPr/>
        </p:nvSpPr>
        <p:spPr>
          <a:xfrm rot="0">
            <a:off x="762000" y="2390775"/>
            <a:ext cx="285750" cy="207645"/>
          </a:xfrm>
          <a:prstGeom prst="rect">
            <a:avLst/>
          </a:prstGeom>
        </p:spPr>
        <p:txBody>
          <a:bodyPr anchor="t" rtlCol="false" tIns="0" lIns="0" bIns="0" rIns="0">
            <a:spAutoFit/>
          </a:bodyPr>
          <a:lstStyle/>
          <a:p>
            <a:pPr algn="ctr">
              <a:lnSpc>
                <a:spcPts val="1679"/>
              </a:lnSpc>
            </a:pPr>
            <a:r>
              <a:rPr lang="en-US" sz="1200" b="true">
                <a:solidFill>
                  <a:srgbClr val="70A1BD"/>
                </a:solidFill>
                <a:latin typeface="Poppins Bold"/>
                <a:ea typeface="Poppins Bold"/>
                <a:cs typeface="Poppins Bold"/>
                <a:sym typeface="Poppins Bold"/>
              </a:rPr>
              <a:t>1</a:t>
            </a:r>
          </a:p>
        </p:txBody>
      </p:sp>
      <p:sp>
        <p:nvSpPr>
          <p:cNvPr name="TextBox 223" id="223"/>
          <p:cNvSpPr txBox="true"/>
          <p:nvPr/>
        </p:nvSpPr>
        <p:spPr>
          <a:xfrm rot="0">
            <a:off x="5353050" y="4524375"/>
            <a:ext cx="285750" cy="207645"/>
          </a:xfrm>
          <a:prstGeom prst="rect">
            <a:avLst/>
          </a:prstGeom>
        </p:spPr>
        <p:txBody>
          <a:bodyPr anchor="t" rtlCol="false" tIns="0" lIns="0" bIns="0" rIns="0">
            <a:spAutoFit/>
          </a:bodyPr>
          <a:lstStyle/>
          <a:p>
            <a:pPr algn="ctr">
              <a:lnSpc>
                <a:spcPts val="1679"/>
              </a:lnSpc>
            </a:pPr>
            <a:r>
              <a:rPr lang="en-US" sz="1200" b="true">
                <a:solidFill>
                  <a:srgbClr val="70A1BD"/>
                </a:solidFill>
                <a:latin typeface="Poppins Bold"/>
                <a:ea typeface="Poppins Bold"/>
                <a:cs typeface="Poppins Bold"/>
                <a:sym typeface="Poppins Bold"/>
              </a:rPr>
              <a:t>2</a:t>
            </a:r>
          </a:p>
        </p:txBody>
      </p:sp>
      <p:sp>
        <p:nvSpPr>
          <p:cNvPr name="TextBox 224" id="224"/>
          <p:cNvSpPr txBox="true"/>
          <p:nvPr/>
        </p:nvSpPr>
        <p:spPr>
          <a:xfrm rot="0">
            <a:off x="10429875" y="4276725"/>
            <a:ext cx="285750" cy="207645"/>
          </a:xfrm>
          <a:prstGeom prst="rect">
            <a:avLst/>
          </a:prstGeom>
        </p:spPr>
        <p:txBody>
          <a:bodyPr anchor="t" rtlCol="false" tIns="0" lIns="0" bIns="0" rIns="0">
            <a:spAutoFit/>
          </a:bodyPr>
          <a:lstStyle/>
          <a:p>
            <a:pPr algn="ctr">
              <a:lnSpc>
                <a:spcPts val="1679"/>
              </a:lnSpc>
            </a:pPr>
            <a:r>
              <a:rPr lang="en-US" sz="1200" b="true">
                <a:solidFill>
                  <a:srgbClr val="EFF1E8"/>
                </a:solidFill>
                <a:latin typeface="Poppins Bold"/>
                <a:ea typeface="Poppins Bold"/>
                <a:cs typeface="Poppins Bold"/>
                <a:sym typeface="Poppins Bold"/>
              </a:rPr>
              <a:t>3</a:t>
            </a:r>
          </a:p>
        </p:txBody>
      </p:sp>
      <p:sp>
        <p:nvSpPr>
          <p:cNvPr name="TextBox 225" id="225"/>
          <p:cNvSpPr txBox="true"/>
          <p:nvPr/>
        </p:nvSpPr>
        <p:spPr>
          <a:xfrm rot="0">
            <a:off x="10429875" y="5895975"/>
            <a:ext cx="285750" cy="207645"/>
          </a:xfrm>
          <a:prstGeom prst="rect">
            <a:avLst/>
          </a:prstGeom>
        </p:spPr>
        <p:txBody>
          <a:bodyPr anchor="t" rtlCol="false" tIns="0" lIns="0" bIns="0" rIns="0">
            <a:spAutoFit/>
          </a:bodyPr>
          <a:lstStyle/>
          <a:p>
            <a:pPr algn="ctr">
              <a:lnSpc>
                <a:spcPts val="1679"/>
              </a:lnSpc>
            </a:pPr>
            <a:r>
              <a:rPr lang="en-US" sz="1200" b="true">
                <a:solidFill>
                  <a:srgbClr val="EFF1E8"/>
                </a:solidFill>
                <a:latin typeface="Poppins Bold"/>
                <a:ea typeface="Poppins Bold"/>
                <a:cs typeface="Poppins Bold"/>
                <a:sym typeface="Poppins Bold"/>
              </a:rPr>
              <a:t>3</a:t>
            </a:r>
          </a:p>
        </p:txBody>
      </p:sp>
      <p:sp>
        <p:nvSpPr>
          <p:cNvPr name="TextBox 226" id="226"/>
          <p:cNvSpPr txBox="true"/>
          <p:nvPr/>
        </p:nvSpPr>
        <p:spPr>
          <a:xfrm rot="0">
            <a:off x="13411200" y="3409950"/>
            <a:ext cx="285750" cy="207645"/>
          </a:xfrm>
          <a:prstGeom prst="rect">
            <a:avLst/>
          </a:prstGeom>
        </p:spPr>
        <p:txBody>
          <a:bodyPr anchor="t" rtlCol="false" tIns="0" lIns="0" bIns="0" rIns="0">
            <a:spAutoFit/>
          </a:bodyPr>
          <a:lstStyle/>
          <a:p>
            <a:pPr algn="ctr" marL="0" indent="0" lvl="0">
              <a:lnSpc>
                <a:spcPts val="1679"/>
              </a:lnSpc>
              <a:spcBef>
                <a:spcPct val="0"/>
              </a:spcBef>
            </a:pPr>
            <a:r>
              <a:rPr lang="en-US" b="true" sz="1200" strike="noStrike" u="none">
                <a:solidFill>
                  <a:srgbClr val="70A1BD"/>
                </a:solidFill>
                <a:latin typeface="Poppins Bold"/>
                <a:ea typeface="Poppins Bold"/>
                <a:cs typeface="Poppins Bold"/>
                <a:sym typeface="Poppins Bold"/>
              </a:rPr>
              <a:t>5</a:t>
            </a:r>
          </a:p>
        </p:txBody>
      </p:sp>
      <p:sp>
        <p:nvSpPr>
          <p:cNvPr name="TextBox 227" id="227"/>
          <p:cNvSpPr txBox="true"/>
          <p:nvPr/>
        </p:nvSpPr>
        <p:spPr>
          <a:xfrm rot="0">
            <a:off x="13411200" y="6457950"/>
            <a:ext cx="285750" cy="207645"/>
          </a:xfrm>
          <a:prstGeom prst="rect">
            <a:avLst/>
          </a:prstGeom>
        </p:spPr>
        <p:txBody>
          <a:bodyPr anchor="t" rtlCol="false" tIns="0" lIns="0" bIns="0" rIns="0">
            <a:spAutoFit/>
          </a:bodyPr>
          <a:lstStyle/>
          <a:p>
            <a:pPr algn="ctr" marL="0" indent="0" lvl="0">
              <a:lnSpc>
                <a:spcPts val="1679"/>
              </a:lnSpc>
              <a:spcBef>
                <a:spcPct val="0"/>
              </a:spcBef>
            </a:pPr>
            <a:r>
              <a:rPr lang="en-US" b="true" sz="1200" strike="noStrike" u="none">
                <a:solidFill>
                  <a:srgbClr val="70A1BD"/>
                </a:solidFill>
                <a:latin typeface="Poppins Bold"/>
                <a:ea typeface="Poppins Bold"/>
                <a:cs typeface="Poppins Bold"/>
                <a:sym typeface="Poppins Bold"/>
              </a:rPr>
              <a:t>5</a:t>
            </a:r>
          </a:p>
        </p:txBody>
      </p:sp>
      <p:sp>
        <p:nvSpPr>
          <p:cNvPr name="TextBox 228" id="228"/>
          <p:cNvSpPr txBox="true"/>
          <p:nvPr/>
        </p:nvSpPr>
        <p:spPr>
          <a:xfrm rot="0">
            <a:off x="15449550" y="3171825"/>
            <a:ext cx="285750" cy="207645"/>
          </a:xfrm>
          <a:prstGeom prst="rect">
            <a:avLst/>
          </a:prstGeom>
        </p:spPr>
        <p:txBody>
          <a:bodyPr anchor="t" rtlCol="false" tIns="0" lIns="0" bIns="0" rIns="0">
            <a:spAutoFit/>
          </a:bodyPr>
          <a:lstStyle/>
          <a:p>
            <a:pPr algn="ctr" marL="0" indent="0" lvl="0">
              <a:lnSpc>
                <a:spcPts val="1679"/>
              </a:lnSpc>
              <a:spcBef>
                <a:spcPct val="0"/>
              </a:spcBef>
            </a:pPr>
            <a:r>
              <a:rPr lang="en-US" b="true" sz="1200" strike="noStrike" u="none">
                <a:solidFill>
                  <a:srgbClr val="70A1BD"/>
                </a:solidFill>
                <a:latin typeface="Poppins Bold"/>
                <a:ea typeface="Poppins Bold"/>
                <a:cs typeface="Poppins Bold"/>
                <a:sym typeface="Poppins Bold"/>
              </a:rPr>
              <a:t>6</a:t>
            </a:r>
          </a:p>
        </p:txBody>
      </p:sp>
      <p:sp>
        <p:nvSpPr>
          <p:cNvPr name="TextBox 229" id="229"/>
          <p:cNvSpPr txBox="true"/>
          <p:nvPr/>
        </p:nvSpPr>
        <p:spPr>
          <a:xfrm rot="0">
            <a:off x="1143000" y="2352675"/>
            <a:ext cx="2000250" cy="291465"/>
          </a:xfrm>
          <a:prstGeom prst="rect">
            <a:avLst/>
          </a:prstGeom>
        </p:spPr>
        <p:txBody>
          <a:bodyPr anchor="t" rtlCol="false" tIns="0" lIns="0" bIns="0" rIns="0">
            <a:spAutoFit/>
          </a:bodyPr>
          <a:lstStyle/>
          <a:p>
            <a:pPr algn="l">
              <a:lnSpc>
                <a:spcPts val="2310"/>
              </a:lnSpc>
            </a:pPr>
            <a:r>
              <a:rPr lang="en-US" sz="1650" b="true">
                <a:solidFill>
                  <a:srgbClr val="EFF1E8"/>
                </a:solidFill>
                <a:latin typeface="Poppins Bold"/>
                <a:ea typeface="Poppins Bold"/>
                <a:cs typeface="Poppins Bold"/>
                <a:sym typeface="Poppins Bold"/>
              </a:rPr>
              <a:t>Who instructs</a:t>
            </a:r>
          </a:p>
        </p:txBody>
      </p:sp>
      <p:sp>
        <p:nvSpPr>
          <p:cNvPr name="TextBox 230" id="230"/>
          <p:cNvSpPr txBox="true"/>
          <p:nvPr/>
        </p:nvSpPr>
        <p:spPr>
          <a:xfrm rot="0">
            <a:off x="14478000" y="1933575"/>
            <a:ext cx="3429000" cy="291465"/>
          </a:xfrm>
          <a:prstGeom prst="rect">
            <a:avLst/>
          </a:prstGeom>
        </p:spPr>
        <p:txBody>
          <a:bodyPr anchor="t" rtlCol="false" tIns="0" lIns="0" bIns="0" rIns="0">
            <a:spAutoFit/>
          </a:bodyPr>
          <a:lstStyle/>
          <a:p>
            <a:pPr algn="ctr">
              <a:lnSpc>
                <a:spcPts val="2310"/>
              </a:lnSpc>
            </a:pPr>
            <a:r>
              <a:rPr lang="en-US" sz="1650" b="true">
                <a:solidFill>
                  <a:srgbClr val="EFF1E8"/>
                </a:solidFill>
                <a:latin typeface="Poppins Bold"/>
                <a:ea typeface="Poppins Bold"/>
                <a:cs typeface="Poppins Bold"/>
                <a:sym typeface="Poppins Bold"/>
              </a:rPr>
              <a:t>Who receives</a:t>
            </a:r>
          </a:p>
        </p:txBody>
      </p:sp>
      <p:sp>
        <p:nvSpPr>
          <p:cNvPr name="TextBox 231" id="231"/>
          <p:cNvSpPr txBox="true"/>
          <p:nvPr/>
        </p:nvSpPr>
        <p:spPr>
          <a:xfrm rot="0">
            <a:off x="13335000" y="3648075"/>
            <a:ext cx="1524000" cy="209550"/>
          </a:xfrm>
          <a:prstGeom prst="rect">
            <a:avLst/>
          </a:prstGeom>
        </p:spPr>
        <p:txBody>
          <a:bodyPr anchor="t" rtlCol="false" tIns="0" lIns="0" bIns="0" rIns="0">
            <a:spAutoFit/>
          </a:bodyPr>
          <a:lstStyle/>
          <a:p>
            <a:pPr algn="ctr">
              <a:lnSpc>
                <a:spcPts val="1574"/>
              </a:lnSpc>
            </a:pPr>
            <a:r>
              <a:rPr lang="en-US" sz="1125">
                <a:solidFill>
                  <a:srgbClr val="EFF1E8"/>
                </a:solidFill>
                <a:latin typeface="Poppins"/>
                <a:ea typeface="Poppins"/>
                <a:cs typeface="Poppins"/>
                <a:sym typeface="Poppins"/>
              </a:rPr>
              <a:t>payment instruction</a:t>
            </a:r>
          </a:p>
        </p:txBody>
      </p:sp>
      <p:sp>
        <p:nvSpPr>
          <p:cNvPr name="TextBox 232" id="232"/>
          <p:cNvSpPr txBox="true"/>
          <p:nvPr/>
        </p:nvSpPr>
        <p:spPr>
          <a:xfrm rot="0">
            <a:off x="13335000" y="4686300"/>
            <a:ext cx="1524000" cy="209550"/>
          </a:xfrm>
          <a:prstGeom prst="rect">
            <a:avLst/>
          </a:prstGeom>
        </p:spPr>
        <p:txBody>
          <a:bodyPr anchor="t" rtlCol="false" tIns="0" lIns="0" bIns="0" rIns="0">
            <a:spAutoFit/>
          </a:bodyPr>
          <a:lstStyle/>
          <a:p>
            <a:pPr algn="ctr">
              <a:lnSpc>
                <a:spcPts val="1574"/>
              </a:lnSpc>
            </a:pPr>
            <a:r>
              <a:rPr lang="en-US" sz="1125">
                <a:solidFill>
                  <a:srgbClr val="EFF1E8"/>
                </a:solidFill>
                <a:latin typeface="Poppins"/>
                <a:ea typeface="Poppins"/>
                <a:cs typeface="Poppins"/>
                <a:sym typeface="Poppins"/>
              </a:rPr>
              <a:t>status feedback</a:t>
            </a:r>
          </a:p>
        </p:txBody>
      </p:sp>
      <p:sp>
        <p:nvSpPr>
          <p:cNvPr name="TextBox 233" id="233"/>
          <p:cNvSpPr txBox="true"/>
          <p:nvPr/>
        </p:nvSpPr>
        <p:spPr>
          <a:xfrm rot="0">
            <a:off x="13335000" y="6696075"/>
            <a:ext cx="1524000" cy="209550"/>
          </a:xfrm>
          <a:prstGeom prst="rect">
            <a:avLst/>
          </a:prstGeom>
        </p:spPr>
        <p:txBody>
          <a:bodyPr anchor="t" rtlCol="false" tIns="0" lIns="0" bIns="0" rIns="0">
            <a:spAutoFit/>
          </a:bodyPr>
          <a:lstStyle/>
          <a:p>
            <a:pPr algn="ctr">
              <a:lnSpc>
                <a:spcPts val="1574"/>
              </a:lnSpc>
            </a:pPr>
            <a:r>
              <a:rPr lang="en-US" sz="1125">
                <a:solidFill>
                  <a:srgbClr val="EFF1E8"/>
                </a:solidFill>
                <a:latin typeface="Poppins"/>
                <a:ea typeface="Poppins"/>
                <a:cs typeface="Poppins"/>
                <a:sym typeface="Poppins"/>
              </a:rPr>
              <a:t>payment instruction</a:t>
            </a:r>
          </a:p>
        </p:txBody>
      </p:sp>
      <p:sp>
        <p:nvSpPr>
          <p:cNvPr name="TextBox 234" id="234"/>
          <p:cNvSpPr txBox="true"/>
          <p:nvPr/>
        </p:nvSpPr>
        <p:spPr>
          <a:xfrm rot="0">
            <a:off x="13335000" y="7734300"/>
            <a:ext cx="1524000" cy="209550"/>
          </a:xfrm>
          <a:prstGeom prst="rect">
            <a:avLst/>
          </a:prstGeom>
        </p:spPr>
        <p:txBody>
          <a:bodyPr anchor="t" rtlCol="false" tIns="0" lIns="0" bIns="0" rIns="0">
            <a:spAutoFit/>
          </a:bodyPr>
          <a:lstStyle/>
          <a:p>
            <a:pPr algn="ctr">
              <a:lnSpc>
                <a:spcPts val="1574"/>
              </a:lnSpc>
            </a:pPr>
            <a:r>
              <a:rPr lang="en-US" sz="1125">
                <a:solidFill>
                  <a:srgbClr val="EFF1E8"/>
                </a:solidFill>
                <a:latin typeface="Poppins"/>
                <a:ea typeface="Poppins"/>
                <a:cs typeface="Poppins"/>
                <a:sym typeface="Poppins"/>
              </a:rPr>
              <a:t>status feedback</a:t>
            </a:r>
          </a:p>
        </p:txBody>
      </p:sp>
      <p:sp>
        <p:nvSpPr>
          <p:cNvPr name="TextBox 235" id="235"/>
          <p:cNvSpPr txBox="true"/>
          <p:nvPr/>
        </p:nvSpPr>
        <p:spPr>
          <a:xfrm rot="0">
            <a:off x="1047750" y="9505950"/>
            <a:ext cx="12763500" cy="291465"/>
          </a:xfrm>
          <a:prstGeom prst="rect">
            <a:avLst/>
          </a:prstGeom>
        </p:spPr>
        <p:txBody>
          <a:bodyPr anchor="t" rtlCol="false" tIns="0" lIns="0" bIns="0" rIns="0">
            <a:spAutoFit/>
          </a:bodyPr>
          <a:lstStyle/>
          <a:p>
            <a:pPr algn="ctr" marL="0" indent="0" lvl="0">
              <a:lnSpc>
                <a:spcPts val="2310"/>
              </a:lnSpc>
              <a:spcBef>
                <a:spcPct val="0"/>
              </a:spcBef>
            </a:pPr>
            <a:r>
              <a:rPr lang="en-US" b="true" sz="1650" strike="noStrike" u="none">
                <a:solidFill>
                  <a:srgbClr val="EFF1E8"/>
                </a:solidFill>
                <a:latin typeface="Poppins Bold"/>
                <a:ea typeface="Poppins Bold"/>
                <a:cs typeface="Poppins Bold"/>
                <a:sym typeface="Poppins Bold"/>
              </a:rPr>
              <a:t>1 Instruct    →    2 Netting    →    3 Release to Payments    →    4 Approve    →    5 Send to bank    →    6 Bank pays</a:t>
            </a:r>
          </a:p>
        </p:txBody>
      </p:sp>
      <p:grpSp>
        <p:nvGrpSpPr>
          <p:cNvPr name="Group 236" id="236"/>
          <p:cNvGrpSpPr/>
          <p:nvPr/>
        </p:nvGrpSpPr>
        <p:grpSpPr>
          <a:xfrm rot="0">
            <a:off x="14097000" y="8796338"/>
            <a:ext cx="400050" cy="28575"/>
            <a:chOff x="0" y="0"/>
            <a:chExt cx="533400" cy="38100"/>
          </a:xfrm>
        </p:grpSpPr>
        <p:sp>
          <p:nvSpPr>
            <p:cNvPr name="Freeform 237" id="237"/>
            <p:cNvSpPr/>
            <p:nvPr/>
          </p:nvSpPr>
          <p:spPr>
            <a:xfrm flipH="false" flipV="false" rot="0">
              <a:off x="0" y="0"/>
              <a:ext cx="533400" cy="38100"/>
            </a:xfrm>
            <a:custGeom>
              <a:avLst/>
              <a:gdLst/>
              <a:ahLst/>
              <a:cxnLst/>
              <a:rect r="r" b="b" t="t" l="l"/>
              <a:pathLst>
                <a:path h="38100" w="533400">
                  <a:moveTo>
                    <a:pt x="0" y="0"/>
                  </a:moveTo>
                  <a:lnTo>
                    <a:pt x="533400" y="0"/>
                  </a:lnTo>
                  <a:lnTo>
                    <a:pt x="533400" y="38100"/>
                  </a:lnTo>
                  <a:lnTo>
                    <a:pt x="0" y="38100"/>
                  </a:lnTo>
                  <a:close/>
                </a:path>
              </a:pathLst>
            </a:custGeom>
            <a:solidFill>
              <a:srgbClr val="EFF1E8"/>
            </a:solidFill>
          </p:spPr>
        </p:sp>
        <p:sp>
          <p:nvSpPr>
            <p:cNvPr name="TextBox 238" id="238"/>
            <p:cNvSpPr txBox="true"/>
            <p:nvPr/>
          </p:nvSpPr>
          <p:spPr>
            <a:xfrm>
              <a:off x="0" y="-28575"/>
              <a:ext cx="533400" cy="66675"/>
            </a:xfrm>
            <a:prstGeom prst="rect">
              <a:avLst/>
            </a:prstGeom>
          </p:spPr>
          <p:txBody>
            <a:bodyPr anchor="ctr" rtlCol="false" tIns="50800" lIns="50800" bIns="50800" rIns="50800"/>
            <a:lstStyle/>
            <a:p>
              <a:pPr algn="l">
                <a:lnSpc>
                  <a:spcPts val="1679"/>
                </a:lnSpc>
              </a:pPr>
            </a:p>
          </p:txBody>
        </p:sp>
      </p:grpSp>
      <p:grpSp>
        <p:nvGrpSpPr>
          <p:cNvPr name="Group 239" id="239"/>
          <p:cNvGrpSpPr/>
          <p:nvPr/>
        </p:nvGrpSpPr>
        <p:grpSpPr>
          <a:xfrm rot="0">
            <a:off x="14497050" y="8724900"/>
            <a:ext cx="171450" cy="171450"/>
            <a:chOff x="0" y="0"/>
            <a:chExt cx="228600" cy="228600"/>
          </a:xfrm>
        </p:grpSpPr>
        <p:sp>
          <p:nvSpPr>
            <p:cNvPr name="Freeform 240" id="240"/>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241" id="241"/>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242" id="242"/>
          <p:cNvGrpSpPr/>
          <p:nvPr/>
        </p:nvGrpSpPr>
        <p:grpSpPr>
          <a:xfrm rot="0">
            <a:off x="14097000" y="9129712"/>
            <a:ext cx="400050" cy="47625"/>
            <a:chOff x="0" y="0"/>
            <a:chExt cx="533400" cy="63500"/>
          </a:xfrm>
        </p:grpSpPr>
        <p:sp>
          <p:nvSpPr>
            <p:cNvPr name="Freeform 243" id="243"/>
            <p:cNvSpPr/>
            <p:nvPr/>
          </p:nvSpPr>
          <p:spPr>
            <a:xfrm flipH="false" flipV="false" rot="0">
              <a:off x="0" y="0"/>
              <a:ext cx="533400" cy="63500"/>
            </a:xfrm>
            <a:custGeom>
              <a:avLst/>
              <a:gdLst/>
              <a:ahLst/>
              <a:cxnLst/>
              <a:rect r="r" b="b" t="t" l="l"/>
              <a:pathLst>
                <a:path h="63500" w="533400">
                  <a:moveTo>
                    <a:pt x="0" y="0"/>
                  </a:moveTo>
                  <a:lnTo>
                    <a:pt x="121227" y="0"/>
                  </a:lnTo>
                  <a:lnTo>
                    <a:pt x="121227" y="63500"/>
                  </a:lnTo>
                  <a:lnTo>
                    <a:pt x="0" y="63500"/>
                  </a:lnTo>
                  <a:close/>
                  <a:moveTo>
                    <a:pt x="206086" y="0"/>
                  </a:moveTo>
                  <a:lnTo>
                    <a:pt x="327314" y="0"/>
                  </a:lnTo>
                  <a:lnTo>
                    <a:pt x="327314" y="63500"/>
                  </a:lnTo>
                  <a:lnTo>
                    <a:pt x="206086" y="63500"/>
                  </a:lnTo>
                  <a:close/>
                  <a:moveTo>
                    <a:pt x="412173" y="0"/>
                  </a:moveTo>
                  <a:lnTo>
                    <a:pt x="533400" y="0"/>
                  </a:lnTo>
                  <a:lnTo>
                    <a:pt x="533400" y="63500"/>
                  </a:lnTo>
                  <a:lnTo>
                    <a:pt x="412173" y="63500"/>
                  </a:lnTo>
                  <a:close/>
                </a:path>
              </a:pathLst>
            </a:custGeom>
            <a:solidFill>
              <a:srgbClr val="EFF1E8"/>
            </a:solidFill>
          </p:spPr>
        </p:sp>
        <p:sp>
          <p:nvSpPr>
            <p:cNvPr name="TextBox 244" id="244"/>
            <p:cNvSpPr txBox="true"/>
            <p:nvPr/>
          </p:nvSpPr>
          <p:spPr>
            <a:xfrm>
              <a:off x="0" y="-28575"/>
              <a:ext cx="533400" cy="92075"/>
            </a:xfrm>
            <a:prstGeom prst="rect">
              <a:avLst/>
            </a:prstGeom>
          </p:spPr>
          <p:txBody>
            <a:bodyPr anchor="ctr" rtlCol="false" tIns="50800" lIns="50800" bIns="50800" rIns="50800"/>
            <a:lstStyle/>
            <a:p>
              <a:pPr algn="l">
                <a:lnSpc>
                  <a:spcPts val="1679"/>
                </a:lnSpc>
              </a:pPr>
            </a:p>
          </p:txBody>
        </p:sp>
      </p:grpSp>
      <p:grpSp>
        <p:nvGrpSpPr>
          <p:cNvPr name="Group 245" id="245"/>
          <p:cNvGrpSpPr/>
          <p:nvPr/>
        </p:nvGrpSpPr>
        <p:grpSpPr>
          <a:xfrm rot="0">
            <a:off x="14497050" y="9058275"/>
            <a:ext cx="171450" cy="171450"/>
            <a:chOff x="0" y="0"/>
            <a:chExt cx="228600" cy="228600"/>
          </a:xfrm>
        </p:grpSpPr>
        <p:sp>
          <p:nvSpPr>
            <p:cNvPr name="Freeform 246" id="246"/>
            <p:cNvSpPr/>
            <p:nvPr/>
          </p:nvSpPr>
          <p:spPr>
            <a:xfrm flipH="false" flipV="false" rot="0">
              <a:off x="0" y="0"/>
              <a:ext cx="228600" cy="228600"/>
            </a:xfrm>
            <a:custGeom>
              <a:avLst/>
              <a:gdLst/>
              <a:ahLst/>
              <a:cxnLst/>
              <a:rect r="r" b="b" t="t" l="l"/>
              <a:pathLst>
                <a:path h="228600" w="228600">
                  <a:moveTo>
                    <a:pt x="0" y="0"/>
                  </a:moveTo>
                  <a:lnTo>
                    <a:pt x="228600" y="114300"/>
                  </a:lnTo>
                  <a:lnTo>
                    <a:pt x="0" y="228600"/>
                  </a:lnTo>
                  <a:close/>
                </a:path>
              </a:pathLst>
            </a:custGeom>
            <a:solidFill>
              <a:srgbClr val="EFF1E8"/>
            </a:solidFill>
          </p:spPr>
        </p:sp>
        <p:sp>
          <p:nvSpPr>
            <p:cNvPr name="TextBox 247" id="247"/>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sp>
        <p:nvSpPr>
          <p:cNvPr name="TextBox 248" id="248"/>
          <p:cNvSpPr txBox="true"/>
          <p:nvPr/>
        </p:nvSpPr>
        <p:spPr>
          <a:xfrm rot="0">
            <a:off x="14801850" y="8677275"/>
            <a:ext cx="3238500" cy="215265"/>
          </a:xfrm>
          <a:prstGeom prst="rect">
            <a:avLst/>
          </a:prstGeom>
        </p:spPr>
        <p:txBody>
          <a:bodyPr anchor="t" rtlCol="false" tIns="0" lIns="0" bIns="0" rIns="0">
            <a:spAutoFit/>
          </a:bodyPr>
          <a:lstStyle/>
          <a:p>
            <a:pPr algn="l">
              <a:lnSpc>
                <a:spcPts val="1784"/>
              </a:lnSpc>
            </a:pPr>
            <a:r>
              <a:rPr lang="en-US" sz="1275">
                <a:solidFill>
                  <a:srgbClr val="EFF1E8"/>
                </a:solidFill>
                <a:latin typeface="Poppins"/>
                <a:ea typeface="Poppins"/>
                <a:cs typeface="Poppins"/>
                <a:sym typeface="Poppins"/>
              </a:rPr>
              <a:t>Message between Kyriba and the bank</a:t>
            </a:r>
          </a:p>
        </p:txBody>
      </p:sp>
      <p:sp>
        <p:nvSpPr>
          <p:cNvPr name="TextBox 249" id="249"/>
          <p:cNvSpPr txBox="true"/>
          <p:nvPr/>
        </p:nvSpPr>
        <p:spPr>
          <a:xfrm rot="0">
            <a:off x="14801850" y="9010650"/>
            <a:ext cx="3238500" cy="215265"/>
          </a:xfrm>
          <a:prstGeom prst="rect">
            <a:avLst/>
          </a:prstGeom>
        </p:spPr>
        <p:txBody>
          <a:bodyPr anchor="t" rtlCol="false" tIns="0" lIns="0" bIns="0" rIns="0">
            <a:spAutoFit/>
          </a:bodyPr>
          <a:lstStyle/>
          <a:p>
            <a:pPr algn="l">
              <a:lnSpc>
                <a:spcPts val="1784"/>
              </a:lnSpc>
            </a:pPr>
            <a:r>
              <a:rPr lang="en-US" sz="1275" b="true">
                <a:solidFill>
                  <a:srgbClr val="EFF1E8"/>
                </a:solidFill>
                <a:latin typeface="Poppins Bold"/>
                <a:ea typeface="Poppins Bold"/>
                <a:cs typeface="Poppins Bold"/>
                <a:sym typeface="Poppins Bold"/>
              </a:rPr>
              <a:t>Real payment (money moves)</a:t>
            </a:r>
          </a:p>
        </p:txBody>
      </p:sp>
      <p:grpSp>
        <p:nvGrpSpPr>
          <p:cNvPr name="Group 250" id="250"/>
          <p:cNvGrpSpPr/>
          <p:nvPr/>
        </p:nvGrpSpPr>
        <p:grpSpPr>
          <a:xfrm rot="0">
            <a:off x="15892462" y="4762500"/>
            <a:ext cx="47625" cy="1733550"/>
            <a:chOff x="0" y="0"/>
            <a:chExt cx="63500" cy="2311400"/>
          </a:xfrm>
        </p:grpSpPr>
        <p:sp>
          <p:nvSpPr>
            <p:cNvPr name="Freeform 251" id="251"/>
            <p:cNvSpPr/>
            <p:nvPr/>
          </p:nvSpPr>
          <p:spPr>
            <a:xfrm flipH="false" flipV="false" rot="0">
              <a:off x="0" y="0"/>
              <a:ext cx="63500" cy="2311400"/>
            </a:xfrm>
            <a:custGeom>
              <a:avLst/>
              <a:gdLst/>
              <a:ahLst/>
              <a:cxnLst/>
              <a:rect r="r" b="b" t="t" l="l"/>
              <a:pathLst>
                <a:path h="2311400" w="63500">
                  <a:moveTo>
                    <a:pt x="0" y="0"/>
                  </a:moveTo>
                  <a:lnTo>
                    <a:pt x="63500" y="0"/>
                  </a:lnTo>
                  <a:lnTo>
                    <a:pt x="63500" y="128411"/>
                  </a:lnTo>
                  <a:lnTo>
                    <a:pt x="0" y="128411"/>
                  </a:lnTo>
                  <a:close/>
                  <a:moveTo>
                    <a:pt x="0" y="218299"/>
                  </a:moveTo>
                  <a:lnTo>
                    <a:pt x="63500" y="218299"/>
                  </a:lnTo>
                  <a:lnTo>
                    <a:pt x="63500" y="346710"/>
                  </a:lnTo>
                  <a:lnTo>
                    <a:pt x="0" y="346710"/>
                  </a:lnTo>
                  <a:close/>
                  <a:moveTo>
                    <a:pt x="0" y="436598"/>
                  </a:moveTo>
                  <a:lnTo>
                    <a:pt x="63500" y="436598"/>
                  </a:lnTo>
                  <a:lnTo>
                    <a:pt x="63500" y="565009"/>
                  </a:lnTo>
                  <a:lnTo>
                    <a:pt x="0" y="565009"/>
                  </a:lnTo>
                  <a:close/>
                  <a:moveTo>
                    <a:pt x="0" y="654897"/>
                  </a:moveTo>
                  <a:lnTo>
                    <a:pt x="63500" y="654897"/>
                  </a:lnTo>
                  <a:lnTo>
                    <a:pt x="63500" y="783308"/>
                  </a:lnTo>
                  <a:lnTo>
                    <a:pt x="0" y="783308"/>
                  </a:lnTo>
                  <a:close/>
                  <a:moveTo>
                    <a:pt x="0" y="873196"/>
                  </a:moveTo>
                  <a:lnTo>
                    <a:pt x="63500" y="873196"/>
                  </a:lnTo>
                  <a:lnTo>
                    <a:pt x="63500" y="1001607"/>
                  </a:lnTo>
                  <a:lnTo>
                    <a:pt x="0" y="1001607"/>
                  </a:lnTo>
                  <a:close/>
                  <a:moveTo>
                    <a:pt x="0" y="1091494"/>
                  </a:moveTo>
                  <a:lnTo>
                    <a:pt x="63500" y="1091494"/>
                  </a:lnTo>
                  <a:lnTo>
                    <a:pt x="63500" y="1219906"/>
                  </a:lnTo>
                  <a:lnTo>
                    <a:pt x="0" y="1219906"/>
                  </a:lnTo>
                  <a:close/>
                  <a:moveTo>
                    <a:pt x="0" y="1309793"/>
                  </a:moveTo>
                  <a:lnTo>
                    <a:pt x="63500" y="1309793"/>
                  </a:lnTo>
                  <a:lnTo>
                    <a:pt x="63500" y="1438204"/>
                  </a:lnTo>
                  <a:lnTo>
                    <a:pt x="0" y="1438204"/>
                  </a:lnTo>
                  <a:close/>
                  <a:moveTo>
                    <a:pt x="0" y="1528092"/>
                  </a:moveTo>
                  <a:lnTo>
                    <a:pt x="63500" y="1528092"/>
                  </a:lnTo>
                  <a:lnTo>
                    <a:pt x="63500" y="1656503"/>
                  </a:lnTo>
                  <a:lnTo>
                    <a:pt x="0" y="1656503"/>
                  </a:lnTo>
                  <a:close/>
                  <a:moveTo>
                    <a:pt x="0" y="1746391"/>
                  </a:moveTo>
                  <a:lnTo>
                    <a:pt x="63500" y="1746391"/>
                  </a:lnTo>
                  <a:lnTo>
                    <a:pt x="63500" y="1874802"/>
                  </a:lnTo>
                  <a:lnTo>
                    <a:pt x="0" y="1874802"/>
                  </a:lnTo>
                  <a:close/>
                  <a:moveTo>
                    <a:pt x="0" y="1964690"/>
                  </a:moveTo>
                  <a:lnTo>
                    <a:pt x="63500" y="1964690"/>
                  </a:lnTo>
                  <a:lnTo>
                    <a:pt x="63500" y="2093101"/>
                  </a:lnTo>
                  <a:lnTo>
                    <a:pt x="0" y="2093101"/>
                  </a:lnTo>
                  <a:close/>
                  <a:moveTo>
                    <a:pt x="0" y="2182989"/>
                  </a:moveTo>
                  <a:lnTo>
                    <a:pt x="63500" y="2182989"/>
                  </a:lnTo>
                  <a:lnTo>
                    <a:pt x="63500" y="2311400"/>
                  </a:lnTo>
                  <a:lnTo>
                    <a:pt x="0" y="2311400"/>
                  </a:lnTo>
                  <a:close/>
                </a:path>
              </a:pathLst>
            </a:custGeom>
            <a:solidFill>
              <a:srgbClr val="EFF1E8"/>
            </a:solidFill>
          </p:spPr>
        </p:sp>
        <p:sp>
          <p:nvSpPr>
            <p:cNvPr name="TextBox 252" id="252"/>
            <p:cNvSpPr txBox="true"/>
            <p:nvPr/>
          </p:nvSpPr>
          <p:spPr>
            <a:xfrm>
              <a:off x="0" y="-28575"/>
              <a:ext cx="63500" cy="2339975"/>
            </a:xfrm>
            <a:prstGeom prst="rect">
              <a:avLst/>
            </a:prstGeom>
          </p:spPr>
          <p:txBody>
            <a:bodyPr anchor="ctr" rtlCol="false" tIns="50800" lIns="50800" bIns="50800" rIns="50800"/>
            <a:lstStyle/>
            <a:p>
              <a:pPr algn="l">
                <a:lnSpc>
                  <a:spcPts val="1679"/>
                </a:lnSpc>
              </a:pPr>
            </a:p>
          </p:txBody>
        </p:sp>
      </p:grpSp>
      <p:grpSp>
        <p:nvGrpSpPr>
          <p:cNvPr name="Group 253" id="253"/>
          <p:cNvGrpSpPr/>
          <p:nvPr/>
        </p:nvGrpSpPr>
        <p:grpSpPr>
          <a:xfrm rot="0">
            <a:off x="15821025" y="6496050"/>
            <a:ext cx="171450" cy="171450"/>
            <a:chOff x="0" y="0"/>
            <a:chExt cx="228600" cy="228600"/>
          </a:xfrm>
        </p:grpSpPr>
        <p:sp>
          <p:nvSpPr>
            <p:cNvPr name="Freeform 254" id="254"/>
            <p:cNvSpPr/>
            <p:nvPr/>
          </p:nvSpPr>
          <p:spPr>
            <a:xfrm flipH="false" flipV="false" rot="0">
              <a:off x="0" y="0"/>
              <a:ext cx="228600" cy="228600"/>
            </a:xfrm>
            <a:custGeom>
              <a:avLst/>
              <a:gdLst/>
              <a:ahLst/>
              <a:cxnLst/>
              <a:rect r="r" b="b" t="t" l="l"/>
              <a:pathLst>
                <a:path h="228600" w="228600">
                  <a:moveTo>
                    <a:pt x="0" y="0"/>
                  </a:moveTo>
                  <a:lnTo>
                    <a:pt x="228600" y="0"/>
                  </a:lnTo>
                  <a:lnTo>
                    <a:pt x="114300" y="228600"/>
                  </a:lnTo>
                  <a:close/>
                </a:path>
              </a:pathLst>
            </a:custGeom>
            <a:solidFill>
              <a:srgbClr val="EFF1E8"/>
            </a:solidFill>
          </p:spPr>
        </p:sp>
        <p:sp>
          <p:nvSpPr>
            <p:cNvPr name="TextBox 255" id="255"/>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256" id="256"/>
          <p:cNvGrpSpPr/>
          <p:nvPr/>
        </p:nvGrpSpPr>
        <p:grpSpPr>
          <a:xfrm rot="0">
            <a:off x="16463962" y="4933950"/>
            <a:ext cx="47625" cy="1733550"/>
            <a:chOff x="0" y="0"/>
            <a:chExt cx="63500" cy="2311400"/>
          </a:xfrm>
        </p:grpSpPr>
        <p:sp>
          <p:nvSpPr>
            <p:cNvPr name="Freeform 257" id="257"/>
            <p:cNvSpPr/>
            <p:nvPr/>
          </p:nvSpPr>
          <p:spPr>
            <a:xfrm flipH="false" flipV="false" rot="0">
              <a:off x="0" y="0"/>
              <a:ext cx="63500" cy="2311400"/>
            </a:xfrm>
            <a:custGeom>
              <a:avLst/>
              <a:gdLst/>
              <a:ahLst/>
              <a:cxnLst/>
              <a:rect r="r" b="b" t="t" l="l"/>
              <a:pathLst>
                <a:path h="2311400" w="63500">
                  <a:moveTo>
                    <a:pt x="0" y="0"/>
                  </a:moveTo>
                  <a:lnTo>
                    <a:pt x="63500" y="0"/>
                  </a:lnTo>
                  <a:lnTo>
                    <a:pt x="63500" y="128411"/>
                  </a:lnTo>
                  <a:lnTo>
                    <a:pt x="0" y="128411"/>
                  </a:lnTo>
                  <a:close/>
                  <a:moveTo>
                    <a:pt x="0" y="218299"/>
                  </a:moveTo>
                  <a:lnTo>
                    <a:pt x="63500" y="218299"/>
                  </a:lnTo>
                  <a:lnTo>
                    <a:pt x="63500" y="346710"/>
                  </a:lnTo>
                  <a:lnTo>
                    <a:pt x="0" y="346710"/>
                  </a:lnTo>
                  <a:close/>
                  <a:moveTo>
                    <a:pt x="0" y="436598"/>
                  </a:moveTo>
                  <a:lnTo>
                    <a:pt x="63500" y="436598"/>
                  </a:lnTo>
                  <a:lnTo>
                    <a:pt x="63500" y="565009"/>
                  </a:lnTo>
                  <a:lnTo>
                    <a:pt x="0" y="565009"/>
                  </a:lnTo>
                  <a:close/>
                  <a:moveTo>
                    <a:pt x="0" y="654897"/>
                  </a:moveTo>
                  <a:lnTo>
                    <a:pt x="63500" y="654897"/>
                  </a:lnTo>
                  <a:lnTo>
                    <a:pt x="63500" y="783308"/>
                  </a:lnTo>
                  <a:lnTo>
                    <a:pt x="0" y="783308"/>
                  </a:lnTo>
                  <a:close/>
                  <a:moveTo>
                    <a:pt x="0" y="873196"/>
                  </a:moveTo>
                  <a:lnTo>
                    <a:pt x="63500" y="873196"/>
                  </a:lnTo>
                  <a:lnTo>
                    <a:pt x="63500" y="1001607"/>
                  </a:lnTo>
                  <a:lnTo>
                    <a:pt x="0" y="1001607"/>
                  </a:lnTo>
                  <a:close/>
                  <a:moveTo>
                    <a:pt x="0" y="1091494"/>
                  </a:moveTo>
                  <a:lnTo>
                    <a:pt x="63500" y="1091494"/>
                  </a:lnTo>
                  <a:lnTo>
                    <a:pt x="63500" y="1219906"/>
                  </a:lnTo>
                  <a:lnTo>
                    <a:pt x="0" y="1219906"/>
                  </a:lnTo>
                  <a:close/>
                  <a:moveTo>
                    <a:pt x="0" y="1309793"/>
                  </a:moveTo>
                  <a:lnTo>
                    <a:pt x="63500" y="1309793"/>
                  </a:lnTo>
                  <a:lnTo>
                    <a:pt x="63500" y="1438204"/>
                  </a:lnTo>
                  <a:lnTo>
                    <a:pt x="0" y="1438204"/>
                  </a:lnTo>
                  <a:close/>
                  <a:moveTo>
                    <a:pt x="0" y="1528092"/>
                  </a:moveTo>
                  <a:lnTo>
                    <a:pt x="63500" y="1528092"/>
                  </a:lnTo>
                  <a:lnTo>
                    <a:pt x="63500" y="1656503"/>
                  </a:lnTo>
                  <a:lnTo>
                    <a:pt x="0" y="1656503"/>
                  </a:lnTo>
                  <a:close/>
                  <a:moveTo>
                    <a:pt x="0" y="1746391"/>
                  </a:moveTo>
                  <a:lnTo>
                    <a:pt x="63500" y="1746391"/>
                  </a:lnTo>
                  <a:lnTo>
                    <a:pt x="63500" y="1874802"/>
                  </a:lnTo>
                  <a:lnTo>
                    <a:pt x="0" y="1874802"/>
                  </a:lnTo>
                  <a:close/>
                  <a:moveTo>
                    <a:pt x="0" y="1964690"/>
                  </a:moveTo>
                  <a:lnTo>
                    <a:pt x="63500" y="1964690"/>
                  </a:lnTo>
                  <a:lnTo>
                    <a:pt x="63500" y="2093101"/>
                  </a:lnTo>
                  <a:lnTo>
                    <a:pt x="0" y="2093101"/>
                  </a:lnTo>
                  <a:close/>
                  <a:moveTo>
                    <a:pt x="0" y="2182989"/>
                  </a:moveTo>
                  <a:lnTo>
                    <a:pt x="63500" y="2182989"/>
                  </a:lnTo>
                  <a:lnTo>
                    <a:pt x="63500" y="2311400"/>
                  </a:lnTo>
                  <a:lnTo>
                    <a:pt x="0" y="2311400"/>
                  </a:lnTo>
                  <a:close/>
                </a:path>
              </a:pathLst>
            </a:custGeom>
            <a:solidFill>
              <a:srgbClr val="EFF1E8"/>
            </a:solidFill>
          </p:spPr>
        </p:sp>
        <p:sp>
          <p:nvSpPr>
            <p:cNvPr name="TextBox 258" id="258"/>
            <p:cNvSpPr txBox="true"/>
            <p:nvPr/>
          </p:nvSpPr>
          <p:spPr>
            <a:xfrm>
              <a:off x="0" y="-28575"/>
              <a:ext cx="63500" cy="2339975"/>
            </a:xfrm>
            <a:prstGeom prst="rect">
              <a:avLst/>
            </a:prstGeom>
          </p:spPr>
          <p:txBody>
            <a:bodyPr anchor="ctr" rtlCol="false" tIns="50800" lIns="50800" bIns="50800" rIns="50800"/>
            <a:lstStyle/>
            <a:p>
              <a:pPr algn="l">
                <a:lnSpc>
                  <a:spcPts val="1679"/>
                </a:lnSpc>
              </a:pPr>
            </a:p>
          </p:txBody>
        </p:sp>
      </p:grpSp>
      <p:grpSp>
        <p:nvGrpSpPr>
          <p:cNvPr name="Group 259" id="259"/>
          <p:cNvGrpSpPr/>
          <p:nvPr/>
        </p:nvGrpSpPr>
        <p:grpSpPr>
          <a:xfrm rot="0">
            <a:off x="16392525" y="4762500"/>
            <a:ext cx="171450" cy="171450"/>
            <a:chOff x="0" y="0"/>
            <a:chExt cx="228600" cy="228600"/>
          </a:xfrm>
        </p:grpSpPr>
        <p:sp>
          <p:nvSpPr>
            <p:cNvPr name="Freeform 260" id="260"/>
            <p:cNvSpPr/>
            <p:nvPr/>
          </p:nvSpPr>
          <p:spPr>
            <a:xfrm flipH="false" flipV="false" rot="0">
              <a:off x="0" y="0"/>
              <a:ext cx="228600" cy="228600"/>
            </a:xfrm>
            <a:custGeom>
              <a:avLst/>
              <a:gdLst/>
              <a:ahLst/>
              <a:cxnLst/>
              <a:rect r="r" b="b" t="t" l="l"/>
              <a:pathLst>
                <a:path h="228600" w="228600">
                  <a:moveTo>
                    <a:pt x="114300" y="0"/>
                  </a:moveTo>
                  <a:lnTo>
                    <a:pt x="228600" y="228600"/>
                  </a:lnTo>
                  <a:lnTo>
                    <a:pt x="0" y="228600"/>
                  </a:lnTo>
                  <a:close/>
                </a:path>
              </a:pathLst>
            </a:custGeom>
            <a:solidFill>
              <a:srgbClr val="EFF1E8"/>
            </a:solidFill>
          </p:spPr>
        </p:sp>
        <p:sp>
          <p:nvSpPr>
            <p:cNvPr name="TextBox 261" id="261"/>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sp>
        <p:nvSpPr>
          <p:cNvPr name="TextBox 262" id="262"/>
          <p:cNvSpPr txBox="true"/>
          <p:nvPr/>
        </p:nvSpPr>
        <p:spPr>
          <a:xfrm rot="0">
            <a:off x="16649700" y="5467350"/>
            <a:ext cx="1428750" cy="449580"/>
          </a:xfrm>
          <a:prstGeom prst="rect">
            <a:avLst/>
          </a:prstGeom>
        </p:spPr>
        <p:txBody>
          <a:bodyPr anchor="t" rtlCol="false" tIns="0" lIns="0" bIns="0" rIns="0">
            <a:spAutoFit/>
          </a:bodyPr>
          <a:lstStyle/>
          <a:p>
            <a:pPr algn="l">
              <a:lnSpc>
                <a:spcPts val="1755"/>
              </a:lnSpc>
            </a:pPr>
            <a:r>
              <a:rPr lang="en-US" sz="1350">
                <a:solidFill>
                  <a:srgbClr val="EFF1E8"/>
                </a:solidFill>
                <a:latin typeface="Poppins"/>
                <a:ea typeface="Poppins"/>
                <a:cs typeface="Poppins"/>
                <a:sym typeface="Poppins"/>
              </a:rPr>
              <a:t>Treasury transfer B to A</a:t>
            </a:r>
          </a:p>
        </p:txBody>
      </p:sp>
      <p:grpSp>
        <p:nvGrpSpPr>
          <p:cNvPr name="Group 263" id="263"/>
          <p:cNvGrpSpPr/>
          <p:nvPr/>
        </p:nvGrpSpPr>
        <p:grpSpPr>
          <a:xfrm rot="0">
            <a:off x="11544300" y="6334125"/>
            <a:ext cx="1295400" cy="571500"/>
            <a:chOff x="0" y="0"/>
            <a:chExt cx="1727200" cy="762000"/>
          </a:xfrm>
        </p:grpSpPr>
        <p:sp>
          <p:nvSpPr>
            <p:cNvPr name="Freeform 264" id="264"/>
            <p:cNvSpPr/>
            <p:nvPr/>
          </p:nvSpPr>
          <p:spPr>
            <a:xfrm flipH="false" flipV="false" rot="0">
              <a:off x="0" y="0"/>
              <a:ext cx="1727200" cy="762000"/>
            </a:xfrm>
            <a:custGeom>
              <a:avLst/>
              <a:gdLst/>
              <a:ahLst/>
              <a:cxnLst/>
              <a:rect r="r" b="b" t="t" l="l"/>
              <a:pathLst>
                <a:path h="762000" w="1727200">
                  <a:moveTo>
                    <a:pt x="179294" y="0"/>
                  </a:moveTo>
                  <a:lnTo>
                    <a:pt x="1547906" y="0"/>
                  </a:lnTo>
                  <a:cubicBezTo>
                    <a:pt x="1646927" y="0"/>
                    <a:pt x="1727200" y="80273"/>
                    <a:pt x="1727200" y="179294"/>
                  </a:cubicBezTo>
                  <a:lnTo>
                    <a:pt x="1727200" y="582706"/>
                  </a:lnTo>
                  <a:cubicBezTo>
                    <a:pt x="1727200" y="681727"/>
                    <a:pt x="1646927" y="762000"/>
                    <a:pt x="1547906" y="762000"/>
                  </a:cubicBezTo>
                  <a:lnTo>
                    <a:pt x="179294" y="762000"/>
                  </a:lnTo>
                  <a:cubicBezTo>
                    <a:pt x="80273" y="762000"/>
                    <a:pt x="0" y="681727"/>
                    <a:pt x="0" y="582706"/>
                  </a:cubicBezTo>
                  <a:lnTo>
                    <a:pt x="0" y="179294"/>
                  </a:lnTo>
                  <a:cubicBezTo>
                    <a:pt x="0" y="80273"/>
                    <a:pt x="80273" y="0"/>
                    <a:pt x="179294" y="0"/>
                  </a:cubicBezTo>
                  <a:close/>
                </a:path>
              </a:pathLst>
            </a:custGeom>
            <a:solidFill>
              <a:srgbClr val="EFF1E8"/>
            </a:solidFill>
          </p:spPr>
        </p:sp>
        <p:sp>
          <p:nvSpPr>
            <p:cNvPr name="TextBox 265" id="265"/>
            <p:cNvSpPr txBox="true"/>
            <p:nvPr/>
          </p:nvSpPr>
          <p:spPr>
            <a:xfrm>
              <a:off x="0" y="-28575"/>
              <a:ext cx="1727200" cy="790575"/>
            </a:xfrm>
            <a:prstGeom prst="rect">
              <a:avLst/>
            </a:prstGeom>
          </p:spPr>
          <p:txBody>
            <a:bodyPr anchor="ctr" rtlCol="false" tIns="50800" lIns="50800" bIns="50800" rIns="50800"/>
            <a:lstStyle/>
            <a:p>
              <a:pPr algn="l">
                <a:lnSpc>
                  <a:spcPts val="1679"/>
                </a:lnSpc>
              </a:pPr>
            </a:p>
          </p:txBody>
        </p:sp>
      </p:grpSp>
      <p:grpSp>
        <p:nvGrpSpPr>
          <p:cNvPr name="Group 266" id="266"/>
          <p:cNvGrpSpPr/>
          <p:nvPr/>
        </p:nvGrpSpPr>
        <p:grpSpPr>
          <a:xfrm rot="0">
            <a:off x="11210925" y="6477000"/>
            <a:ext cx="285750" cy="285750"/>
            <a:chOff x="0" y="0"/>
            <a:chExt cx="381000" cy="381000"/>
          </a:xfrm>
        </p:grpSpPr>
        <p:sp>
          <p:nvSpPr>
            <p:cNvPr name="Freeform 267" id="267"/>
            <p:cNvSpPr/>
            <p:nvPr/>
          </p:nvSpPr>
          <p:spPr>
            <a:xfrm flipH="false" flipV="false" rot="0">
              <a:off x="0" y="0"/>
              <a:ext cx="381000" cy="381000"/>
            </a:xfrm>
            <a:custGeom>
              <a:avLst/>
              <a:gdLst/>
              <a:ahLst/>
              <a:cxnLst/>
              <a:rect r="r" b="b" t="t" l="l"/>
              <a:pathLst>
                <a:path h="381000" w="381000">
                  <a:moveTo>
                    <a:pt x="190500" y="0"/>
                  </a:moveTo>
                  <a:cubicBezTo>
                    <a:pt x="85290" y="0"/>
                    <a:pt x="0" y="85290"/>
                    <a:pt x="0" y="190500"/>
                  </a:cubicBezTo>
                  <a:cubicBezTo>
                    <a:pt x="0" y="295710"/>
                    <a:pt x="85290" y="381000"/>
                    <a:pt x="190500" y="381000"/>
                  </a:cubicBezTo>
                  <a:cubicBezTo>
                    <a:pt x="295710" y="381000"/>
                    <a:pt x="381000" y="295710"/>
                    <a:pt x="381000" y="190500"/>
                  </a:cubicBezTo>
                  <a:cubicBezTo>
                    <a:pt x="381000" y="85290"/>
                    <a:pt x="295710" y="0"/>
                    <a:pt x="190500" y="0"/>
                  </a:cubicBezTo>
                  <a:close/>
                </a:path>
              </a:pathLst>
            </a:custGeom>
            <a:solidFill>
              <a:srgbClr val="EFF1E8"/>
            </a:solidFill>
          </p:spPr>
        </p:sp>
        <p:sp>
          <p:nvSpPr>
            <p:cNvPr name="TextBox 268" id="268"/>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sp>
        <p:nvSpPr>
          <p:cNvPr name="TextBox 269" id="269"/>
          <p:cNvSpPr txBox="true"/>
          <p:nvPr/>
        </p:nvSpPr>
        <p:spPr>
          <a:xfrm rot="0">
            <a:off x="11210925" y="6486525"/>
            <a:ext cx="285750" cy="207645"/>
          </a:xfrm>
          <a:prstGeom prst="rect">
            <a:avLst/>
          </a:prstGeom>
        </p:spPr>
        <p:txBody>
          <a:bodyPr anchor="t" rtlCol="false" tIns="0" lIns="0" bIns="0" rIns="0">
            <a:spAutoFit/>
          </a:bodyPr>
          <a:lstStyle/>
          <a:p>
            <a:pPr algn="ctr">
              <a:lnSpc>
                <a:spcPts val="1679"/>
              </a:lnSpc>
            </a:pPr>
            <a:r>
              <a:rPr lang="en-US" sz="1200" b="true">
                <a:solidFill>
                  <a:srgbClr val="70A1BD"/>
                </a:solidFill>
                <a:latin typeface="Poppins Bold"/>
                <a:ea typeface="Poppins Bold"/>
                <a:cs typeface="Poppins Bold"/>
                <a:sym typeface="Poppins Bold"/>
              </a:rPr>
              <a:t>4</a:t>
            </a:r>
          </a:p>
        </p:txBody>
      </p:sp>
      <p:sp>
        <p:nvSpPr>
          <p:cNvPr name="TextBox 270" id="270"/>
          <p:cNvSpPr txBox="true"/>
          <p:nvPr/>
        </p:nvSpPr>
        <p:spPr>
          <a:xfrm rot="0">
            <a:off x="11544300" y="6400800"/>
            <a:ext cx="1295400" cy="392430"/>
          </a:xfrm>
          <a:prstGeom prst="rect">
            <a:avLst/>
          </a:prstGeom>
        </p:spPr>
        <p:txBody>
          <a:bodyPr anchor="t" rtlCol="false" tIns="0" lIns="0" bIns="0" rIns="0">
            <a:spAutoFit/>
          </a:bodyPr>
          <a:lstStyle/>
          <a:p>
            <a:pPr algn="ctr">
              <a:lnSpc>
                <a:spcPts val="1500"/>
              </a:lnSpc>
            </a:pPr>
            <a:r>
              <a:rPr lang="en-US" sz="1200" b="true">
                <a:solidFill>
                  <a:srgbClr val="70A1BD"/>
                </a:solidFill>
                <a:latin typeface="Poppins Bold"/>
                <a:ea typeface="Poppins Bold"/>
                <a:cs typeface="Poppins Bold"/>
                <a:sym typeface="Poppins Bold"/>
              </a:rPr>
              <a:t>Review and approval</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028700" y="3143250"/>
            <a:ext cx="38100" cy="4572000"/>
            <a:chOff x="0" y="0"/>
            <a:chExt cx="50800" cy="6096000"/>
          </a:xfrm>
        </p:grpSpPr>
        <p:sp>
          <p:nvSpPr>
            <p:cNvPr name="Freeform 3" id="3"/>
            <p:cNvSpPr/>
            <p:nvPr/>
          </p:nvSpPr>
          <p:spPr>
            <a:xfrm flipH="false" flipV="false" rot="0">
              <a:off x="0" y="0"/>
              <a:ext cx="50800" cy="6096000"/>
            </a:xfrm>
            <a:custGeom>
              <a:avLst/>
              <a:gdLst/>
              <a:ahLst/>
              <a:cxnLst/>
              <a:rect r="r" b="b" t="t" l="l"/>
              <a:pathLst>
                <a:path h="6096000" w="50800">
                  <a:moveTo>
                    <a:pt x="0" y="0"/>
                  </a:moveTo>
                  <a:lnTo>
                    <a:pt x="50800" y="0"/>
                  </a:lnTo>
                  <a:lnTo>
                    <a:pt x="50800" y="6096000"/>
                  </a:lnTo>
                  <a:lnTo>
                    <a:pt x="0" y="6096000"/>
                  </a:lnTo>
                  <a:close/>
                </a:path>
              </a:pathLst>
            </a:custGeom>
            <a:solidFill>
              <a:srgbClr val="EFF1E8"/>
            </a:solidFill>
          </p:spPr>
        </p:sp>
        <p:sp>
          <p:nvSpPr>
            <p:cNvPr name="TextBox 4" id="4"/>
            <p:cNvSpPr txBox="true"/>
            <p:nvPr/>
          </p:nvSpPr>
          <p:spPr>
            <a:xfrm>
              <a:off x="0" y="-38100"/>
              <a:ext cx="50800" cy="613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6762750" y="3143250"/>
            <a:ext cx="38100" cy="4572000"/>
            <a:chOff x="0" y="0"/>
            <a:chExt cx="50800" cy="6096000"/>
          </a:xfrm>
        </p:grpSpPr>
        <p:sp>
          <p:nvSpPr>
            <p:cNvPr name="Freeform 6" id="6"/>
            <p:cNvSpPr/>
            <p:nvPr/>
          </p:nvSpPr>
          <p:spPr>
            <a:xfrm flipH="false" flipV="false" rot="0">
              <a:off x="0" y="0"/>
              <a:ext cx="50800" cy="6096000"/>
            </a:xfrm>
            <a:custGeom>
              <a:avLst/>
              <a:gdLst/>
              <a:ahLst/>
              <a:cxnLst/>
              <a:rect r="r" b="b" t="t" l="l"/>
              <a:pathLst>
                <a:path h="6096000" w="50800">
                  <a:moveTo>
                    <a:pt x="0" y="0"/>
                  </a:moveTo>
                  <a:lnTo>
                    <a:pt x="50800" y="0"/>
                  </a:lnTo>
                  <a:lnTo>
                    <a:pt x="50800" y="6096000"/>
                  </a:lnTo>
                  <a:lnTo>
                    <a:pt x="0" y="6096000"/>
                  </a:lnTo>
                  <a:close/>
                </a:path>
              </a:pathLst>
            </a:custGeom>
            <a:solidFill>
              <a:srgbClr val="EFF1E8"/>
            </a:solidFill>
          </p:spPr>
        </p:sp>
        <p:sp>
          <p:nvSpPr>
            <p:cNvPr name="TextBox 7" id="7"/>
            <p:cNvSpPr txBox="true"/>
            <p:nvPr/>
          </p:nvSpPr>
          <p:spPr>
            <a:xfrm>
              <a:off x="0" y="-28575"/>
              <a:ext cx="50800" cy="6124575"/>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2496800" y="3143250"/>
            <a:ext cx="38100" cy="4572000"/>
            <a:chOff x="0" y="0"/>
            <a:chExt cx="50800" cy="6096000"/>
          </a:xfrm>
        </p:grpSpPr>
        <p:sp>
          <p:nvSpPr>
            <p:cNvPr name="Freeform 9" id="9"/>
            <p:cNvSpPr/>
            <p:nvPr/>
          </p:nvSpPr>
          <p:spPr>
            <a:xfrm flipH="false" flipV="false" rot="0">
              <a:off x="0" y="0"/>
              <a:ext cx="50800" cy="6096000"/>
            </a:xfrm>
            <a:custGeom>
              <a:avLst/>
              <a:gdLst/>
              <a:ahLst/>
              <a:cxnLst/>
              <a:rect r="r" b="b" t="t" l="l"/>
              <a:pathLst>
                <a:path h="6096000" w="50800">
                  <a:moveTo>
                    <a:pt x="0" y="0"/>
                  </a:moveTo>
                  <a:lnTo>
                    <a:pt x="50800" y="0"/>
                  </a:lnTo>
                  <a:lnTo>
                    <a:pt x="50800" y="6096000"/>
                  </a:lnTo>
                  <a:lnTo>
                    <a:pt x="0" y="6096000"/>
                  </a:lnTo>
                  <a:close/>
                </a:path>
              </a:pathLst>
            </a:custGeom>
            <a:solidFill>
              <a:srgbClr val="EFF1E8"/>
            </a:solidFill>
          </p:spPr>
        </p:sp>
        <p:sp>
          <p:nvSpPr>
            <p:cNvPr name="TextBox 10" id="10"/>
            <p:cNvSpPr txBox="true"/>
            <p:nvPr/>
          </p:nvSpPr>
          <p:spPr>
            <a:xfrm>
              <a:off x="0" y="-28575"/>
              <a:ext cx="50800" cy="6124575"/>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1371600" y="3143250"/>
            <a:ext cx="2571750" cy="438150"/>
            <a:chOff x="0" y="0"/>
            <a:chExt cx="3429000" cy="584200"/>
          </a:xfrm>
        </p:grpSpPr>
        <p:sp>
          <p:nvSpPr>
            <p:cNvPr name="Freeform 12" id="12"/>
            <p:cNvSpPr/>
            <p:nvPr/>
          </p:nvSpPr>
          <p:spPr>
            <a:xfrm flipH="false" flipV="false" rot="0">
              <a:off x="0" y="0"/>
              <a:ext cx="3429000" cy="584200"/>
            </a:xfrm>
            <a:custGeom>
              <a:avLst/>
              <a:gdLst/>
              <a:ahLst/>
              <a:cxnLst/>
              <a:rect r="r" b="b" t="t" l="l"/>
              <a:pathLst>
                <a:path h="584200" w="3429000">
                  <a:moveTo>
                    <a:pt x="30104" y="0"/>
                  </a:moveTo>
                  <a:lnTo>
                    <a:pt x="3398896" y="0"/>
                  </a:lnTo>
                  <a:cubicBezTo>
                    <a:pt x="3406880" y="0"/>
                    <a:pt x="3414537" y="3172"/>
                    <a:pt x="3420183" y="8817"/>
                  </a:cubicBezTo>
                  <a:cubicBezTo>
                    <a:pt x="3425828" y="14463"/>
                    <a:pt x="3429000" y="22120"/>
                    <a:pt x="3429000" y="30104"/>
                  </a:cubicBezTo>
                  <a:lnTo>
                    <a:pt x="3429000" y="554096"/>
                  </a:lnTo>
                  <a:cubicBezTo>
                    <a:pt x="3429000" y="562080"/>
                    <a:pt x="3425828" y="569737"/>
                    <a:pt x="3420183" y="575383"/>
                  </a:cubicBezTo>
                  <a:cubicBezTo>
                    <a:pt x="3414537" y="581028"/>
                    <a:pt x="3406880" y="584200"/>
                    <a:pt x="3398896" y="584200"/>
                  </a:cubicBezTo>
                  <a:lnTo>
                    <a:pt x="30104" y="584200"/>
                  </a:lnTo>
                  <a:cubicBezTo>
                    <a:pt x="22120" y="584200"/>
                    <a:pt x="14463" y="581028"/>
                    <a:pt x="8817" y="575383"/>
                  </a:cubicBezTo>
                  <a:cubicBezTo>
                    <a:pt x="3172" y="569737"/>
                    <a:pt x="0" y="562080"/>
                    <a:pt x="0" y="554096"/>
                  </a:cubicBezTo>
                  <a:lnTo>
                    <a:pt x="0" y="30104"/>
                  </a:lnTo>
                  <a:cubicBezTo>
                    <a:pt x="0" y="22120"/>
                    <a:pt x="3172" y="14463"/>
                    <a:pt x="8817" y="8817"/>
                  </a:cubicBezTo>
                  <a:cubicBezTo>
                    <a:pt x="14463" y="3172"/>
                    <a:pt x="22120" y="0"/>
                    <a:pt x="30104" y="0"/>
                  </a:cubicBezTo>
                  <a:close/>
                </a:path>
              </a:pathLst>
            </a:custGeom>
            <a:solidFill>
              <a:srgbClr val="EFF1E8"/>
            </a:solidFill>
          </p:spPr>
        </p:sp>
        <p:sp>
          <p:nvSpPr>
            <p:cNvPr name="TextBox 13" id="13"/>
            <p:cNvSpPr txBox="true"/>
            <p:nvPr/>
          </p:nvSpPr>
          <p:spPr>
            <a:xfrm>
              <a:off x="0" y="-28575"/>
              <a:ext cx="3429000" cy="612775"/>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7105650" y="3143250"/>
            <a:ext cx="1714500" cy="438150"/>
            <a:chOff x="0" y="0"/>
            <a:chExt cx="2286000" cy="584200"/>
          </a:xfrm>
        </p:grpSpPr>
        <p:sp>
          <p:nvSpPr>
            <p:cNvPr name="Freeform 15" id="15"/>
            <p:cNvSpPr/>
            <p:nvPr/>
          </p:nvSpPr>
          <p:spPr>
            <a:xfrm flipH="false" flipV="false" rot="0">
              <a:off x="0" y="0"/>
              <a:ext cx="2286000" cy="584200"/>
            </a:xfrm>
            <a:custGeom>
              <a:avLst/>
              <a:gdLst/>
              <a:ahLst/>
              <a:cxnLst/>
              <a:rect r="r" b="b" t="t" l="l"/>
              <a:pathLst>
                <a:path h="584200" w="2286000">
                  <a:moveTo>
                    <a:pt x="45156" y="0"/>
                  </a:moveTo>
                  <a:lnTo>
                    <a:pt x="2240844" y="0"/>
                  </a:lnTo>
                  <a:cubicBezTo>
                    <a:pt x="2265783" y="0"/>
                    <a:pt x="2286000" y="20217"/>
                    <a:pt x="2286000" y="45156"/>
                  </a:cubicBezTo>
                  <a:lnTo>
                    <a:pt x="2286000" y="539044"/>
                  </a:lnTo>
                  <a:cubicBezTo>
                    <a:pt x="2286000" y="563983"/>
                    <a:pt x="2265783" y="584200"/>
                    <a:pt x="2240844" y="584200"/>
                  </a:cubicBezTo>
                  <a:lnTo>
                    <a:pt x="45156" y="584200"/>
                  </a:lnTo>
                  <a:cubicBezTo>
                    <a:pt x="20217" y="584200"/>
                    <a:pt x="0" y="563983"/>
                    <a:pt x="0" y="539044"/>
                  </a:cubicBezTo>
                  <a:lnTo>
                    <a:pt x="0" y="45156"/>
                  </a:lnTo>
                  <a:cubicBezTo>
                    <a:pt x="0" y="20217"/>
                    <a:pt x="20217" y="0"/>
                    <a:pt x="45156" y="0"/>
                  </a:cubicBezTo>
                  <a:close/>
                </a:path>
              </a:pathLst>
            </a:custGeom>
            <a:solidFill>
              <a:srgbClr val="EFF1E8"/>
            </a:solidFill>
          </p:spPr>
        </p:sp>
        <p:sp>
          <p:nvSpPr>
            <p:cNvPr name="TextBox 16" id="16"/>
            <p:cNvSpPr txBox="true"/>
            <p:nvPr/>
          </p:nvSpPr>
          <p:spPr>
            <a:xfrm>
              <a:off x="0" y="-28575"/>
              <a:ext cx="2286000" cy="612775"/>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2839700" y="3143250"/>
            <a:ext cx="1524000" cy="438150"/>
            <a:chOff x="0" y="0"/>
            <a:chExt cx="2032000" cy="584200"/>
          </a:xfrm>
        </p:grpSpPr>
        <p:sp>
          <p:nvSpPr>
            <p:cNvPr name="Freeform 18" id="18"/>
            <p:cNvSpPr/>
            <p:nvPr/>
          </p:nvSpPr>
          <p:spPr>
            <a:xfrm flipH="false" flipV="false" rot="0">
              <a:off x="0" y="0"/>
              <a:ext cx="2032000" cy="584200"/>
            </a:xfrm>
            <a:custGeom>
              <a:avLst/>
              <a:gdLst/>
              <a:ahLst/>
              <a:cxnLst/>
              <a:rect r="r" b="b" t="t" l="l"/>
              <a:pathLst>
                <a:path h="584200" w="2032000">
                  <a:moveTo>
                    <a:pt x="50800" y="0"/>
                  </a:moveTo>
                  <a:lnTo>
                    <a:pt x="1981200" y="0"/>
                  </a:lnTo>
                  <a:cubicBezTo>
                    <a:pt x="2009256" y="0"/>
                    <a:pt x="2032000" y="22744"/>
                    <a:pt x="2032000" y="50800"/>
                  </a:cubicBezTo>
                  <a:lnTo>
                    <a:pt x="2032000" y="533400"/>
                  </a:lnTo>
                  <a:cubicBezTo>
                    <a:pt x="2032000" y="561456"/>
                    <a:pt x="2009256" y="584200"/>
                    <a:pt x="1981200" y="584200"/>
                  </a:cubicBezTo>
                  <a:lnTo>
                    <a:pt x="50800" y="584200"/>
                  </a:lnTo>
                  <a:cubicBezTo>
                    <a:pt x="22744" y="584200"/>
                    <a:pt x="0" y="561456"/>
                    <a:pt x="0" y="533400"/>
                  </a:cubicBezTo>
                  <a:lnTo>
                    <a:pt x="0" y="50800"/>
                  </a:lnTo>
                  <a:cubicBezTo>
                    <a:pt x="0" y="22744"/>
                    <a:pt x="22744" y="0"/>
                    <a:pt x="50800" y="0"/>
                  </a:cubicBezTo>
                  <a:close/>
                </a:path>
              </a:pathLst>
            </a:custGeom>
            <a:solidFill>
              <a:srgbClr val="EFF1E8"/>
            </a:solidFill>
          </p:spPr>
        </p:sp>
        <p:sp>
          <p:nvSpPr>
            <p:cNvPr name="TextBox 19" id="19"/>
            <p:cNvSpPr txBox="true"/>
            <p:nvPr/>
          </p:nvSpPr>
          <p:spPr>
            <a:xfrm>
              <a:off x="0" y="-28575"/>
              <a:ext cx="2032000" cy="612775"/>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028700" y="1181100"/>
            <a:ext cx="16192500" cy="670560"/>
          </a:xfrm>
          <a:prstGeom prst="rect">
            <a:avLst/>
          </a:prstGeom>
        </p:spPr>
        <p:txBody>
          <a:bodyPr anchor="t" rtlCol="false" tIns="0" lIns="0" bIns="0" rIns="0">
            <a:spAutoFit/>
          </a:bodyPr>
          <a:lstStyle/>
          <a:p>
            <a:pPr algn="l">
              <a:lnSpc>
                <a:spcPts val="5280"/>
              </a:lnSpc>
            </a:pPr>
            <a:r>
              <a:rPr lang="en-US" sz="4800" b="true">
                <a:solidFill>
                  <a:srgbClr val="EFF1E8"/>
                </a:solidFill>
                <a:latin typeface="Montserrat Bold"/>
                <a:ea typeface="Montserrat Bold"/>
                <a:cs typeface="Montserrat Bold"/>
                <a:sym typeface="Montserrat Bold"/>
              </a:rPr>
              <a:t>Business Impact</a:t>
            </a:r>
          </a:p>
        </p:txBody>
      </p:sp>
      <p:sp>
        <p:nvSpPr>
          <p:cNvPr name="TextBox 21" id="21"/>
          <p:cNvSpPr txBox="true"/>
          <p:nvPr/>
        </p:nvSpPr>
        <p:spPr>
          <a:xfrm rot="0">
            <a:off x="1371600" y="3219450"/>
            <a:ext cx="2571750" cy="257175"/>
          </a:xfrm>
          <a:prstGeom prst="rect">
            <a:avLst/>
          </a:prstGeom>
        </p:spPr>
        <p:txBody>
          <a:bodyPr anchor="t" rtlCol="false" tIns="0" lIns="0" bIns="0" rIns="0">
            <a:spAutoFit/>
          </a:bodyPr>
          <a:lstStyle/>
          <a:p>
            <a:pPr algn="ctr">
              <a:lnSpc>
                <a:spcPts val="1950"/>
              </a:lnSpc>
            </a:pPr>
            <a:r>
              <a:rPr lang="en-US" sz="1500" b="true">
                <a:solidFill>
                  <a:srgbClr val="70A1BD"/>
                </a:solidFill>
                <a:latin typeface="Poppins Bold"/>
                <a:ea typeface="Poppins Bold"/>
                <a:cs typeface="Poppins Bold"/>
                <a:sym typeface="Poppins Bold"/>
              </a:rPr>
              <a:t>OPERATIONAL RISK</a:t>
            </a:r>
          </a:p>
        </p:txBody>
      </p:sp>
      <p:sp>
        <p:nvSpPr>
          <p:cNvPr name="TextBox 22" id="22"/>
          <p:cNvSpPr txBox="true"/>
          <p:nvPr/>
        </p:nvSpPr>
        <p:spPr>
          <a:xfrm rot="0">
            <a:off x="7105650" y="3219450"/>
            <a:ext cx="1714500" cy="257175"/>
          </a:xfrm>
          <a:prstGeom prst="rect">
            <a:avLst/>
          </a:prstGeom>
        </p:spPr>
        <p:txBody>
          <a:bodyPr anchor="t" rtlCol="false" tIns="0" lIns="0" bIns="0" rIns="0">
            <a:spAutoFit/>
          </a:bodyPr>
          <a:lstStyle/>
          <a:p>
            <a:pPr algn="ctr">
              <a:lnSpc>
                <a:spcPts val="1950"/>
              </a:lnSpc>
            </a:pPr>
            <a:r>
              <a:rPr lang="en-US" sz="1500" b="true">
                <a:solidFill>
                  <a:srgbClr val="70A1BD"/>
                </a:solidFill>
                <a:latin typeface="Poppins Bold"/>
                <a:ea typeface="Poppins Bold"/>
                <a:cs typeface="Poppins Bold"/>
                <a:sym typeface="Poppins Bold"/>
              </a:rPr>
              <a:t>EFFICIENCY</a:t>
            </a:r>
          </a:p>
        </p:txBody>
      </p:sp>
      <p:sp>
        <p:nvSpPr>
          <p:cNvPr name="TextBox 23" id="23"/>
          <p:cNvSpPr txBox="true"/>
          <p:nvPr/>
        </p:nvSpPr>
        <p:spPr>
          <a:xfrm rot="0">
            <a:off x="12839700" y="3219450"/>
            <a:ext cx="1524000" cy="257175"/>
          </a:xfrm>
          <a:prstGeom prst="rect">
            <a:avLst/>
          </a:prstGeom>
        </p:spPr>
        <p:txBody>
          <a:bodyPr anchor="t" rtlCol="false" tIns="0" lIns="0" bIns="0" rIns="0">
            <a:spAutoFit/>
          </a:bodyPr>
          <a:lstStyle/>
          <a:p>
            <a:pPr algn="ctr">
              <a:lnSpc>
                <a:spcPts val="1950"/>
              </a:lnSpc>
            </a:pPr>
            <a:r>
              <a:rPr lang="en-US" sz="1500" b="true">
                <a:solidFill>
                  <a:srgbClr val="70A1BD"/>
                </a:solidFill>
                <a:latin typeface="Poppins Bold"/>
                <a:ea typeface="Poppins Bold"/>
                <a:cs typeface="Poppins Bold"/>
                <a:sym typeface="Poppins Bold"/>
              </a:rPr>
              <a:t>CONTROL</a:t>
            </a:r>
          </a:p>
        </p:txBody>
      </p:sp>
      <p:sp>
        <p:nvSpPr>
          <p:cNvPr name="TextBox 24" id="24"/>
          <p:cNvSpPr txBox="true"/>
          <p:nvPr/>
        </p:nvSpPr>
        <p:spPr>
          <a:xfrm rot="0">
            <a:off x="1371600" y="3657600"/>
            <a:ext cx="4381500" cy="1819275"/>
          </a:xfrm>
          <a:prstGeom prst="rect">
            <a:avLst/>
          </a:prstGeom>
        </p:spPr>
        <p:txBody>
          <a:bodyPr anchor="t" rtlCol="false" tIns="0" lIns="0" bIns="0" rIns="0">
            <a:spAutoFit/>
          </a:bodyPr>
          <a:lstStyle/>
          <a:p>
            <a:pPr algn="l">
              <a:lnSpc>
                <a:spcPts val="13500"/>
              </a:lnSpc>
            </a:pPr>
            <a:r>
              <a:rPr lang="en-US" sz="11250" b="true">
                <a:solidFill>
                  <a:srgbClr val="EFF1E8"/>
                </a:solidFill>
                <a:latin typeface="Poppins Bold"/>
                <a:ea typeface="Poppins Bold"/>
                <a:cs typeface="Poppins Bold"/>
                <a:sym typeface="Poppins Bold"/>
              </a:rPr>
              <a:t>2</a:t>
            </a:r>
          </a:p>
        </p:txBody>
      </p:sp>
      <p:sp>
        <p:nvSpPr>
          <p:cNvPr name="TextBox 25" id="25"/>
          <p:cNvSpPr txBox="true"/>
          <p:nvPr/>
        </p:nvSpPr>
        <p:spPr>
          <a:xfrm rot="0">
            <a:off x="7105650" y="3657600"/>
            <a:ext cx="4381500" cy="1819275"/>
          </a:xfrm>
          <a:prstGeom prst="rect">
            <a:avLst/>
          </a:prstGeom>
        </p:spPr>
        <p:txBody>
          <a:bodyPr anchor="t" rtlCol="false" tIns="0" lIns="0" bIns="0" rIns="0">
            <a:spAutoFit/>
          </a:bodyPr>
          <a:lstStyle/>
          <a:p>
            <a:pPr algn="l">
              <a:lnSpc>
                <a:spcPts val="13500"/>
              </a:lnSpc>
            </a:pPr>
            <a:r>
              <a:rPr lang="en-US" sz="11250" b="true">
                <a:solidFill>
                  <a:srgbClr val="EFF1E8"/>
                </a:solidFill>
                <a:latin typeface="Poppins Bold"/>
                <a:ea typeface="Poppins Bold"/>
                <a:cs typeface="Poppins Bold"/>
                <a:sym typeface="Poppins Bold"/>
              </a:rPr>
              <a:t>~6 h</a:t>
            </a:r>
          </a:p>
        </p:txBody>
      </p:sp>
      <p:sp>
        <p:nvSpPr>
          <p:cNvPr name="TextBox 26" id="26"/>
          <p:cNvSpPr txBox="true"/>
          <p:nvPr/>
        </p:nvSpPr>
        <p:spPr>
          <a:xfrm rot="0">
            <a:off x="12839700" y="3657600"/>
            <a:ext cx="4381500" cy="1819275"/>
          </a:xfrm>
          <a:prstGeom prst="rect">
            <a:avLst/>
          </a:prstGeom>
        </p:spPr>
        <p:txBody>
          <a:bodyPr anchor="t" rtlCol="false" tIns="0" lIns="0" bIns="0" rIns="0">
            <a:spAutoFit/>
          </a:bodyPr>
          <a:lstStyle/>
          <a:p>
            <a:pPr algn="l">
              <a:lnSpc>
                <a:spcPts val="13500"/>
              </a:lnSpc>
            </a:pPr>
            <a:r>
              <a:rPr lang="en-US" sz="11250" b="true">
                <a:solidFill>
                  <a:srgbClr val="EFF1E8"/>
                </a:solidFill>
                <a:latin typeface="Poppins Bold"/>
                <a:ea typeface="Poppins Bold"/>
                <a:cs typeface="Poppins Bold"/>
                <a:sym typeface="Poppins Bold"/>
              </a:rPr>
              <a:t>1</a:t>
            </a:r>
          </a:p>
        </p:txBody>
      </p:sp>
      <p:sp>
        <p:nvSpPr>
          <p:cNvPr name="TextBox 27" id="27"/>
          <p:cNvSpPr txBox="true"/>
          <p:nvPr/>
        </p:nvSpPr>
        <p:spPr>
          <a:xfrm rot="0">
            <a:off x="1371600" y="5572125"/>
            <a:ext cx="4381500" cy="762000"/>
          </a:xfrm>
          <a:prstGeom prst="rect">
            <a:avLst/>
          </a:prstGeom>
        </p:spPr>
        <p:txBody>
          <a:bodyPr anchor="t" rtlCol="false" tIns="0" lIns="0" bIns="0" rIns="0">
            <a:spAutoFit/>
          </a:bodyPr>
          <a:lstStyle/>
          <a:p>
            <a:pPr algn="l">
              <a:lnSpc>
                <a:spcPts val="2925"/>
              </a:lnSpc>
            </a:pPr>
            <a:r>
              <a:rPr lang="en-US" sz="2250" b="true">
                <a:solidFill>
                  <a:srgbClr val="EFF1E8"/>
                </a:solidFill>
                <a:latin typeface="Poppins Bold"/>
                <a:ea typeface="Poppins Bold"/>
                <a:cs typeface="Poppins Bold"/>
                <a:sym typeface="Poppins Bold"/>
              </a:rPr>
              <a:t>core banks connected straight-through</a:t>
            </a:r>
          </a:p>
        </p:txBody>
      </p:sp>
      <p:sp>
        <p:nvSpPr>
          <p:cNvPr name="TextBox 28" id="28"/>
          <p:cNvSpPr txBox="true"/>
          <p:nvPr/>
        </p:nvSpPr>
        <p:spPr>
          <a:xfrm rot="0">
            <a:off x="7105650" y="5572125"/>
            <a:ext cx="4381500" cy="762000"/>
          </a:xfrm>
          <a:prstGeom prst="rect">
            <a:avLst/>
          </a:prstGeom>
        </p:spPr>
        <p:txBody>
          <a:bodyPr anchor="t" rtlCol="false" tIns="0" lIns="0" bIns="0" rIns="0">
            <a:spAutoFit/>
          </a:bodyPr>
          <a:lstStyle/>
          <a:p>
            <a:pPr algn="l">
              <a:lnSpc>
                <a:spcPts val="2925"/>
              </a:lnSpc>
            </a:pPr>
            <a:r>
              <a:rPr lang="en-US" sz="2250" b="true">
                <a:solidFill>
                  <a:srgbClr val="EFF1E8"/>
                </a:solidFill>
                <a:latin typeface="Poppins Bold"/>
                <a:ea typeface="Poppins Bold"/>
                <a:cs typeface="Poppins Bold"/>
                <a:sym typeface="Poppins Bold"/>
              </a:rPr>
              <a:t>saved per month</a:t>
            </a:r>
          </a:p>
          <a:p>
            <a:pPr algn="l">
              <a:lnSpc>
                <a:spcPts val="2925"/>
              </a:lnSpc>
            </a:pPr>
            <a:r>
              <a:rPr lang="en-US" sz="2250" b="true">
                <a:solidFill>
                  <a:srgbClr val="EFF1E8"/>
                </a:solidFill>
                <a:latin typeface="Poppins Bold"/>
                <a:ea typeface="Poppins Bold"/>
                <a:cs typeface="Poppins Bold"/>
                <a:sym typeface="Poppins Bold"/>
              </a:rPr>
              <a:t>~15 min per payment run</a:t>
            </a:r>
          </a:p>
        </p:txBody>
      </p:sp>
      <p:sp>
        <p:nvSpPr>
          <p:cNvPr name="TextBox 29" id="29"/>
          <p:cNvSpPr txBox="true"/>
          <p:nvPr/>
        </p:nvSpPr>
        <p:spPr>
          <a:xfrm rot="0">
            <a:off x="12839700" y="5572125"/>
            <a:ext cx="4381500" cy="762000"/>
          </a:xfrm>
          <a:prstGeom prst="rect">
            <a:avLst/>
          </a:prstGeom>
        </p:spPr>
        <p:txBody>
          <a:bodyPr anchor="t" rtlCol="false" tIns="0" lIns="0" bIns="0" rIns="0">
            <a:spAutoFit/>
          </a:bodyPr>
          <a:lstStyle/>
          <a:p>
            <a:pPr algn="l">
              <a:lnSpc>
                <a:spcPts val="2925"/>
              </a:lnSpc>
            </a:pPr>
            <a:r>
              <a:rPr lang="en-US" sz="2250" b="true">
                <a:solidFill>
                  <a:srgbClr val="EFF1E8"/>
                </a:solidFill>
                <a:latin typeface="Poppins Bold"/>
                <a:ea typeface="Poppins Bold"/>
                <a:cs typeface="Poppins Bold"/>
                <a:sym typeface="Poppins Bold"/>
              </a:rPr>
              <a:t>place to approve all payments</a:t>
            </a:r>
          </a:p>
        </p:txBody>
      </p:sp>
      <p:sp>
        <p:nvSpPr>
          <p:cNvPr name="TextBox 30" id="30"/>
          <p:cNvSpPr txBox="true"/>
          <p:nvPr/>
        </p:nvSpPr>
        <p:spPr>
          <a:xfrm rot="0">
            <a:off x="1371600" y="6619875"/>
            <a:ext cx="4381500" cy="862965"/>
          </a:xfrm>
          <a:prstGeom prst="rect">
            <a:avLst/>
          </a:prstGeom>
        </p:spPr>
        <p:txBody>
          <a:bodyPr anchor="t" rtlCol="false" tIns="0" lIns="0" bIns="0" rIns="0">
            <a:spAutoFit/>
          </a:bodyPr>
          <a:lstStyle/>
          <a:p>
            <a:pPr algn="l">
              <a:lnSpc>
                <a:spcPts val="2310"/>
              </a:lnSpc>
            </a:pPr>
            <a:r>
              <a:rPr lang="en-US" sz="1650">
                <a:solidFill>
                  <a:srgbClr val="EFF1E8"/>
                </a:solidFill>
                <a:latin typeface="Poppins"/>
                <a:ea typeface="Poppins"/>
                <a:cs typeface="Poppins"/>
                <a:sym typeface="Poppins"/>
              </a:rPr>
              <a:t>Before: the netting file was downloaded, reloaded into the legacy TMS and sent to the bank portal.</a:t>
            </a:r>
          </a:p>
        </p:txBody>
      </p:sp>
      <p:sp>
        <p:nvSpPr>
          <p:cNvPr name="TextBox 31" id="31"/>
          <p:cNvSpPr txBox="true"/>
          <p:nvPr/>
        </p:nvSpPr>
        <p:spPr>
          <a:xfrm rot="0">
            <a:off x="7105650" y="6619875"/>
            <a:ext cx="4381500" cy="862965"/>
          </a:xfrm>
          <a:prstGeom prst="rect">
            <a:avLst/>
          </a:prstGeom>
        </p:spPr>
        <p:txBody>
          <a:bodyPr anchor="t" rtlCol="false" tIns="0" lIns="0" bIns="0" rIns="0">
            <a:spAutoFit/>
          </a:bodyPr>
          <a:lstStyle/>
          <a:p>
            <a:pPr algn="l">
              <a:lnSpc>
                <a:spcPts val="2310"/>
              </a:lnSpc>
            </a:pPr>
            <a:r>
              <a:rPr lang="en-US" sz="1650">
                <a:solidFill>
                  <a:srgbClr val="EFF1E8"/>
                </a:solidFill>
                <a:latin typeface="Poppins"/>
                <a:ea typeface="Poppins"/>
                <a:cs typeface="Poppins"/>
                <a:sym typeface="Poppins"/>
              </a:rPr>
              <a:t>At least 5 min saved on each treasury transfer and third party payment. Fax transfers save more.</a:t>
            </a:r>
          </a:p>
        </p:txBody>
      </p:sp>
      <p:sp>
        <p:nvSpPr>
          <p:cNvPr name="TextBox 32" id="32"/>
          <p:cNvSpPr txBox="true"/>
          <p:nvPr/>
        </p:nvSpPr>
        <p:spPr>
          <a:xfrm rot="0">
            <a:off x="12839700" y="6619875"/>
            <a:ext cx="4381500" cy="577215"/>
          </a:xfrm>
          <a:prstGeom prst="rect">
            <a:avLst/>
          </a:prstGeom>
        </p:spPr>
        <p:txBody>
          <a:bodyPr anchor="t" rtlCol="false" tIns="0" lIns="0" bIns="0" rIns="0">
            <a:spAutoFit/>
          </a:bodyPr>
          <a:lstStyle/>
          <a:p>
            <a:pPr algn="l">
              <a:lnSpc>
                <a:spcPts val="2310"/>
              </a:lnSpc>
            </a:pPr>
            <a:r>
              <a:rPr lang="en-US" sz="1650">
                <a:solidFill>
                  <a:srgbClr val="EFF1E8"/>
                </a:solidFill>
                <a:latin typeface="Poppins"/>
                <a:ea typeface="Poppins"/>
                <a:cs typeface="Poppins"/>
                <a:sym typeface="Poppins"/>
              </a:rPr>
              <a:t>Before: Bank A portal, fax to Bank B and email to the Bank B team.</a:t>
            </a:r>
          </a:p>
        </p:txBody>
      </p:sp>
      <p:sp>
        <p:nvSpPr>
          <p:cNvPr name="TextBox 33" id="33"/>
          <p:cNvSpPr txBox="true"/>
          <p:nvPr/>
        </p:nvSpPr>
        <p:spPr>
          <a:xfrm rot="0">
            <a:off x="1028700" y="9477375"/>
            <a:ext cx="16192500" cy="276225"/>
          </a:xfrm>
          <a:prstGeom prst="rect">
            <a:avLst/>
          </a:prstGeom>
        </p:spPr>
        <p:txBody>
          <a:bodyPr anchor="t" rtlCol="false" tIns="0" lIns="0" bIns="0" rIns="0">
            <a:spAutoFit/>
          </a:bodyPr>
          <a:lstStyle/>
          <a:p>
            <a:pPr algn="l">
              <a:lnSpc>
                <a:spcPts val="2100"/>
              </a:lnSpc>
            </a:pPr>
            <a:r>
              <a:rPr lang="en-US" sz="1500">
                <a:solidFill>
                  <a:srgbClr val="EFF1E8"/>
                </a:solidFill>
                <a:latin typeface="Poppins"/>
                <a:ea typeface="Poppins"/>
                <a:cs typeface="Poppins"/>
                <a:sym typeface="Poppins"/>
              </a:rPr>
              <a:t>Estimate based on one payment run per working day (about 21 a month), 6 treasury transfers and 5 third party payments a month.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DAHWNpRk4B0</dc:identifier>
  <dcterms:modified xsi:type="dcterms:W3CDTF">2011-08-01T06:04:30Z</dcterms:modified>
  <cp:revision>1</cp:revision>
  <dc:title>Payments Connectivity</dc:title>
</cp:coreProperties>
</file>