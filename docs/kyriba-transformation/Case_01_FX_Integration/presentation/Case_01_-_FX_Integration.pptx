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Montserrat Bold" charset="1" panose="00000800000000000000"/>
      <p:regular r:id="rId10"/>
    </p:embeddedFont>
    <p:embeddedFont>
      <p:font typeface="Poppins" charset="1" panose="00000500000000000000"/>
      <p:regular r:id="rId11"/>
    </p:embeddedFont>
    <p:embeddedFont>
      <p:font typeface="Poppins Italics" charset="1" panose="00000500000000000000"/>
      <p:regular r:id="rId12"/>
    </p:embeddedFont>
    <p:embeddedFont>
      <p:font typeface="Poppins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16828"/>
            <a:ext cx="12627663" cy="27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10000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FX Platform Integration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519828" y="-836514"/>
            <a:ext cx="1676067" cy="11642360"/>
          </a:xfrm>
          <a:custGeom>
            <a:avLst/>
            <a:gdLst/>
            <a:ahLst/>
            <a:cxnLst/>
            <a:rect r="r" b="b" t="t" l="l"/>
            <a:pathLst>
              <a:path h="11642360" w="1676067">
                <a:moveTo>
                  <a:pt x="0" y="0"/>
                </a:moveTo>
                <a:lnTo>
                  <a:pt x="1676066" y="0"/>
                </a:lnTo>
                <a:lnTo>
                  <a:pt x="1676066" y="11642360"/>
                </a:lnTo>
                <a:lnTo>
                  <a:pt x="0" y="11642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089" y="3298344"/>
            <a:ext cx="875611" cy="626062"/>
          </a:xfrm>
          <a:custGeom>
            <a:avLst/>
            <a:gdLst/>
            <a:ahLst/>
            <a:cxnLst/>
            <a:rect r="r" b="b" t="t" l="l"/>
            <a:pathLst>
              <a:path h="626062" w="875611">
                <a:moveTo>
                  <a:pt x="0" y="0"/>
                </a:moveTo>
                <a:lnTo>
                  <a:pt x="875611" y="0"/>
                </a:lnTo>
                <a:lnTo>
                  <a:pt x="875611" y="626062"/>
                </a:lnTo>
                <a:lnTo>
                  <a:pt x="0" y="6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41097"/>
            <a:ext cx="10532347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spc="22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Reducing ma</a:t>
            </a:r>
            <a:r>
              <a:rPr lang="en-US" sz="1998" spc="22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nual effort across a global treasury operating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092281"/>
            <a:ext cx="10217649" cy="64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8"/>
              </a:lnSpc>
            </a:pPr>
            <a:r>
              <a:rPr lang="en-US" sz="1799" i="true">
                <a:solidFill>
                  <a:srgbClr val="EFF1E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 case study in process redesign, integration, and measurable time savings.</a:t>
            </a:r>
          </a:p>
          <a:p>
            <a:pPr algn="just">
              <a:lnSpc>
                <a:spcPts val="2518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304226" y="5703425"/>
            <a:ext cx="6662208" cy="6662208"/>
          </a:xfrm>
          <a:custGeom>
            <a:avLst/>
            <a:gdLst/>
            <a:ahLst/>
            <a:cxnLst/>
            <a:rect r="r" b="b" t="t" l="l"/>
            <a:pathLst>
              <a:path h="6662208" w="6662208">
                <a:moveTo>
                  <a:pt x="0" y="0"/>
                </a:moveTo>
                <a:lnTo>
                  <a:pt x="6662208" y="0"/>
                </a:lnTo>
                <a:lnTo>
                  <a:pt x="6662208" y="6662208"/>
                </a:lnTo>
                <a:lnTo>
                  <a:pt x="0" y="6662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32374" y="-638026"/>
            <a:ext cx="3890986" cy="2129431"/>
          </a:xfrm>
          <a:custGeom>
            <a:avLst/>
            <a:gdLst/>
            <a:ahLst/>
            <a:cxnLst/>
            <a:rect r="r" b="b" t="t" l="l"/>
            <a:pathLst>
              <a:path h="2129431" w="3890986">
                <a:moveTo>
                  <a:pt x="0" y="0"/>
                </a:moveTo>
                <a:lnTo>
                  <a:pt x="3890986" y="0"/>
                </a:lnTo>
                <a:lnTo>
                  <a:pt x="3890986" y="2129431"/>
                </a:lnTo>
                <a:lnTo>
                  <a:pt x="0" y="21294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51680" y="2694380"/>
            <a:ext cx="10532347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spc="22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KYRIBA</a:t>
            </a:r>
            <a:r>
              <a:rPr lang="en-US" sz="1998" spc="22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TRANSFORMATION | CASE STUDY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81100"/>
            <a:ext cx="16839856" cy="139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49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Manual Re-entry to Integrated Execution</a:t>
            </a:r>
          </a:p>
          <a:p>
            <a:pPr algn="l">
              <a:lnSpc>
                <a:spcPts val="54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99937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How the workflow changed from fragmented handoffs to connected execution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0593" y="3539787"/>
            <a:ext cx="7579007" cy="625936"/>
            <a:chOff x="0" y="0"/>
            <a:chExt cx="3115033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15033" cy="257265"/>
            </a:xfrm>
            <a:custGeom>
              <a:avLst/>
              <a:gdLst/>
              <a:ahLst/>
              <a:cxnLst/>
              <a:rect r="r" b="b" t="t" l="l"/>
              <a:pathLst>
                <a:path h="257265" w="3115033">
                  <a:moveTo>
                    <a:pt x="15322" y="0"/>
                  </a:moveTo>
                  <a:lnTo>
                    <a:pt x="3099710" y="0"/>
                  </a:lnTo>
                  <a:cubicBezTo>
                    <a:pt x="3108173" y="0"/>
                    <a:pt x="3115033" y="6860"/>
                    <a:pt x="3115033" y="15322"/>
                  </a:cubicBezTo>
                  <a:lnTo>
                    <a:pt x="3115033" y="241942"/>
                  </a:lnTo>
                  <a:cubicBezTo>
                    <a:pt x="3115033" y="250405"/>
                    <a:pt x="3108173" y="257265"/>
                    <a:pt x="3099710" y="257265"/>
                  </a:cubicBezTo>
                  <a:lnTo>
                    <a:pt x="15322" y="257265"/>
                  </a:lnTo>
                  <a:cubicBezTo>
                    <a:pt x="6860" y="257265"/>
                    <a:pt x="0" y="250405"/>
                    <a:pt x="0" y="241942"/>
                  </a:cubicBezTo>
                  <a:lnTo>
                    <a:pt x="0" y="15322"/>
                  </a:lnTo>
                  <a:cubicBezTo>
                    <a:pt x="0" y="6860"/>
                    <a:pt x="6860" y="0"/>
                    <a:pt x="15322" y="0"/>
                  </a:cubicBezTo>
                  <a:close/>
                </a:path>
              </a:pathLst>
            </a:custGeom>
            <a:solidFill>
              <a:srgbClr val="EFF1E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115033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005526" y="3673380"/>
            <a:ext cx="4264832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 | Integrated execution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07755" y="4468000"/>
            <a:ext cx="7579007" cy="3301390"/>
            <a:chOff x="0" y="0"/>
            <a:chExt cx="3115033" cy="13568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5033" cy="1356898"/>
            </a:xfrm>
            <a:custGeom>
              <a:avLst/>
              <a:gdLst/>
              <a:ahLst/>
              <a:cxnLst/>
              <a:rect r="r" b="b" t="t" l="l"/>
              <a:pathLst>
                <a:path h="1356898" w="3115033">
                  <a:moveTo>
                    <a:pt x="15322" y="0"/>
                  </a:moveTo>
                  <a:lnTo>
                    <a:pt x="3099710" y="0"/>
                  </a:lnTo>
                  <a:cubicBezTo>
                    <a:pt x="3108173" y="0"/>
                    <a:pt x="3115033" y="6860"/>
                    <a:pt x="3115033" y="15322"/>
                  </a:cubicBezTo>
                  <a:lnTo>
                    <a:pt x="3115033" y="1341575"/>
                  </a:lnTo>
                  <a:cubicBezTo>
                    <a:pt x="3115033" y="1350038"/>
                    <a:pt x="3108173" y="1356898"/>
                    <a:pt x="3099710" y="1356898"/>
                  </a:cubicBezTo>
                  <a:lnTo>
                    <a:pt x="15322" y="1356898"/>
                  </a:lnTo>
                  <a:cubicBezTo>
                    <a:pt x="6860" y="1356898"/>
                    <a:pt x="0" y="1350038"/>
                    <a:pt x="0" y="1341575"/>
                  </a:cubicBezTo>
                  <a:lnTo>
                    <a:pt x="0" y="15322"/>
                  </a:lnTo>
                  <a:cubicBezTo>
                    <a:pt x="0" y="6860"/>
                    <a:pt x="6860" y="0"/>
                    <a:pt x="15322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115033" cy="135689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08134" y="4604145"/>
            <a:ext cx="5515626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Client submits FX deal in legacy TMS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07755" y="3539787"/>
            <a:ext cx="7579007" cy="625936"/>
            <a:chOff x="0" y="0"/>
            <a:chExt cx="3115033" cy="2572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5033" cy="257265"/>
            </a:xfrm>
            <a:custGeom>
              <a:avLst/>
              <a:gdLst/>
              <a:ahLst/>
              <a:cxnLst/>
              <a:rect r="r" b="b" t="t" l="l"/>
              <a:pathLst>
                <a:path h="257265" w="3115033">
                  <a:moveTo>
                    <a:pt x="15322" y="0"/>
                  </a:moveTo>
                  <a:lnTo>
                    <a:pt x="3099710" y="0"/>
                  </a:lnTo>
                  <a:cubicBezTo>
                    <a:pt x="3108173" y="0"/>
                    <a:pt x="3115033" y="6860"/>
                    <a:pt x="3115033" y="15322"/>
                  </a:cubicBezTo>
                  <a:lnTo>
                    <a:pt x="3115033" y="241942"/>
                  </a:lnTo>
                  <a:cubicBezTo>
                    <a:pt x="3115033" y="250405"/>
                    <a:pt x="3108173" y="257265"/>
                    <a:pt x="3099710" y="257265"/>
                  </a:cubicBezTo>
                  <a:lnTo>
                    <a:pt x="15322" y="257265"/>
                  </a:lnTo>
                  <a:cubicBezTo>
                    <a:pt x="6860" y="257265"/>
                    <a:pt x="0" y="250405"/>
                    <a:pt x="0" y="241942"/>
                  </a:cubicBezTo>
                  <a:lnTo>
                    <a:pt x="0" y="15322"/>
                  </a:lnTo>
                  <a:cubicBezTo>
                    <a:pt x="0" y="6860"/>
                    <a:pt x="6860" y="0"/>
                    <a:pt x="15322" y="0"/>
                  </a:cubicBezTo>
                  <a:close/>
                </a:path>
              </a:pathLst>
            </a:custGeom>
            <a:solidFill>
              <a:srgbClr val="EFF1E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115033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56758" y="3673380"/>
            <a:ext cx="54219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Before | Manual process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8134" y="5079737"/>
            <a:ext cx="7046316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Trader </a:t>
            </a:r>
            <a:r>
              <a:rPr lang="en-US" b="true" sz="1899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manually 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re-enters deal in Trading Platform and executes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8134" y="5888705"/>
            <a:ext cx="7225063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Executed market trade feeds back into the legacy TMS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8134" y="6364297"/>
            <a:ext cx="7225063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Trader </a:t>
            </a:r>
            <a:r>
              <a:rPr lang="en-US" b="true" sz="1899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manually updates the client deal 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with the FX rate and spread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8134" y="7173264"/>
            <a:ext cx="7378628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Client </a:t>
            </a:r>
            <a:r>
              <a:rPr lang="en-US" b="true" sz="1899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manually downloads the trade confirmation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0" y="4468000"/>
            <a:ext cx="7532193" cy="3771573"/>
            <a:chOff x="0" y="0"/>
            <a:chExt cx="3095792" cy="15501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95792" cy="1550147"/>
            </a:xfrm>
            <a:custGeom>
              <a:avLst/>
              <a:gdLst/>
              <a:ahLst/>
              <a:cxnLst/>
              <a:rect r="r" b="b" t="t" l="l"/>
              <a:pathLst>
                <a:path h="1550147" w="3095792">
                  <a:moveTo>
                    <a:pt x="15418" y="0"/>
                  </a:moveTo>
                  <a:lnTo>
                    <a:pt x="3080374" y="0"/>
                  </a:lnTo>
                  <a:cubicBezTo>
                    <a:pt x="3084463" y="0"/>
                    <a:pt x="3088385" y="1624"/>
                    <a:pt x="3091276" y="4516"/>
                  </a:cubicBezTo>
                  <a:cubicBezTo>
                    <a:pt x="3094167" y="7407"/>
                    <a:pt x="3095792" y="11329"/>
                    <a:pt x="3095792" y="15418"/>
                  </a:cubicBezTo>
                  <a:lnTo>
                    <a:pt x="3095792" y="1534729"/>
                  </a:lnTo>
                  <a:cubicBezTo>
                    <a:pt x="3095792" y="1538818"/>
                    <a:pt x="3094167" y="1542740"/>
                    <a:pt x="3091276" y="1545631"/>
                  </a:cubicBezTo>
                  <a:cubicBezTo>
                    <a:pt x="3088385" y="1548522"/>
                    <a:pt x="3084463" y="1550147"/>
                    <a:pt x="3080374" y="1550147"/>
                  </a:cubicBezTo>
                  <a:lnTo>
                    <a:pt x="15418" y="1550147"/>
                  </a:lnTo>
                  <a:cubicBezTo>
                    <a:pt x="11329" y="1550147"/>
                    <a:pt x="7407" y="1548522"/>
                    <a:pt x="4516" y="1545631"/>
                  </a:cubicBezTo>
                  <a:cubicBezTo>
                    <a:pt x="1624" y="1542740"/>
                    <a:pt x="0" y="1538818"/>
                    <a:pt x="0" y="1534729"/>
                  </a:cubicBezTo>
                  <a:lnTo>
                    <a:pt x="0" y="15418"/>
                  </a:lnTo>
                  <a:cubicBezTo>
                    <a:pt x="0" y="11329"/>
                    <a:pt x="1624" y="7407"/>
                    <a:pt x="4516" y="4516"/>
                  </a:cubicBezTo>
                  <a:cubicBezTo>
                    <a:pt x="7407" y="1624"/>
                    <a:pt x="11329" y="0"/>
                    <a:pt x="15418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095792" cy="155014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425221" y="4604145"/>
            <a:ext cx="6979900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Client submits FX deal in Kyriba; pre-trade is created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48628" y="6037534"/>
            <a:ext cx="6979900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Execution 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feeds back into Kyriba;  p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re-trade bec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mes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actual t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ade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48628" y="6846501"/>
            <a:ext cx="6979900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Client deal is </a:t>
            </a:r>
            <a:r>
              <a:rPr lang="en-US" b="true" sz="1899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automatically created with spread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48628" y="7322094"/>
            <a:ext cx="737862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Client </a:t>
            </a:r>
            <a:r>
              <a:rPr lang="en-US" b="true" sz="1899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receives EOD activity email 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or downloads confirmation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48628" y="5086350"/>
            <a:ext cx="6832803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FX details </a:t>
            </a:r>
            <a:r>
              <a:rPr lang="en-US" b="true" sz="1899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automatically 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flow to the Trading Platform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48628" y="5561942"/>
            <a:ext cx="6773964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4" indent="-204997" lvl="1">
              <a:lnSpc>
                <a:spcPts val="2658"/>
              </a:lnSpc>
              <a:buAutoNum type="arabicPeriod" startAt="1"/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Trader selects the best available deal and executes</a:t>
            </a:r>
          </a:p>
        </p:txBody>
      </p:sp>
      <p:sp>
        <p:nvSpPr>
          <p:cNvPr name="Freeform 29" id="29"/>
          <p:cNvSpPr/>
          <p:nvPr/>
        </p:nvSpPr>
        <p:spPr>
          <a:xfrm flipH="false" flipV="true" rot="-854058">
            <a:off x="14172125" y="8185080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90399" y="4458426"/>
            <a:ext cx="3389321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405" indent="-194202" lvl="1">
              <a:lnSpc>
                <a:spcPts val="2518"/>
              </a:lnSpc>
              <a:buAutoNum type="arabicPeriod" startAt="1"/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Client 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submits FX request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974587" y="4013411"/>
            <a:ext cx="3858425" cy="3632856"/>
            <a:chOff x="0" y="0"/>
            <a:chExt cx="792996" cy="7466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2996" cy="746636"/>
            </a:xfrm>
            <a:custGeom>
              <a:avLst/>
              <a:gdLst/>
              <a:ahLst/>
              <a:cxnLst/>
              <a:rect r="r" b="b" t="t" l="l"/>
              <a:pathLst>
                <a:path h="746636" w="792996">
                  <a:moveTo>
                    <a:pt x="396498" y="0"/>
                  </a:moveTo>
                  <a:cubicBezTo>
                    <a:pt x="177518" y="0"/>
                    <a:pt x="0" y="167140"/>
                    <a:pt x="0" y="373318"/>
                  </a:cubicBezTo>
                  <a:cubicBezTo>
                    <a:pt x="0" y="579496"/>
                    <a:pt x="177518" y="746636"/>
                    <a:pt x="396498" y="746636"/>
                  </a:cubicBezTo>
                  <a:cubicBezTo>
                    <a:pt x="615477" y="746636"/>
                    <a:pt x="792996" y="579496"/>
                    <a:pt x="792996" y="373318"/>
                  </a:cubicBezTo>
                  <a:cubicBezTo>
                    <a:pt x="792996" y="167140"/>
                    <a:pt x="615477" y="0"/>
                    <a:pt x="396498" y="0"/>
                  </a:cubicBezTo>
                  <a:close/>
                </a:path>
              </a:pathLst>
            </a:custGeom>
            <a:solidFill>
              <a:srgbClr val="EFF1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4343" y="31897"/>
              <a:ext cx="644309" cy="644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11045" y="5925793"/>
            <a:ext cx="985509" cy="883374"/>
          </a:xfrm>
          <a:custGeom>
            <a:avLst/>
            <a:gdLst/>
            <a:ahLst/>
            <a:cxnLst/>
            <a:rect r="r" b="b" t="t" l="l"/>
            <a:pathLst>
              <a:path h="883374" w="985509">
                <a:moveTo>
                  <a:pt x="0" y="0"/>
                </a:moveTo>
                <a:lnTo>
                  <a:pt x="985509" y="0"/>
                </a:lnTo>
                <a:lnTo>
                  <a:pt x="985509" y="883374"/>
                </a:lnTo>
                <a:lnTo>
                  <a:pt x="0" y="883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857438" y="4469452"/>
            <a:ext cx="3243616" cy="3007487"/>
            <a:chOff x="0" y="0"/>
            <a:chExt cx="1103731" cy="10233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3731" cy="1023382"/>
            </a:xfrm>
            <a:custGeom>
              <a:avLst/>
              <a:gdLst/>
              <a:ahLst/>
              <a:cxnLst/>
              <a:rect r="r" b="b" t="t" l="l"/>
              <a:pathLst>
                <a:path h="1023382" w="1103731">
                  <a:moveTo>
                    <a:pt x="900531" y="0"/>
                  </a:moveTo>
                  <a:cubicBezTo>
                    <a:pt x="1012756" y="0"/>
                    <a:pt x="1103731" y="229092"/>
                    <a:pt x="1103731" y="511691"/>
                  </a:cubicBezTo>
                  <a:cubicBezTo>
                    <a:pt x="1103731" y="794290"/>
                    <a:pt x="1012756" y="1023382"/>
                    <a:pt x="900531" y="1023382"/>
                  </a:cubicBezTo>
                  <a:lnTo>
                    <a:pt x="203200" y="1023382"/>
                  </a:lnTo>
                  <a:cubicBezTo>
                    <a:pt x="90976" y="1023382"/>
                    <a:pt x="0" y="794290"/>
                    <a:pt x="0" y="511691"/>
                  </a:cubicBezTo>
                  <a:cubicBezTo>
                    <a:pt x="0" y="2290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03731" cy="1061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088952" y="5973196"/>
            <a:ext cx="859042" cy="859042"/>
          </a:xfrm>
          <a:custGeom>
            <a:avLst/>
            <a:gdLst/>
            <a:ahLst/>
            <a:cxnLst/>
            <a:rect r="r" b="b" t="t" l="l"/>
            <a:pathLst>
              <a:path h="859042" w="859042">
                <a:moveTo>
                  <a:pt x="0" y="0"/>
                </a:moveTo>
                <a:lnTo>
                  <a:pt x="859041" y="0"/>
                </a:lnTo>
                <a:lnTo>
                  <a:pt x="859041" y="859042"/>
                </a:lnTo>
                <a:lnTo>
                  <a:pt x="0" y="859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24837" y="4469452"/>
            <a:ext cx="3243616" cy="2917733"/>
            <a:chOff x="0" y="0"/>
            <a:chExt cx="1103731" cy="9928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731" cy="992841"/>
            </a:xfrm>
            <a:custGeom>
              <a:avLst/>
              <a:gdLst/>
              <a:ahLst/>
              <a:cxnLst/>
              <a:rect r="r" b="b" t="t" l="l"/>
              <a:pathLst>
                <a:path h="992841" w="1103731">
                  <a:moveTo>
                    <a:pt x="900531" y="0"/>
                  </a:moveTo>
                  <a:cubicBezTo>
                    <a:pt x="1012756" y="0"/>
                    <a:pt x="1103731" y="222255"/>
                    <a:pt x="1103731" y="496420"/>
                  </a:cubicBezTo>
                  <a:cubicBezTo>
                    <a:pt x="1103731" y="770586"/>
                    <a:pt x="1012756" y="992841"/>
                    <a:pt x="900531" y="992841"/>
                  </a:cubicBezTo>
                  <a:lnTo>
                    <a:pt x="203200" y="992841"/>
                  </a:lnTo>
                  <a:cubicBezTo>
                    <a:pt x="90976" y="992841"/>
                    <a:pt x="0" y="770586"/>
                    <a:pt x="0" y="496420"/>
                  </a:cubicBezTo>
                  <a:cubicBezTo>
                    <a:pt x="0" y="2222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03731" cy="1030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026405" y="5782436"/>
            <a:ext cx="1099882" cy="1170087"/>
          </a:xfrm>
          <a:custGeom>
            <a:avLst/>
            <a:gdLst/>
            <a:ahLst/>
            <a:cxnLst/>
            <a:rect r="r" b="b" t="t" l="l"/>
            <a:pathLst>
              <a:path h="1170087" w="1099882">
                <a:moveTo>
                  <a:pt x="0" y="0"/>
                </a:moveTo>
                <a:lnTo>
                  <a:pt x="1099882" y="0"/>
                </a:lnTo>
                <a:lnTo>
                  <a:pt x="1099882" y="1170087"/>
                </a:lnTo>
                <a:lnTo>
                  <a:pt x="0" y="11700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3979092" y="4857353"/>
            <a:ext cx="3294986" cy="18522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2181704" y="4896871"/>
            <a:ext cx="0" cy="2090407"/>
          </a:xfrm>
          <a:prstGeom prst="line">
            <a:avLst/>
          </a:prstGeom>
          <a:ln cap="rnd" w="9525">
            <a:solidFill>
              <a:srgbClr val="4F7183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0549589" y="4881039"/>
            <a:ext cx="3494528" cy="555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H="true">
            <a:off x="10374595" y="6987278"/>
            <a:ext cx="3639060" cy="18079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H="true">
            <a:off x="3986350" y="6969382"/>
            <a:ext cx="3415020" cy="7805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0" id="20"/>
          <p:cNvSpPr txBox="true"/>
          <p:nvPr/>
        </p:nvSpPr>
        <p:spPr>
          <a:xfrm rot="0">
            <a:off x="1028700" y="1181100"/>
            <a:ext cx="14294247" cy="139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49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the Integrated FX Workflow Operates</a:t>
            </a:r>
          </a:p>
          <a:p>
            <a:pPr algn="l">
              <a:lnSpc>
                <a:spcPts val="549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7487979" y="4554619"/>
            <a:ext cx="2831641" cy="62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Kyriba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02652" y="4734736"/>
            <a:ext cx="2831641" cy="10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8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Trading Platform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0525" y="4838750"/>
            <a:ext cx="2831641" cy="5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8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Client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45891" y="4458426"/>
            <a:ext cx="3928678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2. Kyriba sends FX trade details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57438" y="3664795"/>
            <a:ext cx="3502957" cy="64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3. Trader executes the FX trade</a:t>
            </a:r>
          </a:p>
          <a:p>
            <a:pPr algn="ctr">
              <a:lnSpc>
                <a:spcPts val="2518"/>
              </a:lnSpc>
            </a:pPr>
            <a:r>
              <a:rPr lang="en-US" sz="1799" i="true">
                <a:solidFill>
                  <a:srgbClr val="EFF1E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FX details are pre-populated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44134" y="7006233"/>
            <a:ext cx="3669521" cy="64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4. FX execution details automatically return to Kyriba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79719" y="7722467"/>
            <a:ext cx="3771634" cy="95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5.</a:t>
            </a:r>
            <a:r>
              <a:rPr lang="en-US" sz="17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 Kyriba automatically updates the trade 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and applies the spread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4303" y="7434810"/>
            <a:ext cx="3884683" cy="95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6. Client 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receives </a:t>
            </a:r>
            <a:r>
              <a:rPr lang="en-US" b="true" sz="1799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end-of-day trading activity email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or downloads confirmation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27914" y="5734811"/>
            <a:ext cx="2629678" cy="57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607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Trading Platform Integration</a:t>
            </a:r>
          </a:p>
        </p:txBody>
      </p:sp>
      <p:sp>
        <p:nvSpPr>
          <p:cNvPr name="Freeform 30" id="30"/>
          <p:cNvSpPr/>
          <p:nvPr/>
        </p:nvSpPr>
        <p:spPr>
          <a:xfrm flipH="false" flipV="true" rot="-5400000">
            <a:off x="14325176" y="-1148218"/>
            <a:ext cx="4287605" cy="3988817"/>
          </a:xfrm>
          <a:custGeom>
            <a:avLst/>
            <a:gdLst/>
            <a:ahLst/>
            <a:cxnLst/>
            <a:rect r="r" b="b" t="t" l="l"/>
            <a:pathLst>
              <a:path h="3988817" w="4287605">
                <a:moveTo>
                  <a:pt x="0" y="3988818"/>
                </a:moveTo>
                <a:lnTo>
                  <a:pt x="4287605" y="3988818"/>
                </a:lnTo>
                <a:lnTo>
                  <a:pt x="4287605" y="0"/>
                </a:lnTo>
                <a:lnTo>
                  <a:pt x="0" y="0"/>
                </a:lnTo>
                <a:lnTo>
                  <a:pt x="0" y="398881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286471" y="9657927"/>
            <a:ext cx="13715059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Kyriba connects the request, execution, trade update, and confirmation into one flow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81100"/>
            <a:ext cx="5498703" cy="70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49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Impact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5400000">
            <a:off x="-1081938" y="7263891"/>
            <a:ext cx="4287605" cy="3988817"/>
          </a:xfrm>
          <a:custGeom>
            <a:avLst/>
            <a:gdLst/>
            <a:ahLst/>
            <a:cxnLst/>
            <a:rect r="r" b="b" t="t" l="l"/>
            <a:pathLst>
              <a:path h="3988817" w="4287605">
                <a:moveTo>
                  <a:pt x="0" y="3988818"/>
                </a:moveTo>
                <a:lnTo>
                  <a:pt x="4287605" y="3988818"/>
                </a:lnTo>
                <a:lnTo>
                  <a:pt x="4287605" y="0"/>
                </a:lnTo>
                <a:lnTo>
                  <a:pt x="0" y="0"/>
                </a:lnTo>
                <a:lnTo>
                  <a:pt x="0" y="39888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1865" y="3790094"/>
            <a:ext cx="4499766" cy="1871362"/>
            <a:chOff x="0" y="0"/>
            <a:chExt cx="1849440" cy="7691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9440" cy="769145"/>
            </a:xfrm>
            <a:custGeom>
              <a:avLst/>
              <a:gdLst/>
              <a:ahLst/>
              <a:cxnLst/>
              <a:rect r="r" b="b" t="t" l="l"/>
              <a:pathLst>
                <a:path h="769145" w="1849440">
                  <a:moveTo>
                    <a:pt x="25808" y="0"/>
                  </a:moveTo>
                  <a:lnTo>
                    <a:pt x="1823632" y="0"/>
                  </a:lnTo>
                  <a:cubicBezTo>
                    <a:pt x="1837885" y="0"/>
                    <a:pt x="1849440" y="11555"/>
                    <a:pt x="1849440" y="25808"/>
                  </a:cubicBezTo>
                  <a:lnTo>
                    <a:pt x="1849440" y="743337"/>
                  </a:lnTo>
                  <a:cubicBezTo>
                    <a:pt x="1849440" y="750182"/>
                    <a:pt x="1846721" y="756746"/>
                    <a:pt x="1841881" y="761586"/>
                  </a:cubicBezTo>
                  <a:cubicBezTo>
                    <a:pt x="1837041" y="766426"/>
                    <a:pt x="1830477" y="769145"/>
                    <a:pt x="1823632" y="769145"/>
                  </a:cubicBezTo>
                  <a:lnTo>
                    <a:pt x="25808" y="769145"/>
                  </a:lnTo>
                  <a:cubicBezTo>
                    <a:pt x="11555" y="769145"/>
                    <a:pt x="0" y="757590"/>
                    <a:pt x="0" y="743337"/>
                  </a:cubicBezTo>
                  <a:lnTo>
                    <a:pt x="0" y="25808"/>
                  </a:lnTo>
                  <a:cubicBezTo>
                    <a:pt x="0" y="18963"/>
                    <a:pt x="2719" y="12399"/>
                    <a:pt x="7559" y="7559"/>
                  </a:cubicBezTo>
                  <a:cubicBezTo>
                    <a:pt x="12399" y="2719"/>
                    <a:pt x="18963" y="0"/>
                    <a:pt x="25808" y="0"/>
                  </a:cubicBezTo>
                  <a:close/>
                </a:path>
              </a:pathLst>
            </a:custGeom>
            <a:solidFill>
              <a:srgbClr val="EFF1E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849440" cy="76914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5898773"/>
            <a:ext cx="4498137" cy="158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Manual re-entry of trade details drove ~$4k/year </a:t>
            </a:r>
            <a:r>
              <a:rPr lang="en-US" sz="180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in avoided rework and market-exposure risk — a conservative estimate, as costs scale with trade size.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386680" y="3790094"/>
            <a:ext cx="4499766" cy="1871362"/>
            <a:chOff x="0" y="0"/>
            <a:chExt cx="1849440" cy="7691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9440" cy="769145"/>
            </a:xfrm>
            <a:custGeom>
              <a:avLst/>
              <a:gdLst/>
              <a:ahLst/>
              <a:cxnLst/>
              <a:rect r="r" b="b" t="t" l="l"/>
              <a:pathLst>
                <a:path h="769145" w="1849440">
                  <a:moveTo>
                    <a:pt x="25808" y="0"/>
                  </a:moveTo>
                  <a:lnTo>
                    <a:pt x="1823632" y="0"/>
                  </a:lnTo>
                  <a:cubicBezTo>
                    <a:pt x="1837885" y="0"/>
                    <a:pt x="1849440" y="11555"/>
                    <a:pt x="1849440" y="25808"/>
                  </a:cubicBezTo>
                  <a:lnTo>
                    <a:pt x="1849440" y="743337"/>
                  </a:lnTo>
                  <a:cubicBezTo>
                    <a:pt x="1849440" y="750182"/>
                    <a:pt x="1846721" y="756746"/>
                    <a:pt x="1841881" y="761586"/>
                  </a:cubicBezTo>
                  <a:cubicBezTo>
                    <a:pt x="1837041" y="766426"/>
                    <a:pt x="1830477" y="769145"/>
                    <a:pt x="1823632" y="769145"/>
                  </a:cubicBezTo>
                  <a:lnTo>
                    <a:pt x="25808" y="769145"/>
                  </a:lnTo>
                  <a:cubicBezTo>
                    <a:pt x="11555" y="769145"/>
                    <a:pt x="0" y="757590"/>
                    <a:pt x="0" y="743337"/>
                  </a:cubicBezTo>
                  <a:lnTo>
                    <a:pt x="0" y="25808"/>
                  </a:lnTo>
                  <a:cubicBezTo>
                    <a:pt x="0" y="18963"/>
                    <a:pt x="2719" y="12399"/>
                    <a:pt x="7559" y="7559"/>
                  </a:cubicBezTo>
                  <a:cubicBezTo>
                    <a:pt x="12399" y="2719"/>
                    <a:pt x="18963" y="0"/>
                    <a:pt x="25808" y="0"/>
                  </a:cubicBezTo>
                  <a:close/>
                </a:path>
              </a:pathLst>
            </a:custGeom>
            <a:solidFill>
              <a:srgbClr val="EFF1E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849440" cy="76914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395518" y="4530165"/>
            <a:ext cx="4490929" cy="84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b="true" sz="2398">
                <a:solidFill>
                  <a:srgbClr val="71A0BB"/>
                </a:solidFill>
                <a:latin typeface="Poppins Bold"/>
                <a:ea typeface="Poppins Bold"/>
                <a:cs typeface="Poppins Bold"/>
                <a:sym typeface="Poppins Bold"/>
              </a:rPr>
              <a:t>15 → 5 min execution time</a:t>
            </a:r>
          </a:p>
          <a:p>
            <a:pPr algn="ctr">
              <a:lnSpc>
                <a:spcPts val="3359"/>
              </a:lnSpc>
            </a:pPr>
            <a:r>
              <a:rPr lang="en-US" b="true" sz="2398">
                <a:solidFill>
                  <a:srgbClr val="71A0BB"/>
                </a:solidFill>
                <a:latin typeface="Poppins Bold"/>
                <a:ea typeface="Poppins Bold"/>
                <a:cs typeface="Poppins Bold"/>
                <a:sym typeface="Poppins Bold"/>
              </a:rPr>
              <a:t>~67% less execution time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86680" y="6055923"/>
            <a:ext cx="4499766" cy="126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Automation reduces the time from client 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request to completed FX execution, reducing exposure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to market movements.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61555" y="6055923"/>
            <a:ext cx="4499766" cy="252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 simplified Kyriba experience reduces the time for clients to submit an FX deal, whil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 faster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execution lets them move on sooner.</a:t>
            </a:r>
          </a:p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Additional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opportunity: integrating the EOD activity email with the external administrator platform could further reduce manual follow-up.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1865" y="4602358"/>
            <a:ext cx="4505665" cy="84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~99% fewer manual input errors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1865" y="3783181"/>
            <a:ext cx="4490817" cy="5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99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Risk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95518" y="3783181"/>
            <a:ext cx="4490929" cy="5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99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761555" y="3790094"/>
            <a:ext cx="4499766" cy="1871362"/>
            <a:chOff x="0" y="0"/>
            <a:chExt cx="1849440" cy="7691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49440" cy="769145"/>
            </a:xfrm>
            <a:custGeom>
              <a:avLst/>
              <a:gdLst/>
              <a:ahLst/>
              <a:cxnLst/>
              <a:rect r="r" b="b" t="t" l="l"/>
              <a:pathLst>
                <a:path h="769145" w="1849440">
                  <a:moveTo>
                    <a:pt x="25808" y="0"/>
                  </a:moveTo>
                  <a:lnTo>
                    <a:pt x="1823632" y="0"/>
                  </a:lnTo>
                  <a:cubicBezTo>
                    <a:pt x="1837885" y="0"/>
                    <a:pt x="1849440" y="11555"/>
                    <a:pt x="1849440" y="25808"/>
                  </a:cubicBezTo>
                  <a:lnTo>
                    <a:pt x="1849440" y="743337"/>
                  </a:lnTo>
                  <a:cubicBezTo>
                    <a:pt x="1849440" y="750182"/>
                    <a:pt x="1846721" y="756746"/>
                    <a:pt x="1841881" y="761586"/>
                  </a:cubicBezTo>
                  <a:cubicBezTo>
                    <a:pt x="1837041" y="766426"/>
                    <a:pt x="1830477" y="769145"/>
                    <a:pt x="1823632" y="769145"/>
                  </a:cubicBezTo>
                  <a:lnTo>
                    <a:pt x="25808" y="769145"/>
                  </a:lnTo>
                  <a:cubicBezTo>
                    <a:pt x="11555" y="769145"/>
                    <a:pt x="0" y="757590"/>
                    <a:pt x="0" y="743337"/>
                  </a:cubicBezTo>
                  <a:lnTo>
                    <a:pt x="0" y="25808"/>
                  </a:lnTo>
                  <a:cubicBezTo>
                    <a:pt x="0" y="18963"/>
                    <a:pt x="2719" y="12399"/>
                    <a:pt x="7559" y="7559"/>
                  </a:cubicBezTo>
                  <a:cubicBezTo>
                    <a:pt x="12399" y="2719"/>
                    <a:pt x="18963" y="0"/>
                    <a:pt x="25808" y="0"/>
                  </a:cubicBezTo>
                  <a:close/>
                </a:path>
              </a:pathLst>
            </a:custGeom>
            <a:solidFill>
              <a:srgbClr val="EFF1E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849440" cy="76914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761555" y="4530165"/>
            <a:ext cx="4499766" cy="84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398" b="true">
                <a:solidFill>
                  <a:srgbClr val="71A0BB"/>
                </a:solidFill>
                <a:latin typeface="Poppins Bold"/>
                <a:ea typeface="Poppins Bold"/>
                <a:cs typeface="Poppins Bold"/>
                <a:sym typeface="Poppins Bold"/>
              </a:rPr>
              <a:t>~5 min saved per deal</a:t>
            </a:r>
          </a:p>
          <a:p>
            <a:pPr algn="ctr">
              <a:lnSpc>
                <a:spcPts val="3359"/>
              </a:lnSpc>
            </a:pPr>
            <a:r>
              <a:rPr lang="en-US" sz="2398" b="true">
                <a:solidFill>
                  <a:srgbClr val="71A0BB"/>
                </a:solidFill>
                <a:latin typeface="Poppins Bold"/>
                <a:ea typeface="Poppins Bold"/>
                <a:cs typeface="Poppins Bold"/>
                <a:sym typeface="Poppins Bold"/>
              </a:rPr>
              <a:t>~</a:t>
            </a:r>
            <a:r>
              <a:rPr lang="en-US" b="true" sz="2398">
                <a:solidFill>
                  <a:srgbClr val="71A0BB"/>
                </a:solidFill>
                <a:latin typeface="Poppins Bold"/>
                <a:ea typeface="Poppins Bold"/>
                <a:cs typeface="Poppins Bold"/>
                <a:sym typeface="Poppins Bold"/>
              </a:rPr>
              <a:t>15 min saved on EOD report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61555" y="3783181"/>
            <a:ext cx="4499766" cy="5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99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Client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DAHVSBKTLUE</dc:identifier>
  <dcterms:modified xsi:type="dcterms:W3CDTF">2011-08-01T06:04:30Z</dcterms:modified>
  <cp:revision>1</cp:revision>
  <dc:title>FX Integration.pptx</dc:title>
</cp:coreProperties>
</file>